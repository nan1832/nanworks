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7" d="100"/>
          <a:sy n="37" d="100"/>
        </p:scale>
        <p:origin x="948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A2A641-C15C-4122-8A56-0CF85C5C2A42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EDBB7C-3305-4CD0-8270-13DF6C932B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9495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讲解提示：</a:t>
            </a:r>
          </a:p>
          <a:p>
            <a:r>
              <a:rPr lang="en-US" altLang="zh-CN"/>
              <a:t>• </a:t>
            </a:r>
            <a:r>
              <a:rPr lang="zh-CN" altLang="en-US"/>
              <a:t>开场先给出完整主张：先确定可编辑层，再让知识修改沿图谱传播。</a:t>
            </a:r>
          </a:p>
          <a:p>
            <a:endParaRPr lang="zh-CN" altLang="en-US"/>
          </a:p>
          <a:p>
            <a:r>
              <a:rPr lang="en-US" altLang="zh-CN"/>
              <a:t>[Sources]</a:t>
            </a:r>
          </a:p>
          <a:p>
            <a:r>
              <a:rPr lang="en-US" altLang="zh-CN"/>
              <a:t>- C:\Users\zhoun\Desktop\mywork\</a:t>
            </a:r>
            <a:r>
              <a:rPr lang="zh-CN" altLang="en-US"/>
              <a:t>实验说明</a:t>
            </a:r>
            <a:r>
              <a:rPr lang="en-US" altLang="zh-CN"/>
              <a:t>\mywork-</a:t>
            </a:r>
            <a:r>
              <a:rPr lang="zh-CN" altLang="en-US"/>
              <a:t>通用版</a:t>
            </a:r>
            <a:r>
              <a:rPr lang="en-US" altLang="zh-CN"/>
              <a:t>.docx</a:t>
            </a:r>
          </a:p>
          <a:p>
            <a:r>
              <a:rPr lang="en-US" altLang="zh-CN"/>
              <a:t>- D:\</a:t>
            </a:r>
            <a:r>
              <a:rPr lang="zh-CN" altLang="en-US"/>
              <a:t>开题</a:t>
            </a:r>
            <a:r>
              <a:rPr lang="en-US" altLang="zh-CN"/>
              <a:t>\</a:t>
            </a:r>
            <a:r>
              <a:rPr lang="zh-CN" altLang="en-US"/>
              <a:t>正式开题</a:t>
            </a:r>
            <a:r>
              <a:rPr lang="en-US" altLang="zh-CN"/>
              <a:t>\Model Edit\bli2-reasonvqa\dataset\md\Location\6edit_layer_localization_candidate_methods_</a:t>
            </a:r>
            <a:r>
              <a:rPr lang="zh-CN" altLang="en-US"/>
              <a:t>简洁说明版</a:t>
            </a:r>
            <a:r>
              <a:rPr lang="en-US" altLang="zh-CN"/>
              <a:t>.md</a:t>
            </a:r>
          </a:p>
          <a:p>
            <a:r>
              <a:rPr lang="en-US" altLang="zh-CN"/>
              <a:t>- D:\</a:t>
            </a:r>
            <a:r>
              <a:rPr lang="zh-CN" altLang="en-US"/>
              <a:t>开题</a:t>
            </a:r>
            <a:r>
              <a:rPr lang="en-US" altLang="zh-CN"/>
              <a:t>\</a:t>
            </a:r>
            <a:r>
              <a:rPr lang="zh-CN" altLang="en-US"/>
              <a:t>正式开题</a:t>
            </a:r>
            <a:r>
              <a:rPr lang="en-US" altLang="zh-CN"/>
              <a:t>\Model Edit\bli2-reasonvqa\dataset\md\Location\6location_7model_3datas_top_3_5_layers_outcome.md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DBB7C-3305-4CD0-8270-13DF6C932B9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95601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讲解提示：</a:t>
            </a:r>
          </a:p>
          <a:p>
            <a:r>
              <a:rPr lang="en-US" altLang="zh-CN"/>
              <a:t>• </a:t>
            </a:r>
            <a:r>
              <a:rPr lang="zh-CN" altLang="en-US"/>
              <a:t>用球队与工作地点的例子说明“目标知识成功”不等于“关联知识一致”。</a:t>
            </a:r>
          </a:p>
          <a:p>
            <a:endParaRPr lang="zh-CN" altLang="en-US"/>
          </a:p>
          <a:p>
            <a:r>
              <a:rPr lang="en-US" altLang="zh-CN"/>
              <a:t>[Sources]</a:t>
            </a:r>
          </a:p>
          <a:p>
            <a:r>
              <a:rPr lang="en-US" altLang="zh-CN"/>
              <a:t>- C:\Users\zhoun\Desktop\mywork\</a:t>
            </a:r>
            <a:r>
              <a:rPr lang="zh-CN" altLang="en-US"/>
              <a:t>实验说明</a:t>
            </a:r>
            <a:r>
              <a:rPr lang="en-US" altLang="zh-CN"/>
              <a:t>\mywork-</a:t>
            </a:r>
            <a:r>
              <a:rPr lang="zh-CN" altLang="en-US"/>
              <a:t>通用版</a:t>
            </a:r>
            <a:r>
              <a:rPr lang="en-US" altLang="zh-CN"/>
              <a:t>.docx</a:t>
            </a:r>
            <a:r>
              <a:rPr lang="zh-CN" altLang="en-US"/>
              <a:t>，</a:t>
            </a:r>
            <a:r>
              <a:rPr lang="en-US" altLang="zh-CN"/>
              <a:t>§</a:t>
            </a:r>
            <a:r>
              <a:rPr lang="zh-CN" altLang="en-US"/>
              <a:t>研究背景、</a:t>
            </a:r>
            <a:r>
              <a:rPr lang="en-US" altLang="zh-CN"/>
              <a:t>§</a:t>
            </a:r>
            <a:r>
              <a:rPr lang="zh-CN" altLang="en-US"/>
              <a:t>研究问题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DBB7C-3305-4CD0-8270-13DF6C932B9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60073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讲解提示：</a:t>
            </a:r>
          </a:p>
          <a:p>
            <a:r>
              <a:rPr lang="en-US" altLang="zh-CN"/>
              <a:t>• </a:t>
            </a:r>
            <a:r>
              <a:rPr lang="zh-CN" altLang="en-US"/>
              <a:t>突出蓝色第一步只是入口，后续四个模块才构成完整方法。</a:t>
            </a:r>
          </a:p>
          <a:p>
            <a:endParaRPr lang="zh-CN" altLang="en-US"/>
          </a:p>
          <a:p>
            <a:r>
              <a:rPr lang="en-US" altLang="zh-CN"/>
              <a:t>[Sources]</a:t>
            </a:r>
          </a:p>
          <a:p>
            <a:r>
              <a:rPr lang="en-US" altLang="zh-CN"/>
              <a:t>- C:\Users\zhoun\Desktop\mywork\</a:t>
            </a:r>
            <a:r>
              <a:rPr lang="zh-CN" altLang="en-US"/>
              <a:t>实验说明</a:t>
            </a:r>
            <a:r>
              <a:rPr lang="en-US" altLang="zh-CN"/>
              <a:t>\mywork-</a:t>
            </a:r>
            <a:r>
              <a:rPr lang="zh-CN" altLang="en-US"/>
              <a:t>通用版</a:t>
            </a:r>
            <a:r>
              <a:rPr lang="en-US" altLang="zh-CN"/>
              <a:t>.docx</a:t>
            </a:r>
            <a:r>
              <a:rPr lang="zh-CN" altLang="en-US"/>
              <a:t>，</a:t>
            </a:r>
            <a:r>
              <a:rPr lang="en-US" altLang="zh-CN"/>
              <a:t>§5.3</a:t>
            </a:r>
            <a:r>
              <a:rPr lang="zh-CN" altLang="en-US"/>
              <a:t>整体流程、</a:t>
            </a:r>
            <a:r>
              <a:rPr lang="en-US" altLang="zh-CN"/>
              <a:t>§5.3.4–5.3.7 D:\</a:t>
            </a:r>
            <a:r>
              <a:rPr lang="zh-CN" altLang="en-US"/>
              <a:t>开题</a:t>
            </a:r>
            <a:r>
              <a:rPr lang="en-US" altLang="zh-CN"/>
              <a:t>\</a:t>
            </a:r>
            <a:r>
              <a:rPr lang="zh-CN" altLang="en-US"/>
              <a:t>正式开题</a:t>
            </a:r>
            <a:r>
              <a:rPr lang="en-US" altLang="zh-CN"/>
              <a:t>\Model Edit\bli2-reasonvqa\dataset\md\Location\6edit_layer_localization_candidate_methods_</a:t>
            </a:r>
            <a:r>
              <a:rPr lang="zh-CN" altLang="en-US"/>
              <a:t>简洁说明版</a:t>
            </a:r>
            <a:r>
              <a:rPr lang="en-US" altLang="zh-CN"/>
              <a:t>.md</a:t>
            </a:r>
            <a:r>
              <a:rPr lang="zh-CN" altLang="en-US"/>
              <a:t>，</a:t>
            </a:r>
            <a:r>
              <a:rPr lang="en-US" altLang="zh-CN"/>
              <a:t>§8</a:t>
            </a:r>
            <a:r>
              <a:rPr lang="zh-CN" altLang="en-US"/>
              <a:t>统一执行流程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DBB7C-3305-4CD0-8270-13DF6C932B9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23085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[Sources]</a:t>
            </a:r>
          </a:p>
          <a:p>
            <a:r>
              <a:rPr lang="en-US" altLang="zh-CN"/>
              <a:t>- C:\Users\zhoun\Desktop\mywork\</a:t>
            </a:r>
            <a:r>
              <a:rPr lang="zh-CN" altLang="en-US"/>
              <a:t>实验说明</a:t>
            </a:r>
            <a:r>
              <a:rPr lang="en-US" altLang="zh-CN"/>
              <a:t>\mywork-</a:t>
            </a:r>
            <a:r>
              <a:rPr lang="zh-CN" altLang="en-US"/>
              <a:t>通用版</a:t>
            </a:r>
            <a:r>
              <a:rPr lang="en-US" altLang="zh-CN"/>
              <a:t>.docx</a:t>
            </a:r>
            <a:r>
              <a:rPr lang="zh-CN" altLang="en-US"/>
              <a:t>，</a:t>
            </a:r>
            <a:r>
              <a:rPr lang="en-US" altLang="zh-CN"/>
              <a:t>§5.3.1</a:t>
            </a:r>
            <a:r>
              <a:rPr lang="zh-CN" altLang="en-US"/>
              <a:t>、</a:t>
            </a:r>
            <a:r>
              <a:rPr lang="en-US" altLang="zh-CN"/>
              <a:t>§5.3.6 D:\</a:t>
            </a:r>
            <a:r>
              <a:rPr lang="zh-CN" altLang="en-US"/>
              <a:t>开题</a:t>
            </a:r>
            <a:r>
              <a:rPr lang="en-US" altLang="zh-CN"/>
              <a:t>\</a:t>
            </a:r>
            <a:r>
              <a:rPr lang="zh-CN" altLang="en-US"/>
              <a:t>正式开题</a:t>
            </a:r>
            <a:r>
              <a:rPr lang="en-US" altLang="zh-CN"/>
              <a:t>\Model Edit\bli2-reasonvqa\dataset\md\Location\6edit_layer_localization_candidate_methods_</a:t>
            </a:r>
            <a:r>
              <a:rPr lang="zh-CN" altLang="en-US"/>
              <a:t>简洁说明版</a:t>
            </a:r>
            <a:r>
              <a:rPr lang="en-US" altLang="zh-CN"/>
              <a:t>.md</a:t>
            </a:r>
            <a:r>
              <a:rPr lang="zh-CN" altLang="en-US"/>
              <a:t>，</a:t>
            </a:r>
            <a:r>
              <a:rPr lang="en-US" altLang="zh-CN"/>
              <a:t>§0</a:t>
            </a:r>
            <a:r>
              <a:rPr lang="zh-CN" altLang="en-US"/>
              <a:t>统一实验定义、</a:t>
            </a:r>
            <a:r>
              <a:rPr lang="en-US" altLang="zh-CN"/>
              <a:t>§7</a:t>
            </a:r>
            <a:r>
              <a:rPr lang="zh-CN" altLang="en-US"/>
              <a:t>定位评价、</a:t>
            </a:r>
            <a:r>
              <a:rPr lang="en-US" altLang="zh-CN"/>
              <a:t>§8</a:t>
            </a:r>
            <a:r>
              <a:rPr lang="zh-CN" altLang="en-US"/>
              <a:t>统一执行流程 </a:t>
            </a:r>
            <a:r>
              <a:rPr lang="en-US" altLang="zh-CN"/>
              <a:t>D:\</a:t>
            </a:r>
            <a:r>
              <a:rPr lang="zh-CN" altLang="en-US"/>
              <a:t>开题</a:t>
            </a:r>
            <a:r>
              <a:rPr lang="en-US" altLang="zh-CN"/>
              <a:t>\</a:t>
            </a:r>
            <a:r>
              <a:rPr lang="zh-CN" altLang="en-US"/>
              <a:t>正式开题</a:t>
            </a:r>
            <a:r>
              <a:rPr lang="en-US" altLang="zh-CN"/>
              <a:t>\Model Edit\bli2-reasonvqa\dataset\md\Location\6location_7model_3datas_top_3_5_layers_outcome.md</a:t>
            </a:r>
            <a:r>
              <a:rPr lang="zh-CN" altLang="en-US"/>
              <a:t>，</a:t>
            </a:r>
            <a:r>
              <a:rPr lang="en-US" altLang="zh-CN"/>
              <a:t>§4</a:t>
            </a:r>
            <a:r>
              <a:rPr lang="zh-CN" altLang="en-US"/>
              <a:t>服务器结构化结果总表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DBB7C-3305-4CD0-8270-13DF6C932B9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12936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[Sources]</a:t>
            </a:r>
          </a:p>
          <a:p>
            <a:r>
              <a:rPr lang="en-US" altLang="zh-CN"/>
              <a:t>- D:\</a:t>
            </a:r>
            <a:r>
              <a:rPr lang="zh-CN" altLang="en-US"/>
              <a:t>开题</a:t>
            </a:r>
            <a:r>
              <a:rPr lang="en-US" altLang="zh-CN"/>
              <a:t>\</a:t>
            </a:r>
            <a:r>
              <a:rPr lang="zh-CN" altLang="en-US"/>
              <a:t>正式开题</a:t>
            </a:r>
            <a:r>
              <a:rPr lang="en-US" altLang="zh-CN"/>
              <a:t>\Model Edit\bli2-reasonvqa\dataset\md\Location\6edit_layer_localization_candidate_methods_</a:t>
            </a:r>
            <a:r>
              <a:rPr lang="zh-CN" altLang="en-US"/>
              <a:t>简洁说明版</a:t>
            </a:r>
            <a:r>
              <a:rPr lang="en-US" altLang="zh-CN"/>
              <a:t>.md</a:t>
            </a:r>
            <a:r>
              <a:rPr lang="zh-CN" altLang="en-US"/>
              <a:t>，</a:t>
            </a:r>
            <a:r>
              <a:rPr lang="en-US" altLang="zh-CN"/>
              <a:t>§0.6</a:t>
            </a:r>
            <a:r>
              <a:rPr lang="zh-CN" altLang="en-US"/>
              <a:t>主方法与候选规则、</a:t>
            </a:r>
            <a:r>
              <a:rPr lang="en-US" altLang="zh-CN"/>
              <a:t>§10</a:t>
            </a:r>
            <a:r>
              <a:rPr lang="zh-CN" altLang="en-US"/>
              <a:t>主实验默认配置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DBB7C-3305-4CD0-8270-13DF6C932B9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85170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讲解提示：</a:t>
            </a:r>
          </a:p>
          <a:p>
            <a:r>
              <a:rPr lang="en-US" altLang="zh-CN"/>
              <a:t>• </a:t>
            </a:r>
            <a:r>
              <a:rPr lang="zh-CN" altLang="en-US"/>
              <a:t>先讲信号来自哪里，再讲为什么该层会进入 </a:t>
            </a:r>
            <a:r>
              <a:rPr lang="en-US" altLang="zh-CN"/>
              <a:t>Top-K</a:t>
            </a:r>
            <a:r>
              <a:rPr lang="zh-CN" altLang="en-US"/>
              <a:t>。</a:t>
            </a:r>
          </a:p>
          <a:p>
            <a:r>
              <a:rPr lang="en-US" altLang="zh-CN"/>
              <a:t>• </a:t>
            </a:r>
            <a:r>
              <a:rPr lang="zh-CN" altLang="en-US"/>
              <a:t>定位结果必须经过同配置真实编辑训练与独立 </a:t>
            </a:r>
            <a:r>
              <a:rPr lang="en-US" altLang="zh-CN"/>
              <a:t>test/eval </a:t>
            </a:r>
            <a:r>
              <a:rPr lang="zh-CN" altLang="en-US"/>
              <a:t>验证。</a:t>
            </a:r>
          </a:p>
          <a:p>
            <a:endParaRPr lang="zh-CN" altLang="en-US"/>
          </a:p>
          <a:p>
            <a:r>
              <a:rPr lang="en-US" altLang="zh-CN"/>
              <a:t>[Sources]</a:t>
            </a:r>
          </a:p>
          <a:p>
            <a:r>
              <a:rPr lang="en-US" altLang="zh-CN"/>
              <a:t>- D:\</a:t>
            </a:r>
            <a:r>
              <a:rPr lang="zh-CN" altLang="en-US"/>
              <a:t>开题</a:t>
            </a:r>
            <a:r>
              <a:rPr lang="en-US" altLang="zh-CN"/>
              <a:t>\</a:t>
            </a:r>
            <a:r>
              <a:rPr lang="zh-CN" altLang="en-US"/>
              <a:t>正式开题</a:t>
            </a:r>
            <a:r>
              <a:rPr lang="en-US" altLang="zh-CN"/>
              <a:t>\Model Edit\bli2-reasonvqa\dataset\md\Location\6edit_layer_localization_candidate_methods_</a:t>
            </a:r>
            <a:r>
              <a:rPr lang="zh-CN" altLang="en-US"/>
              <a:t>简洁说明版</a:t>
            </a:r>
            <a:r>
              <a:rPr lang="en-US" altLang="zh-CN"/>
              <a:t>.md</a:t>
            </a:r>
            <a:r>
              <a:rPr lang="zh-CN" altLang="en-US"/>
              <a:t>，</a:t>
            </a:r>
            <a:r>
              <a:rPr lang="en-US" altLang="zh-CN"/>
              <a:t>§1 Middle-layer Prior D:\</a:t>
            </a:r>
            <a:r>
              <a:rPr lang="zh-CN" altLang="en-US"/>
              <a:t>开题</a:t>
            </a:r>
            <a:r>
              <a:rPr lang="en-US" altLang="zh-CN"/>
              <a:t>\</a:t>
            </a:r>
            <a:r>
              <a:rPr lang="zh-CN" altLang="en-US"/>
              <a:t>正式开题</a:t>
            </a:r>
            <a:r>
              <a:rPr lang="en-US" altLang="zh-CN"/>
              <a:t>\Model Edit\bli2-reasonvqa\dataset\md\Location\VisualGradient_11formula_analysis_files_20260720\analysis_outputs_20260731\baseline_candidates.csv D:\</a:t>
            </a:r>
            <a:r>
              <a:rPr lang="zh-CN" altLang="en-US"/>
              <a:t>开题</a:t>
            </a:r>
            <a:r>
              <a:rPr lang="en-US" altLang="zh-CN"/>
              <a:t>\</a:t>
            </a:r>
            <a:r>
              <a:rPr lang="zh-CN" altLang="en-US"/>
              <a:t>正式开题</a:t>
            </a:r>
            <a:r>
              <a:rPr lang="en-US" altLang="zh-CN"/>
              <a:t>\Model Edit\bli2-reasonvqa\dataset\md\Location\VisualGradient_11formula_analysis_files_20260720\analysis_outputs_20260731\accepted_outcome_rows.csv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DBB7C-3305-4CD0-8270-13DF6C932B9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57614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讲解提示：</a:t>
            </a:r>
          </a:p>
          <a:p>
            <a:r>
              <a:rPr lang="en-US" altLang="zh-CN"/>
              <a:t>• </a:t>
            </a:r>
            <a:r>
              <a:rPr lang="zh-CN" altLang="en-US"/>
              <a:t>先讲信号来自哪里，再讲为什么该层会进入 </a:t>
            </a:r>
            <a:r>
              <a:rPr lang="en-US" altLang="zh-CN"/>
              <a:t>Top-K</a:t>
            </a:r>
            <a:r>
              <a:rPr lang="zh-CN" altLang="en-US"/>
              <a:t>。</a:t>
            </a:r>
          </a:p>
          <a:p>
            <a:r>
              <a:rPr lang="en-US" altLang="zh-CN"/>
              <a:t>• </a:t>
            </a:r>
            <a:r>
              <a:rPr lang="zh-CN" altLang="en-US"/>
              <a:t>定位结果必须经过同配置真实编辑训练与独立 </a:t>
            </a:r>
            <a:r>
              <a:rPr lang="en-US" altLang="zh-CN"/>
              <a:t>test/eval </a:t>
            </a:r>
            <a:r>
              <a:rPr lang="zh-CN" altLang="en-US"/>
              <a:t>验证。</a:t>
            </a:r>
          </a:p>
          <a:p>
            <a:endParaRPr lang="zh-CN" altLang="en-US"/>
          </a:p>
          <a:p>
            <a:r>
              <a:rPr lang="en-US" altLang="zh-CN"/>
              <a:t>[Sources]</a:t>
            </a:r>
          </a:p>
          <a:p>
            <a:r>
              <a:rPr lang="en-US" altLang="zh-CN"/>
              <a:t>- C:\Users\zhoun\Desktop\mywork\</a:t>
            </a:r>
            <a:r>
              <a:rPr lang="zh-CN" altLang="en-US"/>
              <a:t>实验说明</a:t>
            </a:r>
            <a:r>
              <a:rPr lang="en-US" altLang="zh-CN"/>
              <a:t>\mywork-</a:t>
            </a:r>
            <a:r>
              <a:rPr lang="zh-CN" altLang="en-US"/>
              <a:t>通用版</a:t>
            </a:r>
            <a:r>
              <a:rPr lang="en-US" altLang="zh-CN"/>
              <a:t>.docx</a:t>
            </a:r>
            <a:r>
              <a:rPr lang="zh-CN" altLang="en-US"/>
              <a:t>，</a:t>
            </a:r>
            <a:r>
              <a:rPr lang="en-US" altLang="zh-CN"/>
              <a:t>§5.3.2</a:t>
            </a:r>
            <a:r>
              <a:rPr lang="zh-CN" altLang="en-US"/>
              <a:t>模块输出归因 </a:t>
            </a:r>
            <a:r>
              <a:rPr lang="en-US" altLang="zh-CN"/>
              <a:t>D:\</a:t>
            </a:r>
            <a:r>
              <a:rPr lang="zh-CN" altLang="en-US"/>
              <a:t>开题</a:t>
            </a:r>
            <a:r>
              <a:rPr lang="en-US" altLang="zh-CN"/>
              <a:t>\</a:t>
            </a:r>
            <a:r>
              <a:rPr lang="zh-CN" altLang="en-US"/>
              <a:t>正式开题</a:t>
            </a:r>
            <a:r>
              <a:rPr lang="en-US" altLang="zh-CN"/>
              <a:t>\Model Edit\bli2-reasonvqa\dataset\md\Location\6edit_layer_localization_candidate_methods_</a:t>
            </a:r>
            <a:r>
              <a:rPr lang="zh-CN" altLang="en-US"/>
              <a:t>简洁说明版</a:t>
            </a:r>
            <a:r>
              <a:rPr lang="en-US" altLang="zh-CN"/>
              <a:t>.md</a:t>
            </a:r>
            <a:r>
              <a:rPr lang="zh-CN" altLang="en-US"/>
              <a:t>，</a:t>
            </a:r>
            <a:r>
              <a:rPr lang="en-US" altLang="zh-CN"/>
              <a:t>§2 VisEdit-Contrib-Pre D:\</a:t>
            </a:r>
            <a:r>
              <a:rPr lang="zh-CN" altLang="en-US"/>
              <a:t>开题</a:t>
            </a:r>
            <a:r>
              <a:rPr lang="en-US" altLang="zh-CN"/>
              <a:t>\</a:t>
            </a:r>
            <a:r>
              <a:rPr lang="zh-CN" altLang="en-US"/>
              <a:t>正式开题</a:t>
            </a:r>
            <a:r>
              <a:rPr lang="en-US" altLang="zh-CN"/>
              <a:t>\Model Edit\bli2-reasonvqa\dataset\md\Location\VisualGradient_11formula_analysis_files_20260720\analysis_outputs_20260731\baseline_candidates.csv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DBB7C-3305-4CD0-8270-13DF6C932B9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19236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讲解提示：</a:t>
            </a:r>
          </a:p>
          <a:p>
            <a:r>
              <a:rPr lang="en-US" altLang="zh-CN"/>
              <a:t>• </a:t>
            </a:r>
            <a:r>
              <a:rPr lang="zh-CN" altLang="en-US"/>
              <a:t>先讲信号来自哪里，再讲为什么该层会进入 </a:t>
            </a:r>
            <a:r>
              <a:rPr lang="en-US" altLang="zh-CN"/>
              <a:t>Top-K</a:t>
            </a:r>
            <a:r>
              <a:rPr lang="zh-CN" altLang="en-US"/>
              <a:t>。</a:t>
            </a:r>
          </a:p>
          <a:p>
            <a:r>
              <a:rPr lang="en-US" altLang="zh-CN"/>
              <a:t>• </a:t>
            </a:r>
            <a:r>
              <a:rPr lang="zh-CN" altLang="en-US"/>
              <a:t>定位结果必须经过同配置真实编辑训练与独立 </a:t>
            </a:r>
            <a:r>
              <a:rPr lang="en-US" altLang="zh-CN"/>
              <a:t>test/eval </a:t>
            </a:r>
            <a:r>
              <a:rPr lang="zh-CN" altLang="en-US"/>
              <a:t>验证。</a:t>
            </a:r>
          </a:p>
          <a:p>
            <a:endParaRPr lang="zh-CN" altLang="en-US"/>
          </a:p>
          <a:p>
            <a:r>
              <a:rPr lang="en-US" altLang="zh-CN"/>
              <a:t>[Sources]</a:t>
            </a:r>
          </a:p>
          <a:p>
            <a:r>
              <a:rPr lang="en-US" altLang="zh-CN"/>
              <a:t>- D:\</a:t>
            </a:r>
            <a:r>
              <a:rPr lang="zh-CN" altLang="en-US"/>
              <a:t>开题</a:t>
            </a:r>
            <a:r>
              <a:rPr lang="en-US" altLang="zh-CN"/>
              <a:t>\</a:t>
            </a:r>
            <a:r>
              <a:rPr lang="zh-CN" altLang="en-US"/>
              <a:t>正式开题</a:t>
            </a:r>
            <a:r>
              <a:rPr lang="en-US" altLang="zh-CN"/>
              <a:t>\Model Edit\bli2-reasonvqa\dataset\md\Location\6edit_layer_localization_candidate_methods_</a:t>
            </a:r>
            <a:r>
              <a:rPr lang="zh-CN" altLang="en-US"/>
              <a:t>简洁说明版</a:t>
            </a:r>
            <a:r>
              <a:rPr lang="en-US" altLang="zh-CN"/>
              <a:t>.md</a:t>
            </a:r>
            <a:r>
              <a:rPr lang="zh-CN" altLang="en-US"/>
              <a:t>，</a:t>
            </a:r>
            <a:r>
              <a:rPr lang="en-US" altLang="zh-CN"/>
              <a:t>§3 SaLEM-Based Salient-Layer Selection D:\</a:t>
            </a:r>
            <a:r>
              <a:rPr lang="zh-CN" altLang="en-US"/>
              <a:t>开题</a:t>
            </a:r>
            <a:r>
              <a:rPr lang="en-US" altLang="zh-CN"/>
              <a:t>\</a:t>
            </a:r>
            <a:r>
              <a:rPr lang="zh-CN" altLang="en-US"/>
              <a:t>正式开题</a:t>
            </a:r>
            <a:r>
              <a:rPr lang="en-US" altLang="zh-CN"/>
              <a:t>\Model Edit\bli2-reasonvqa\dataset\md\Location\VisualGradient_11formula_analysis_files_20260720\analysis_outputs_20260731\baseline_candidates.csv D:\</a:t>
            </a:r>
            <a:r>
              <a:rPr lang="zh-CN" altLang="en-US"/>
              <a:t>开题</a:t>
            </a:r>
            <a:r>
              <a:rPr lang="en-US" altLang="zh-CN"/>
              <a:t>\</a:t>
            </a:r>
            <a:r>
              <a:rPr lang="zh-CN" altLang="en-US"/>
              <a:t>正式开题</a:t>
            </a:r>
            <a:r>
              <a:rPr lang="en-US" altLang="zh-CN"/>
              <a:t>\Model Edit\bli2-reasonvqa\dataset\md\Location\VisualGradient_11formula_analysis_files_20260720\analysis_outputs_20260731\accepted_outcome_rows.csv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DBB7C-3305-4CD0-8270-13DF6C932B9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94390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讲解提示：</a:t>
            </a:r>
          </a:p>
          <a:p>
            <a:r>
              <a:rPr lang="en-US" altLang="zh-CN"/>
              <a:t>• </a:t>
            </a:r>
            <a:r>
              <a:rPr lang="zh-CN" altLang="en-US"/>
              <a:t>先讲信号来自哪里，再讲为什么该层会进入 </a:t>
            </a:r>
            <a:r>
              <a:rPr lang="en-US" altLang="zh-CN"/>
              <a:t>Top-K</a:t>
            </a:r>
            <a:r>
              <a:rPr lang="zh-CN" altLang="en-US"/>
              <a:t>。</a:t>
            </a:r>
          </a:p>
          <a:p>
            <a:r>
              <a:rPr lang="en-US" altLang="zh-CN"/>
              <a:t>• </a:t>
            </a:r>
            <a:r>
              <a:rPr lang="zh-CN" altLang="en-US"/>
              <a:t>定位结果必须经过同配置真实编辑训练与独立 </a:t>
            </a:r>
            <a:r>
              <a:rPr lang="en-US" altLang="zh-CN"/>
              <a:t>test/eval </a:t>
            </a:r>
            <a:r>
              <a:rPr lang="zh-CN" altLang="en-US"/>
              <a:t>验证。</a:t>
            </a:r>
          </a:p>
          <a:p>
            <a:endParaRPr lang="zh-CN" altLang="en-US"/>
          </a:p>
          <a:p>
            <a:r>
              <a:rPr lang="en-US" altLang="zh-CN"/>
              <a:t>[Sources]</a:t>
            </a:r>
          </a:p>
          <a:p>
            <a:r>
              <a:rPr lang="en-US" altLang="zh-CN"/>
              <a:t>- D:\</a:t>
            </a:r>
            <a:r>
              <a:rPr lang="zh-CN" altLang="en-US"/>
              <a:t>开题</a:t>
            </a:r>
            <a:r>
              <a:rPr lang="en-US" altLang="zh-CN"/>
              <a:t>\</a:t>
            </a:r>
            <a:r>
              <a:rPr lang="zh-CN" altLang="en-US"/>
              <a:t>正式开题</a:t>
            </a:r>
            <a:r>
              <a:rPr lang="en-US" altLang="zh-CN"/>
              <a:t>\Model Edit\bli2-reasonvqa\dataset\md\Location\6edit_layer_localization_candidate_methods_</a:t>
            </a:r>
            <a:r>
              <a:rPr lang="zh-CN" altLang="en-US"/>
              <a:t>简洁说明版</a:t>
            </a:r>
            <a:r>
              <a:rPr lang="en-US" altLang="zh-CN"/>
              <a:t>.md</a:t>
            </a:r>
            <a:r>
              <a:rPr lang="zh-CN" altLang="en-US"/>
              <a:t>，</a:t>
            </a:r>
            <a:r>
              <a:rPr lang="en-US" altLang="zh-CN"/>
              <a:t>§4 GoldenLayer / Layer Gradient Analysis D:\</a:t>
            </a:r>
            <a:r>
              <a:rPr lang="zh-CN" altLang="en-US"/>
              <a:t>开题</a:t>
            </a:r>
            <a:r>
              <a:rPr lang="en-US" altLang="zh-CN"/>
              <a:t>\</a:t>
            </a:r>
            <a:r>
              <a:rPr lang="zh-CN" altLang="en-US"/>
              <a:t>正式开题</a:t>
            </a:r>
            <a:r>
              <a:rPr lang="en-US" altLang="zh-CN"/>
              <a:t>\Model Edit\bli2-reasonvqa\dataset\md\Location\VisualGradient_11formula_analysis_files_20260720\analysis_outputs_20260731\baseline_candidates.csv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DBB7C-3305-4CD0-8270-13DF6C932B9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15357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讲解提示：</a:t>
            </a:r>
          </a:p>
          <a:p>
            <a:r>
              <a:rPr lang="en-US" altLang="zh-CN"/>
              <a:t>• </a:t>
            </a:r>
            <a:r>
              <a:rPr lang="zh-CN" altLang="en-US"/>
              <a:t>先讲信号来自哪里，再讲为什么该层会进入 </a:t>
            </a:r>
            <a:r>
              <a:rPr lang="en-US" altLang="zh-CN"/>
              <a:t>Top-K</a:t>
            </a:r>
            <a:r>
              <a:rPr lang="zh-CN" altLang="en-US"/>
              <a:t>。</a:t>
            </a:r>
          </a:p>
          <a:p>
            <a:r>
              <a:rPr lang="en-US" altLang="zh-CN"/>
              <a:t>• </a:t>
            </a:r>
            <a:r>
              <a:rPr lang="zh-CN" altLang="en-US"/>
              <a:t>定位结果必须经过同配置真实编辑训练与独立 </a:t>
            </a:r>
            <a:r>
              <a:rPr lang="en-US" altLang="zh-CN"/>
              <a:t>test/eval </a:t>
            </a:r>
            <a:r>
              <a:rPr lang="zh-CN" altLang="en-US"/>
              <a:t>验证。</a:t>
            </a:r>
          </a:p>
          <a:p>
            <a:endParaRPr lang="zh-CN" altLang="en-US"/>
          </a:p>
          <a:p>
            <a:r>
              <a:rPr lang="en-US" altLang="zh-CN"/>
              <a:t>[Sources]</a:t>
            </a:r>
          </a:p>
          <a:p>
            <a:r>
              <a:rPr lang="en-US" altLang="zh-CN"/>
              <a:t>- D:\</a:t>
            </a:r>
            <a:r>
              <a:rPr lang="zh-CN" altLang="en-US"/>
              <a:t>开题</a:t>
            </a:r>
            <a:r>
              <a:rPr lang="en-US" altLang="zh-CN"/>
              <a:t>\</a:t>
            </a:r>
            <a:r>
              <a:rPr lang="zh-CN" altLang="en-US"/>
              <a:t>正式开题</a:t>
            </a:r>
            <a:r>
              <a:rPr lang="en-US" altLang="zh-CN"/>
              <a:t>\Model Edit\bli2-reasonvqa\dataset\md\Location\6edit_layer_localization_candidate_methods_</a:t>
            </a:r>
            <a:r>
              <a:rPr lang="zh-CN" altLang="en-US"/>
              <a:t>简洁说明版</a:t>
            </a:r>
            <a:r>
              <a:rPr lang="en-US" altLang="zh-CN"/>
              <a:t>.md</a:t>
            </a:r>
            <a:r>
              <a:rPr lang="zh-CN" altLang="en-US"/>
              <a:t>，</a:t>
            </a:r>
            <a:r>
              <a:rPr lang="en-US" altLang="zh-CN"/>
              <a:t>§5 Perturb-KL-Direct D:\</a:t>
            </a:r>
            <a:r>
              <a:rPr lang="zh-CN" altLang="en-US"/>
              <a:t>开题</a:t>
            </a:r>
            <a:r>
              <a:rPr lang="en-US" altLang="zh-CN"/>
              <a:t>\</a:t>
            </a:r>
            <a:r>
              <a:rPr lang="zh-CN" altLang="en-US"/>
              <a:t>正式开题</a:t>
            </a:r>
            <a:r>
              <a:rPr lang="en-US" altLang="zh-CN"/>
              <a:t>\Model Edit\bli2-reasonvqa\dataset\md\Location\VisualGradient_11formula_analysis_files_20260720\analysis_outputs_20260731\baseline_candidates.csv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DBB7C-3305-4CD0-8270-13DF6C932B9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48329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讲解提示：</a:t>
            </a:r>
          </a:p>
          <a:p>
            <a:r>
              <a:rPr lang="en-US" altLang="zh-CN"/>
              <a:t>• </a:t>
            </a:r>
            <a:r>
              <a:rPr lang="zh-CN" altLang="en-US"/>
              <a:t>先讲信号来自哪里，再讲为什么该层会进入 </a:t>
            </a:r>
            <a:r>
              <a:rPr lang="en-US" altLang="zh-CN"/>
              <a:t>Top-K</a:t>
            </a:r>
            <a:r>
              <a:rPr lang="zh-CN" altLang="en-US"/>
              <a:t>。</a:t>
            </a:r>
          </a:p>
          <a:p>
            <a:r>
              <a:rPr lang="en-US" altLang="zh-CN"/>
              <a:t>• </a:t>
            </a:r>
            <a:r>
              <a:rPr lang="zh-CN" altLang="en-US"/>
              <a:t>定位结果必须经过同配置真实编辑训练与独立 </a:t>
            </a:r>
            <a:r>
              <a:rPr lang="en-US" altLang="zh-CN"/>
              <a:t>test/eval </a:t>
            </a:r>
            <a:r>
              <a:rPr lang="zh-CN" altLang="en-US"/>
              <a:t>验证。</a:t>
            </a:r>
          </a:p>
          <a:p>
            <a:endParaRPr lang="zh-CN" altLang="en-US"/>
          </a:p>
          <a:p>
            <a:r>
              <a:rPr lang="en-US" altLang="zh-CN"/>
              <a:t>[Sources]</a:t>
            </a:r>
          </a:p>
          <a:p>
            <a:r>
              <a:rPr lang="en-US" altLang="zh-CN"/>
              <a:t>- D:\</a:t>
            </a:r>
            <a:r>
              <a:rPr lang="zh-CN" altLang="en-US"/>
              <a:t>开题</a:t>
            </a:r>
            <a:r>
              <a:rPr lang="en-US" altLang="zh-CN"/>
              <a:t>\</a:t>
            </a:r>
            <a:r>
              <a:rPr lang="zh-CN" altLang="en-US"/>
              <a:t>正式开题</a:t>
            </a:r>
            <a:r>
              <a:rPr lang="en-US" altLang="zh-CN"/>
              <a:t>\Model Edit\bli2-reasonvqa\dataset\md\Location\6edit_layer_localization_candidate_methods_</a:t>
            </a:r>
            <a:r>
              <a:rPr lang="zh-CN" altLang="en-US"/>
              <a:t>简洁说明版</a:t>
            </a:r>
            <a:r>
              <a:rPr lang="en-US" altLang="zh-CN"/>
              <a:t>.md</a:t>
            </a:r>
            <a:r>
              <a:rPr lang="zh-CN" altLang="en-US"/>
              <a:t>，</a:t>
            </a:r>
            <a:r>
              <a:rPr lang="en-US" altLang="zh-CN"/>
              <a:t>§6.5 CMA-Direct / Visual Causal Restoration D:\</a:t>
            </a:r>
            <a:r>
              <a:rPr lang="zh-CN" altLang="en-US"/>
              <a:t>开题</a:t>
            </a:r>
            <a:r>
              <a:rPr lang="en-US" altLang="zh-CN"/>
              <a:t>\</a:t>
            </a:r>
            <a:r>
              <a:rPr lang="zh-CN" altLang="en-US"/>
              <a:t>正式开题</a:t>
            </a:r>
            <a:r>
              <a:rPr lang="en-US" altLang="zh-CN"/>
              <a:t>\Model Edit\bli2-reasonvqa\dataset\md\Location\VisualGradient_11formula_analysis_files_20260720\analysis_outputs_20260731\baseline_candidates.csv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DBB7C-3305-4CD0-8270-13DF6C932B9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08539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讲解提示：</a:t>
            </a:r>
          </a:p>
          <a:p>
            <a:r>
              <a:rPr lang="en-US" altLang="zh-CN"/>
              <a:t>• </a:t>
            </a:r>
            <a:r>
              <a:rPr lang="zh-CN" altLang="en-US"/>
              <a:t>先讲信号来自哪里，再讲为什么该层会进入 </a:t>
            </a:r>
            <a:r>
              <a:rPr lang="en-US" altLang="zh-CN"/>
              <a:t>Top-K</a:t>
            </a:r>
            <a:r>
              <a:rPr lang="zh-CN" altLang="en-US"/>
              <a:t>。</a:t>
            </a:r>
          </a:p>
          <a:p>
            <a:r>
              <a:rPr lang="en-US" altLang="zh-CN"/>
              <a:t>• </a:t>
            </a:r>
            <a:r>
              <a:rPr lang="zh-CN" altLang="en-US"/>
              <a:t>定位结果必须经过同配置真实编辑训练与独立 </a:t>
            </a:r>
            <a:r>
              <a:rPr lang="en-US" altLang="zh-CN"/>
              <a:t>test/eval </a:t>
            </a:r>
            <a:r>
              <a:rPr lang="zh-CN" altLang="en-US"/>
              <a:t>验证。</a:t>
            </a:r>
          </a:p>
          <a:p>
            <a:endParaRPr lang="zh-CN" altLang="en-US"/>
          </a:p>
          <a:p>
            <a:r>
              <a:rPr lang="en-US" altLang="zh-CN"/>
              <a:t>[Sources]</a:t>
            </a:r>
          </a:p>
          <a:p>
            <a:r>
              <a:rPr lang="en-US" altLang="zh-CN"/>
              <a:t>- D:\</a:t>
            </a:r>
            <a:r>
              <a:rPr lang="zh-CN" altLang="en-US"/>
              <a:t>开题</a:t>
            </a:r>
            <a:r>
              <a:rPr lang="en-US" altLang="zh-CN"/>
              <a:t>\</a:t>
            </a:r>
            <a:r>
              <a:rPr lang="zh-CN" altLang="en-US"/>
              <a:t>正式开题</a:t>
            </a:r>
            <a:r>
              <a:rPr lang="en-US" altLang="zh-CN"/>
              <a:t>\Model Edit\bli2-reasonvqa\dataset\md\Location\6edit_layer_localization_candidate_methods_</a:t>
            </a:r>
            <a:r>
              <a:rPr lang="zh-CN" altLang="en-US"/>
              <a:t>简洁说明版</a:t>
            </a:r>
            <a:r>
              <a:rPr lang="en-US" altLang="zh-CN"/>
              <a:t>.md</a:t>
            </a:r>
            <a:r>
              <a:rPr lang="zh-CN" altLang="en-US"/>
              <a:t>，</a:t>
            </a:r>
            <a:r>
              <a:rPr lang="en-US" altLang="zh-CN"/>
              <a:t>§6 Ours-VisualGradient-Direct D:\</a:t>
            </a:r>
            <a:r>
              <a:rPr lang="zh-CN" altLang="en-US"/>
              <a:t>开题</a:t>
            </a:r>
            <a:r>
              <a:rPr lang="en-US" altLang="zh-CN"/>
              <a:t>\</a:t>
            </a:r>
            <a:r>
              <a:rPr lang="zh-CN" altLang="en-US"/>
              <a:t>正式开题</a:t>
            </a:r>
            <a:r>
              <a:rPr lang="en-US" altLang="zh-CN"/>
              <a:t>\Model Edit\bli2-reasonvqa\dataset\md\Location\VisualGradient_11formula_analysis_files_20260720\analysis_outputs_20260731\formula_topk_all_21.csv D:\</a:t>
            </a:r>
            <a:r>
              <a:rPr lang="zh-CN" altLang="en-US"/>
              <a:t>开题</a:t>
            </a:r>
            <a:r>
              <a:rPr lang="en-US" altLang="zh-CN"/>
              <a:t>\</a:t>
            </a:r>
            <a:r>
              <a:rPr lang="zh-CN" altLang="en-US"/>
              <a:t>正式开题</a:t>
            </a:r>
            <a:r>
              <a:rPr lang="en-US" altLang="zh-CN"/>
              <a:t>\Model Edit\bli2-reasonvqa\dataset\md\Location\VisualGradient_11formula_analysis_files_20260720\analysis_outputs_20260731\formula_global_summary.csv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DBB7C-3305-4CD0-8270-13DF6C932B9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03553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[Sources]</a:t>
            </a:r>
          </a:p>
          <a:p>
            <a:r>
              <a:rPr lang="en-US" altLang="zh-CN"/>
              <a:t>- D:\</a:t>
            </a:r>
            <a:r>
              <a:rPr lang="zh-CN" altLang="en-US"/>
              <a:t>开题</a:t>
            </a:r>
            <a:r>
              <a:rPr lang="en-US" altLang="zh-CN"/>
              <a:t>\</a:t>
            </a:r>
            <a:r>
              <a:rPr lang="zh-CN" altLang="en-US"/>
              <a:t>正式开题</a:t>
            </a:r>
            <a:r>
              <a:rPr lang="en-US" altLang="zh-CN"/>
              <a:t>\Model Edit\bli2-reasonvqa\dataset\md\Location\VisualGradient_11formula_analysis_files_20260720\analysis_outputs_20260731\baseline_candidates.csv D:\</a:t>
            </a:r>
            <a:r>
              <a:rPr lang="zh-CN" altLang="en-US"/>
              <a:t>开题</a:t>
            </a:r>
            <a:r>
              <a:rPr lang="en-US" altLang="zh-CN"/>
              <a:t>\</a:t>
            </a:r>
            <a:r>
              <a:rPr lang="zh-CN" altLang="en-US"/>
              <a:t>正式开题</a:t>
            </a:r>
            <a:r>
              <a:rPr lang="en-US" altLang="zh-CN"/>
              <a:t>\Model Edit\bli2-reasonvqa\dataset\md\Location\VisualGradient_11formula_analysis_files_20260720\analysis_outputs_20260731\formula_topk_all_21.csv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DBB7C-3305-4CD0-8270-13DF6C932B9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78786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[Sources]</a:t>
            </a:r>
          </a:p>
          <a:p>
            <a:r>
              <a:rPr lang="en-US" altLang="zh-CN"/>
              <a:t>- D:\</a:t>
            </a:r>
            <a:r>
              <a:rPr lang="zh-CN" altLang="en-US"/>
              <a:t>开题</a:t>
            </a:r>
            <a:r>
              <a:rPr lang="en-US" altLang="zh-CN"/>
              <a:t>\</a:t>
            </a:r>
            <a:r>
              <a:rPr lang="zh-CN" altLang="en-US"/>
              <a:t>正式开题</a:t>
            </a:r>
            <a:r>
              <a:rPr lang="en-US" altLang="zh-CN"/>
              <a:t>\Model Edit\bli2-reasonvqa\dataset\md\Location\VisualGradient_11formula_analysis_files_20260720\analysis_outputs_20260731\formula_global_summary.csv D:\</a:t>
            </a:r>
            <a:r>
              <a:rPr lang="zh-CN" altLang="en-US"/>
              <a:t>开题</a:t>
            </a:r>
            <a:r>
              <a:rPr lang="en-US" altLang="zh-CN"/>
              <a:t>\</a:t>
            </a:r>
            <a:r>
              <a:rPr lang="zh-CN" altLang="en-US"/>
              <a:t>正式开题</a:t>
            </a:r>
            <a:r>
              <a:rPr lang="en-US" altLang="zh-CN"/>
              <a:t>\Model Edit\bli2-reasonvqa\dataset\md\Location\VisualGradient_11formula_analysis_files_20260720\analysis_outputs_20260731\visual_gradient_formula_evidence_report.md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DBB7C-3305-4CD0-8270-13DF6C932B9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60544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[Sources]</a:t>
            </a:r>
          </a:p>
          <a:p>
            <a:r>
              <a:rPr lang="en-US" altLang="zh-CN"/>
              <a:t>- D:\</a:t>
            </a:r>
            <a:r>
              <a:rPr lang="zh-CN" altLang="en-US"/>
              <a:t>开题</a:t>
            </a:r>
            <a:r>
              <a:rPr lang="en-US" altLang="zh-CN"/>
              <a:t>\</a:t>
            </a:r>
            <a:r>
              <a:rPr lang="zh-CN" altLang="en-US"/>
              <a:t>正式开题</a:t>
            </a:r>
            <a:r>
              <a:rPr lang="en-US" altLang="zh-CN"/>
              <a:t>\Model Edit\bli2-reasonvqa\dataset\md\Location\VisualGradient_11formula_analysis_files_20260720\analysis_outputs_20260731\baseline_pairwise_vs_M_abscos.csv D:\</a:t>
            </a:r>
            <a:r>
              <a:rPr lang="zh-CN" altLang="en-US"/>
              <a:t>开题</a:t>
            </a:r>
            <a:r>
              <a:rPr lang="en-US" altLang="zh-CN"/>
              <a:t>\</a:t>
            </a:r>
            <a:r>
              <a:rPr lang="zh-CN" altLang="en-US"/>
              <a:t>正式开题</a:t>
            </a:r>
            <a:r>
              <a:rPr lang="en-US" altLang="zh-CN"/>
              <a:t>\Model Edit\bli2-reasonvqa\dataset\md\Location\VisualGradient_11formula_analysis_files_20260720\analysis_outputs_20260731\visual_gradient_formula_evidence_report.md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DBB7C-3305-4CD0-8270-13DF6C932B93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16574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[Sources]</a:t>
            </a:r>
          </a:p>
          <a:p>
            <a:r>
              <a:rPr lang="en-US" altLang="zh-CN"/>
              <a:t>- D:\</a:t>
            </a:r>
            <a:r>
              <a:rPr lang="zh-CN" altLang="en-US"/>
              <a:t>开题</a:t>
            </a:r>
            <a:r>
              <a:rPr lang="en-US" altLang="zh-CN"/>
              <a:t>\</a:t>
            </a:r>
            <a:r>
              <a:rPr lang="zh-CN" altLang="en-US"/>
              <a:t>正式开题</a:t>
            </a:r>
            <a:r>
              <a:rPr lang="en-US" altLang="zh-CN"/>
              <a:t>\Model Edit\bli2-reasonvqa\dataset\md\Location\VisualGradient_11formula_analysis_files_20260720\analysis_outputs_20260731\visual_gradient_formula_evidence_report.md D:\</a:t>
            </a:r>
            <a:r>
              <a:rPr lang="zh-CN" altLang="en-US"/>
              <a:t>开题</a:t>
            </a:r>
            <a:r>
              <a:rPr lang="en-US" altLang="zh-CN"/>
              <a:t>\</a:t>
            </a:r>
            <a:r>
              <a:rPr lang="zh-CN" altLang="en-US"/>
              <a:t>正式开题</a:t>
            </a:r>
            <a:r>
              <a:rPr lang="en-US" altLang="zh-CN"/>
              <a:t>\Model Edit\bli2-reasonvqa\dataset\md\Location\6location_7model_3datas_top_3_5_layers_outcome.md</a:t>
            </a:r>
            <a:r>
              <a:rPr lang="zh-CN" altLang="en-US"/>
              <a:t>，</a:t>
            </a:r>
            <a:r>
              <a:rPr lang="en-US" altLang="zh-CN"/>
              <a:t>§3.5.1</a:t>
            </a:r>
            <a:r>
              <a:rPr lang="zh-CN" altLang="en-US"/>
              <a:t>异常原因、现存</a:t>
            </a:r>
            <a:r>
              <a:rPr lang="en-US" altLang="zh-CN"/>
              <a:t>checkpoint</a:t>
            </a:r>
            <a:r>
              <a:rPr lang="zh-CN" altLang="en-US"/>
              <a:t>与重跑建议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DBB7C-3305-4CD0-8270-13DF6C932B93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39125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[Sources]</a:t>
            </a:r>
          </a:p>
          <a:p>
            <a:r>
              <a:rPr lang="en-US" altLang="zh-CN"/>
              <a:t>- C:\Users\zhoun\Desktop\mywork\</a:t>
            </a:r>
            <a:r>
              <a:rPr lang="zh-CN" altLang="en-US"/>
              <a:t>实验说明</a:t>
            </a:r>
            <a:r>
              <a:rPr lang="en-US" altLang="zh-CN"/>
              <a:t>\mywork-</a:t>
            </a:r>
            <a:r>
              <a:rPr lang="zh-CN" altLang="en-US"/>
              <a:t>通用版</a:t>
            </a:r>
            <a:r>
              <a:rPr lang="en-US" altLang="zh-CN"/>
              <a:t>.docx</a:t>
            </a:r>
            <a:r>
              <a:rPr lang="zh-CN" altLang="en-US"/>
              <a:t>，</a:t>
            </a:r>
            <a:r>
              <a:rPr lang="en-US" altLang="zh-CN"/>
              <a:t>§5.3.4</a:t>
            </a:r>
            <a:r>
              <a:rPr lang="zh-CN" altLang="en-US"/>
              <a:t>子图构建、</a:t>
            </a:r>
            <a:r>
              <a:rPr lang="en-US" altLang="zh-CN"/>
              <a:t>§5.3.5</a:t>
            </a:r>
            <a:r>
              <a:rPr lang="zh-CN" altLang="en-US"/>
              <a:t>子图编码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DBB7C-3305-4CD0-8270-13DF6C932B93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97549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讲解提示：</a:t>
            </a:r>
          </a:p>
          <a:p>
            <a:r>
              <a:rPr lang="en-US" altLang="zh-CN"/>
              <a:t>• IM </a:t>
            </a:r>
            <a:r>
              <a:rPr lang="zh-CN" altLang="en-US"/>
              <a:t>用提示最后一个 </a:t>
            </a:r>
            <a:r>
              <a:rPr lang="en-US" altLang="zh-CN"/>
              <a:t>token </a:t>
            </a:r>
            <a:r>
              <a:rPr lang="zh-CN" altLang="en-US"/>
              <a:t>生成区域级编辑强度；图分支补充目标事实引起的关联变化。</a:t>
            </a:r>
          </a:p>
          <a:p>
            <a:endParaRPr lang="zh-CN" altLang="en-US"/>
          </a:p>
          <a:p>
            <a:r>
              <a:rPr lang="en-US" altLang="zh-CN"/>
              <a:t>[Sources]</a:t>
            </a:r>
          </a:p>
          <a:p>
            <a:r>
              <a:rPr lang="en-US" altLang="zh-CN"/>
              <a:t>- C:\Users\zhoun\Desktop\mywork\</a:t>
            </a:r>
            <a:r>
              <a:rPr lang="zh-CN" altLang="en-US"/>
              <a:t>实验说明</a:t>
            </a:r>
            <a:r>
              <a:rPr lang="en-US" altLang="zh-CN"/>
              <a:t>\mywork-</a:t>
            </a:r>
            <a:r>
              <a:rPr lang="zh-CN" altLang="en-US"/>
              <a:t>通用版</a:t>
            </a:r>
            <a:r>
              <a:rPr lang="en-US" altLang="zh-CN"/>
              <a:t>.docx</a:t>
            </a:r>
            <a:r>
              <a:rPr lang="zh-CN" altLang="en-US"/>
              <a:t>，</a:t>
            </a:r>
            <a:r>
              <a:rPr lang="en-US" altLang="zh-CN"/>
              <a:t>§5.3.6</a:t>
            </a:r>
            <a:r>
              <a:rPr lang="zh-CN" altLang="en-US"/>
              <a:t>知识编辑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DBB7C-3305-4CD0-8270-13DF6C932B93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50254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[Sources]</a:t>
            </a:r>
          </a:p>
          <a:p>
            <a:r>
              <a:rPr lang="en-US" altLang="zh-CN"/>
              <a:t>- C:\Users\zhoun\Desktop\mywork\</a:t>
            </a:r>
            <a:r>
              <a:rPr lang="zh-CN" altLang="en-US"/>
              <a:t>实验说明</a:t>
            </a:r>
            <a:r>
              <a:rPr lang="en-US" altLang="zh-CN"/>
              <a:t>\mywork-</a:t>
            </a:r>
            <a:r>
              <a:rPr lang="zh-CN" altLang="en-US"/>
              <a:t>通用版</a:t>
            </a:r>
            <a:r>
              <a:rPr lang="en-US" altLang="zh-CN"/>
              <a:t>.docx</a:t>
            </a:r>
            <a:r>
              <a:rPr lang="zh-CN" altLang="en-US"/>
              <a:t>，</a:t>
            </a:r>
            <a:r>
              <a:rPr lang="en-US" altLang="zh-CN"/>
              <a:t>§5.3.7</a:t>
            </a:r>
            <a:r>
              <a:rPr lang="zh-CN" altLang="en-US"/>
              <a:t>交互式编辑可视分析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DBB7C-3305-4CD0-8270-13DF6C932B93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9673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[Sources]</a:t>
            </a:r>
          </a:p>
          <a:p>
            <a:r>
              <a:rPr lang="en-US" altLang="zh-CN"/>
              <a:t>- C:\Users\zhoun\Desktop\mywork\</a:t>
            </a:r>
            <a:r>
              <a:rPr lang="zh-CN" altLang="en-US"/>
              <a:t>实验说明</a:t>
            </a:r>
            <a:r>
              <a:rPr lang="en-US" altLang="zh-CN"/>
              <a:t>\mywork-</a:t>
            </a:r>
            <a:r>
              <a:rPr lang="zh-CN" altLang="en-US"/>
              <a:t>通用版</a:t>
            </a:r>
            <a:r>
              <a:rPr lang="en-US" altLang="zh-CN"/>
              <a:t>.docx</a:t>
            </a:r>
            <a:r>
              <a:rPr lang="zh-CN" altLang="en-US"/>
              <a:t>，</a:t>
            </a:r>
            <a:r>
              <a:rPr lang="en-US" altLang="zh-CN"/>
              <a:t>§6</a:t>
            </a:r>
            <a:r>
              <a:rPr lang="zh-CN" altLang="en-US"/>
              <a:t>进度安排 </a:t>
            </a:r>
            <a:r>
              <a:rPr lang="en-US" altLang="zh-CN"/>
              <a:t>D:\</a:t>
            </a:r>
            <a:r>
              <a:rPr lang="zh-CN" altLang="en-US"/>
              <a:t>开题</a:t>
            </a:r>
            <a:r>
              <a:rPr lang="en-US" altLang="zh-CN"/>
              <a:t>\</a:t>
            </a:r>
            <a:r>
              <a:rPr lang="zh-CN" altLang="en-US"/>
              <a:t>正式开题</a:t>
            </a:r>
            <a:r>
              <a:rPr lang="en-US" altLang="zh-CN"/>
              <a:t>\Model Edit\bli2-reasonvqa\dataset\md\Location\6location_7model_3datas_top_3_5_layers_outcome.md</a:t>
            </a:r>
            <a:r>
              <a:rPr lang="zh-CN" altLang="en-US"/>
              <a:t>，</a:t>
            </a:r>
            <a:r>
              <a:rPr lang="en-US" altLang="zh-CN"/>
              <a:t>§3.5.1</a:t>
            </a:r>
            <a:r>
              <a:rPr lang="zh-CN" altLang="en-US"/>
              <a:t>异常原因、现存</a:t>
            </a:r>
            <a:r>
              <a:rPr lang="en-US" altLang="zh-CN"/>
              <a:t>checkpoint</a:t>
            </a:r>
            <a:r>
              <a:rPr lang="zh-CN" altLang="en-US"/>
              <a:t>与重跑建议 </a:t>
            </a:r>
            <a:r>
              <a:rPr lang="en-US" altLang="zh-CN"/>
              <a:t>D:\</a:t>
            </a:r>
            <a:r>
              <a:rPr lang="zh-CN" altLang="en-US"/>
              <a:t>开题</a:t>
            </a:r>
            <a:r>
              <a:rPr lang="en-US" altLang="zh-CN"/>
              <a:t>\</a:t>
            </a:r>
            <a:r>
              <a:rPr lang="zh-CN" altLang="en-US"/>
              <a:t>正式开题</a:t>
            </a:r>
            <a:r>
              <a:rPr lang="en-US" altLang="zh-CN"/>
              <a:t>\Model Edit\bli2-reasonvqa\dataset\md\Location\VisualGradient_11formula_analysis_files_20260720\analysis_outputs_20260731\visual_gradient_formula_evidence_report.md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DBB7C-3305-4CD0-8270-13DF6C932B93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2341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讲解提示：</a:t>
            </a:r>
          </a:p>
          <a:p>
            <a:r>
              <a:rPr lang="en-US" altLang="zh-CN"/>
              <a:t>• </a:t>
            </a:r>
            <a:r>
              <a:rPr lang="zh-CN" altLang="en-US"/>
              <a:t>最后回到开场问题：不仅要“改对”，还要“传播对、保持住、解释清”。</a:t>
            </a:r>
          </a:p>
          <a:p>
            <a:endParaRPr lang="zh-CN" altLang="en-US"/>
          </a:p>
          <a:p>
            <a:r>
              <a:rPr lang="en-US" altLang="zh-CN"/>
              <a:t>[Sources]</a:t>
            </a:r>
          </a:p>
          <a:p>
            <a:r>
              <a:rPr lang="en-US" altLang="zh-CN"/>
              <a:t>- C:\Users\zhoun\Desktop\mywork\</a:t>
            </a:r>
            <a:r>
              <a:rPr lang="zh-CN" altLang="en-US"/>
              <a:t>实验说明</a:t>
            </a:r>
            <a:r>
              <a:rPr lang="en-US" altLang="zh-CN"/>
              <a:t>\mywork-</a:t>
            </a:r>
            <a:r>
              <a:rPr lang="zh-CN" altLang="en-US"/>
              <a:t>通用版</a:t>
            </a:r>
            <a:r>
              <a:rPr lang="en-US" altLang="zh-CN"/>
              <a:t>.docx</a:t>
            </a:r>
          </a:p>
          <a:p>
            <a:r>
              <a:rPr lang="en-US" altLang="zh-CN"/>
              <a:t>- D:\</a:t>
            </a:r>
            <a:r>
              <a:rPr lang="zh-CN" altLang="en-US"/>
              <a:t>开题</a:t>
            </a:r>
            <a:r>
              <a:rPr lang="en-US" altLang="zh-CN"/>
              <a:t>\</a:t>
            </a:r>
            <a:r>
              <a:rPr lang="zh-CN" altLang="en-US"/>
              <a:t>正式开题</a:t>
            </a:r>
            <a:r>
              <a:rPr lang="en-US" altLang="zh-CN"/>
              <a:t>\Model Edit\bli2-reasonvqa\dataset\md\Location\6edit_layer_localization_candidate_methods_</a:t>
            </a:r>
            <a:r>
              <a:rPr lang="zh-CN" altLang="en-US"/>
              <a:t>简洁说明版</a:t>
            </a:r>
            <a:r>
              <a:rPr lang="en-US" altLang="zh-CN"/>
              <a:t>.md</a:t>
            </a:r>
          </a:p>
          <a:p>
            <a:r>
              <a:rPr lang="en-US" altLang="zh-CN"/>
              <a:t>- D:\</a:t>
            </a:r>
            <a:r>
              <a:rPr lang="zh-CN" altLang="en-US"/>
              <a:t>开题</a:t>
            </a:r>
            <a:r>
              <a:rPr lang="en-US" altLang="zh-CN"/>
              <a:t>\</a:t>
            </a:r>
            <a:r>
              <a:rPr lang="zh-CN" altLang="en-US"/>
              <a:t>正式开题</a:t>
            </a:r>
            <a:r>
              <a:rPr lang="en-US" altLang="zh-CN"/>
              <a:t>\Model Edit\bli2-reasonvqa\dataset\md\Location\VisualGradient_11formula_analysis_files_20260720\analysis_outputs_20260731</a:t>
            </a:r>
          </a:p>
          <a:p>
            <a:r>
              <a:rPr lang="en-US" altLang="zh-CN"/>
              <a:t>- \visual_gradient_formula_evidence_report.md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DBB7C-3305-4CD0-8270-13DF6C932B93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8267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A7EA92-A00E-ED1D-DC96-DB6C49AB1F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AF700C9-B33C-06FB-5FB4-EACEF59BA7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879EB-F0E3-1E05-CB66-5CB3E3232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BA63A-7B30-469A-8EA9-ACB6FAA0F37A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BDCA32-2443-243A-745A-58D993548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C6A56A-4CDA-5131-3280-3A878A7D6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28675-4F83-41CC-93D7-BE700704C0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1186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EF991A-BBF4-0141-8A32-37F752357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FA8B74-C918-A756-7420-835A65C5F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B71460-44D4-71CD-D3F1-6C37DB3C6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BA63A-7B30-469A-8EA9-ACB6FAA0F37A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A7EF8F-3F5D-2D23-9E47-EAB4AFABD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794DC0-4E94-CA91-DDC6-15E613DA1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28675-4F83-41CC-93D7-BE700704C0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723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D4AE80-F0AC-CBD4-36C6-156E1CEFE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6CA9D6-EB75-2D69-DD04-A5C0AD68E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6EB36D-658E-CD2F-E859-2BC131151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BA63A-7B30-469A-8EA9-ACB6FAA0F37A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3D8D83-DC8F-9094-3E02-43EFA649D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6462C1-29B0-D2A3-8A05-E077D985A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28675-4F83-41CC-93D7-BE700704C0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7477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A47F87-044C-BA8E-92DD-99121A782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830B50-E7A8-947D-5862-36EFA011A2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7BFE245-F87B-DF7C-CDE9-488AF7E793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97498FA-7AF6-4A29-CF7E-4BE863A04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BA63A-7B30-469A-8EA9-ACB6FAA0F37A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06FF921-A14D-8442-A384-BA8B2AFC5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E6671A-9850-4B4D-CCE1-0B2355628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28675-4F83-41CC-93D7-BE700704C0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9150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040B29-89EC-C9B6-6E54-C7A12A751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221AF49-4047-9CFE-2CD8-B74F79A82E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76BE791-0D0A-F097-F10C-222FA3C10C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577682B-5EDA-0C46-58C2-04C858A5A4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2CFBC47-C1DA-92A8-F08E-7106EF5CA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DEBEFE7-9A09-3B52-3C56-768A89A12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BA63A-7B30-469A-8EA9-ACB6FAA0F37A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24D83B0-6F7F-5692-6294-7A980ADE8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DA6C799-4E12-F21A-709C-784D27544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28675-4F83-41CC-93D7-BE700704C0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5908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A60AE5-36BA-6952-0D54-DF5B3CD4B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6B0A94F-C84B-00AB-E439-B4A593447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BA63A-7B30-469A-8EA9-ACB6FAA0F37A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3CF85C5-D7E8-677E-9FCB-DF52CBEFB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AF0A311-58C9-F3AF-DE1A-1454ECC4B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28675-4F83-41CC-93D7-BE700704C0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6656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CB2317F-BF62-6AD8-F5B8-B97EB8F72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BA63A-7B30-469A-8EA9-ACB6FAA0F37A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00DEA62-5C08-80B4-1C9E-B349FDFE7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282051-DF72-C4FB-AAE9-5F341E6FC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28675-4F83-41CC-93D7-BE700704C0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976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6395E6-17F0-E6F8-D36A-7760080A1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2F251A-8205-830B-16A5-604059FD0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2D3B0A3-A64D-4827-7A97-5116D0C9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4C702B-D7F5-9BF9-8D99-96245F4CB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BA63A-7B30-469A-8EA9-ACB6FAA0F37A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E6A9D1-A9E5-3C46-C23F-9B77AAEA2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9E3786-516F-DED8-4792-917E71803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28675-4F83-41CC-93D7-BE700704C0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4138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DDA383-52DB-0D56-7D80-6A5A283D2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2738D4D-ED51-EF3D-964F-B0641E4407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48B6A69-A48E-186E-6054-AAC8A1AE78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F6E5FD-0871-57C1-9C3E-6ACA112A4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BA63A-7B30-469A-8EA9-ACB6FAA0F37A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D6695B-62DF-5A00-8216-AB4BCA945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D2A0A4B-86B4-97B0-2F62-36C3B10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28675-4F83-41CC-93D7-BE700704C0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9010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1E4287-914F-FAC6-0A93-48CB821F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BE63A36-0563-F699-3959-750ABF9F47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83A951-202E-4FEE-35E2-73B98DD35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BA63A-7B30-469A-8EA9-ACB6FAA0F37A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49575D-41B0-8467-C4F5-96CEC9A28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C1EE50-3C7D-B34F-5CDD-55FCA3765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28675-4F83-41CC-93D7-BE700704C0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3274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556BA19-6FFA-E545-B550-9439471F2E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2E6B281-B2B5-C4FA-A6E0-1633EBCD58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BFE521-A40C-8B1C-6F30-0EA03B527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BA63A-7B30-469A-8EA9-ACB6FAA0F37A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AD10BB-60A0-3C30-236F-14B1033AC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10FB00-5F2F-644D-ECFC-78B06DE81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28675-4F83-41CC-93D7-BE700704C0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6854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29E3550-42B4-C874-A594-04DE6962B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46139F-62E3-51E5-C4FB-85A824410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0C83A5-6BF8-DF7C-F1B6-BDDD4618F0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EBA63A-7B30-469A-8EA9-ACB6FAA0F37A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21418F-5B8C-4F4F-F8FB-F25E0E78DD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82E13C-D68F-4757-D756-59C337C3A2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28675-4F83-41CC-93D7-BE700704C0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8030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EE214A0-1CC1-1D36-5A0E-F9B3E60BB481}"/>
              </a:ext>
            </a:extLst>
          </p:cNvPr>
          <p:cNvSpPr txBox="1"/>
          <p:nvPr/>
        </p:nvSpPr>
        <p:spPr>
          <a:xfrm>
            <a:off x="508000" y="431800"/>
            <a:ext cx="787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7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知识图谱增强的视觉语言模型编辑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94A096B-C2BA-0186-0F82-8C271785773F}"/>
              </a:ext>
            </a:extLst>
          </p:cNvPr>
          <p:cNvSpPr txBox="1"/>
          <p:nvPr/>
        </p:nvSpPr>
        <p:spPr>
          <a:xfrm>
            <a:off x="508000" y="19558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52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从层定位，到关联知识泛化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1F89802-BFAF-F574-0B1B-24335F404F57}"/>
              </a:ext>
            </a:extLst>
          </p:cNvPr>
          <p:cNvSpPr txBox="1"/>
          <p:nvPr/>
        </p:nvSpPr>
        <p:spPr>
          <a:xfrm>
            <a:off x="508000" y="41402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2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 </a:t>
            </a:r>
            <a:r>
              <a:rPr lang="zh-CN" altLang="en-US" sz="22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种定位策略 </a:t>
            </a:r>
            <a:r>
              <a:rPr lang="en-US" altLang="zh-CN" sz="22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22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真实编辑验证 </a:t>
            </a:r>
            <a:r>
              <a:rPr lang="en-US" altLang="zh-CN" sz="22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22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知识子图双路注入 </a:t>
            </a:r>
            <a:r>
              <a:rPr lang="en-US" altLang="zh-CN" sz="22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22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交互式分析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4CE2337-5063-830D-D2DE-D8DC34CEA7B7}"/>
              </a:ext>
            </a:extLst>
          </p:cNvPr>
          <p:cNvCxnSpPr/>
          <p:nvPr/>
        </p:nvCxnSpPr>
        <p:spPr>
          <a:xfrm>
            <a:off x="508000" y="5105400"/>
            <a:ext cx="11176000" cy="0"/>
          </a:xfrm>
          <a:prstGeom prst="line">
            <a:avLst/>
          </a:prstGeom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E62EB987-05CC-6CB7-5AE5-C2B715F6C5B9}"/>
              </a:ext>
            </a:extLst>
          </p:cNvPr>
          <p:cNvSpPr txBox="1"/>
          <p:nvPr/>
        </p:nvSpPr>
        <p:spPr>
          <a:xfrm>
            <a:off x="508000" y="5435600"/>
            <a:ext cx="698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方法讲解与后续工作  </a:t>
            </a:r>
            <a:r>
              <a:rPr lang="en-US" altLang="zh-CN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  </a:t>
            </a:r>
            <a:r>
              <a:rPr lang="zh-CN" altLang="en-US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实验快照：</a:t>
            </a:r>
            <a:r>
              <a:rPr lang="en-US" altLang="zh-CN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2026-07-31</a:t>
            </a:r>
            <a:endParaRPr lang="zh-CN" altLang="en-US" sz="160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E32A59D-006E-4019-7C9B-78F691F91EE6}"/>
              </a:ext>
            </a:extLst>
          </p:cNvPr>
          <p:cNvSpPr txBox="1"/>
          <p:nvPr/>
        </p:nvSpPr>
        <p:spPr>
          <a:xfrm>
            <a:off x="8940800" y="5435600"/>
            <a:ext cx="2743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zh-CN" altLang="en-US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汇报人：</a:t>
            </a:r>
            <a:r>
              <a:rPr lang="en-US" altLang="zh-CN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________</a:t>
            </a:r>
            <a:endParaRPr lang="zh-CN" altLang="en-US" sz="160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17847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>
            <a:extLst>
              <a:ext uri="{FF2B5EF4-FFF2-40B4-BE49-F238E27FC236}">
                <a16:creationId xmlns:a16="http://schemas.microsoft.com/office/drawing/2014/main" id="{5DC2377E-8D95-EA77-DAB6-EA5858EA5E1C}"/>
              </a:ext>
            </a:extLst>
          </p:cNvPr>
          <p:cNvSpPr txBox="1"/>
          <p:nvPr/>
        </p:nvSpPr>
        <p:spPr>
          <a:xfrm>
            <a:off x="457200" y="2794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研究问题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1DAB9AD9-C98F-B593-C188-5F3E5DAD9438}"/>
              </a:ext>
            </a:extLst>
          </p:cNvPr>
          <p:cNvSpPr txBox="1"/>
          <p:nvPr/>
        </p:nvSpPr>
        <p:spPr>
          <a:xfrm>
            <a:off x="457200" y="609600"/>
            <a:ext cx="1130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35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只改“目标事实”，仍可能留下关联知识冲突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C440648D-E3CE-6714-F57D-7CFA24E7F145}"/>
              </a:ext>
            </a:extLst>
          </p:cNvPr>
          <p:cNvCxnSpPr/>
          <p:nvPr/>
        </p:nvCxnSpPr>
        <p:spPr>
          <a:xfrm>
            <a:off x="457200" y="1371600"/>
            <a:ext cx="11277600" cy="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age-number">
            <a:extLst>
              <a:ext uri="{FF2B5EF4-FFF2-40B4-BE49-F238E27FC236}">
                <a16:creationId xmlns:a16="http://schemas.microsoft.com/office/drawing/2014/main" id="{FB9A9693-3EA2-ADB5-63A1-96AC554B1F21}"/>
              </a:ext>
            </a:extLst>
          </p:cNvPr>
          <p:cNvSpPr txBox="1"/>
          <p:nvPr/>
        </p:nvSpPr>
        <p:spPr>
          <a:xfrm>
            <a:off x="11303000" y="64135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1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endParaRPr lang="zh-CN" altLang="en-US" sz="110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4F09273-3431-485A-6D83-46312971DD88}"/>
              </a:ext>
            </a:extLst>
          </p:cNvPr>
          <p:cNvSpPr txBox="1"/>
          <p:nvPr/>
        </p:nvSpPr>
        <p:spPr>
          <a:xfrm>
            <a:off x="482600" y="17526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200" b="1">
                <a:solidFill>
                  <a:srgbClr val="B91C1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现有 </a:t>
            </a:r>
            <a:r>
              <a:rPr lang="en-US" altLang="zh-CN" sz="2200" b="1">
                <a:solidFill>
                  <a:srgbClr val="B91C1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VLM </a:t>
            </a:r>
            <a:r>
              <a:rPr lang="zh-CN" altLang="en-US" sz="2200" b="1">
                <a:solidFill>
                  <a:srgbClr val="B91C1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编辑的缺口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F85F829-BCD9-8963-7052-48010D00022A}"/>
              </a:ext>
            </a:extLst>
          </p:cNvPr>
          <p:cNvSpPr txBox="1"/>
          <p:nvPr/>
        </p:nvSpPr>
        <p:spPr>
          <a:xfrm>
            <a:off x="482600" y="23368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目标答案可以被改对，但关联问答仍沿用旧知识。</a:t>
            </a:r>
          </a:p>
          <a:p>
            <a:pPr>
              <a:spcAft>
                <a:spcPts val="800"/>
              </a:spcAft>
            </a:pP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知识分散在多层跨模态表征中，编辑位置不可直接观察。</a:t>
            </a:r>
          </a:p>
          <a:p>
            <a:pPr>
              <a:spcAft>
                <a:spcPts val="800"/>
              </a:spcAft>
            </a:pP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需要同时回答“改哪里、注入什么、如何验证副作用”。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F06E43A3-FFD0-689E-83C2-2DFF84333014}"/>
              </a:ext>
            </a:extLst>
          </p:cNvPr>
          <p:cNvSpPr/>
          <p:nvPr/>
        </p:nvSpPr>
        <p:spPr>
          <a:xfrm>
            <a:off x="4508500" y="3200400"/>
            <a:ext cx="558800" cy="254000"/>
          </a:xfrm>
          <a:prstGeom prst="rightArrow">
            <a:avLst/>
          </a:prstGeom>
          <a:solidFill>
            <a:srgbClr val="B91C1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2F826F14-BAAB-D10B-6DF1-14AF44962C7C}"/>
              </a:ext>
            </a:extLst>
          </p:cNvPr>
          <p:cNvSpPr/>
          <p:nvPr/>
        </p:nvSpPr>
        <p:spPr>
          <a:xfrm>
            <a:off x="7188200" y="3200400"/>
            <a:ext cx="558800" cy="254000"/>
          </a:xfrm>
          <a:prstGeom prst="rightArrow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DE78C9A9-783D-931D-20F6-8FCB7364E247}"/>
              </a:ext>
            </a:extLst>
          </p:cNvPr>
          <p:cNvSpPr/>
          <p:nvPr/>
        </p:nvSpPr>
        <p:spPr>
          <a:xfrm>
            <a:off x="9804400" y="3200400"/>
            <a:ext cx="558800" cy="254000"/>
          </a:xfrm>
          <a:prstGeom prst="rightArrow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AF0D78B-EA19-3C18-ED90-53098C6663B6}"/>
              </a:ext>
            </a:extLst>
          </p:cNvPr>
          <p:cNvSpPr/>
          <p:nvPr/>
        </p:nvSpPr>
        <p:spPr>
          <a:xfrm>
            <a:off x="5105400" y="2667000"/>
            <a:ext cx="1905000" cy="13208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zh-CN" altLang="en-US" b="1">
                <a:solidFill>
                  <a:srgbClr val="B91C1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旧事实</a:t>
            </a:r>
          </a:p>
          <a:p>
            <a:pPr algn="ctr"/>
            <a:r>
              <a:rPr lang="zh-CN" altLang="en-US" b="1">
                <a:solidFill>
                  <a:srgbClr val="B91C1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詹姆斯 → 湖人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3773B2D-9B79-AB9C-F19B-C0B5BA7E7E13}"/>
              </a:ext>
            </a:extLst>
          </p:cNvPr>
          <p:cNvSpPr/>
          <p:nvPr/>
        </p:nvSpPr>
        <p:spPr>
          <a:xfrm>
            <a:off x="7772400" y="2667000"/>
            <a:ext cx="1905000" cy="13208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zh-CN" altLang="en-US" b="1">
                <a:solidFill>
                  <a:srgbClr val="EA580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目标编辑</a:t>
            </a:r>
          </a:p>
          <a:p>
            <a:pPr algn="ctr"/>
            <a:r>
              <a:rPr lang="zh-CN" altLang="en-US" b="1">
                <a:solidFill>
                  <a:srgbClr val="EA580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球队 → 热火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D96246FD-D384-2E98-6663-8C758A3C9793}"/>
              </a:ext>
            </a:extLst>
          </p:cNvPr>
          <p:cNvSpPr/>
          <p:nvPr/>
        </p:nvSpPr>
        <p:spPr>
          <a:xfrm>
            <a:off x="10388600" y="2667000"/>
            <a:ext cx="1346200" cy="13208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zh-CN" altLang="en-US" sz="16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应同步变化</a:t>
            </a:r>
          </a:p>
          <a:p>
            <a:pPr algn="ctr"/>
            <a:r>
              <a:rPr lang="zh-CN" altLang="en-US" sz="16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工作地点 → 迈阿密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7F085B8-B837-3310-6378-492EC6F43F56}"/>
              </a:ext>
            </a:extLst>
          </p:cNvPr>
          <p:cNvSpPr txBox="1"/>
          <p:nvPr/>
        </p:nvSpPr>
        <p:spPr>
          <a:xfrm>
            <a:off x="4508500" y="4749800"/>
            <a:ext cx="7226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2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核心研究问题：如何在保持局部性的同时，让一次编辑对相关知识产生正确、可解释、可验证的传播？</a:t>
            </a:r>
          </a:p>
        </p:txBody>
      </p:sp>
    </p:spTree>
    <p:extLst>
      <p:ext uri="{BB962C8B-B14F-4D97-AF65-F5344CB8AC3E}">
        <p14:creationId xmlns:p14="http://schemas.microsoft.com/office/powerpoint/2010/main" val="2111766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>
            <a:extLst>
              <a:ext uri="{FF2B5EF4-FFF2-40B4-BE49-F238E27FC236}">
                <a16:creationId xmlns:a16="http://schemas.microsoft.com/office/drawing/2014/main" id="{CB1D36F0-C99C-A6FA-69B5-FD852C771633}"/>
              </a:ext>
            </a:extLst>
          </p:cNvPr>
          <p:cNvSpPr txBox="1"/>
          <p:nvPr/>
        </p:nvSpPr>
        <p:spPr>
          <a:xfrm>
            <a:off x="457200" y="2794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总体方案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CEAD5D83-168A-63C5-851F-FECBB02C7C56}"/>
              </a:ext>
            </a:extLst>
          </p:cNvPr>
          <p:cNvSpPr txBox="1"/>
          <p:nvPr/>
        </p:nvSpPr>
        <p:spPr>
          <a:xfrm>
            <a:off x="457200" y="609600"/>
            <a:ext cx="1130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35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完整任务是一条“定位</a:t>
            </a:r>
            <a:r>
              <a:rPr lang="en-US" altLang="zh-CN" sz="35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r>
              <a:rPr lang="zh-CN" altLang="en-US" sz="35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编辑</a:t>
            </a:r>
            <a:r>
              <a:rPr lang="en-US" altLang="zh-CN" sz="35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r>
              <a:rPr lang="zh-CN" altLang="en-US" sz="35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验证</a:t>
            </a:r>
            <a:r>
              <a:rPr lang="en-US" altLang="zh-CN" sz="35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r>
              <a:rPr lang="zh-CN" altLang="en-US" sz="35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诊断”闭环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9B9BB797-7B5C-7307-4116-4910F6BB0227}"/>
              </a:ext>
            </a:extLst>
          </p:cNvPr>
          <p:cNvCxnSpPr/>
          <p:nvPr/>
        </p:nvCxnSpPr>
        <p:spPr>
          <a:xfrm>
            <a:off x="457200" y="1371600"/>
            <a:ext cx="11277600" cy="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age-number">
            <a:extLst>
              <a:ext uri="{FF2B5EF4-FFF2-40B4-BE49-F238E27FC236}">
                <a16:creationId xmlns:a16="http://schemas.microsoft.com/office/drawing/2014/main" id="{C047E3E3-551A-5373-E8B2-790BD99BE5E7}"/>
              </a:ext>
            </a:extLst>
          </p:cNvPr>
          <p:cNvSpPr txBox="1"/>
          <p:nvPr/>
        </p:nvSpPr>
        <p:spPr>
          <a:xfrm>
            <a:off x="11303000" y="64135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1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lang="zh-CN" altLang="en-US" sz="110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68A712E9-9BA2-A556-308E-AB4A4B470271}"/>
              </a:ext>
            </a:extLst>
          </p:cNvPr>
          <p:cNvSpPr/>
          <p:nvPr/>
        </p:nvSpPr>
        <p:spPr>
          <a:xfrm>
            <a:off x="2108200" y="2971800"/>
            <a:ext cx="254000" cy="228600"/>
          </a:xfrm>
          <a:prstGeom prst="rightArrow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DB4A4A68-D440-29DA-F9F5-6C2218460336}"/>
              </a:ext>
            </a:extLst>
          </p:cNvPr>
          <p:cNvSpPr/>
          <p:nvPr/>
        </p:nvSpPr>
        <p:spPr>
          <a:xfrm>
            <a:off x="3987800" y="2971800"/>
            <a:ext cx="254000" cy="228600"/>
          </a:xfrm>
          <a:prstGeom prst="rightArrow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89BB641D-D247-97C6-0E0F-19737404E782}"/>
              </a:ext>
            </a:extLst>
          </p:cNvPr>
          <p:cNvSpPr/>
          <p:nvPr/>
        </p:nvSpPr>
        <p:spPr>
          <a:xfrm>
            <a:off x="5867400" y="2971800"/>
            <a:ext cx="254000" cy="228600"/>
          </a:xfrm>
          <a:prstGeom prst="rightArrow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2887D7A3-EBA2-DFC7-67EE-C1AEC216325E}"/>
              </a:ext>
            </a:extLst>
          </p:cNvPr>
          <p:cNvSpPr/>
          <p:nvPr/>
        </p:nvSpPr>
        <p:spPr>
          <a:xfrm>
            <a:off x="7747000" y="2971800"/>
            <a:ext cx="254000" cy="228600"/>
          </a:xfrm>
          <a:prstGeom prst="rightArrow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5AECC2E9-A05F-A84D-B674-BD79BA0F35A9}"/>
              </a:ext>
            </a:extLst>
          </p:cNvPr>
          <p:cNvSpPr/>
          <p:nvPr/>
        </p:nvSpPr>
        <p:spPr>
          <a:xfrm>
            <a:off x="9626600" y="2971800"/>
            <a:ext cx="254000" cy="228600"/>
          </a:xfrm>
          <a:prstGeom prst="rightArrow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AE98855-02F8-995F-788C-F0C20F935EEF}"/>
              </a:ext>
            </a:extLst>
          </p:cNvPr>
          <p:cNvSpPr/>
          <p:nvPr/>
        </p:nvSpPr>
        <p:spPr>
          <a:xfrm>
            <a:off x="533400" y="2463800"/>
            <a:ext cx="1574800" cy="12446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 </a:t>
            </a:r>
            <a:r>
              <a:rPr lang="zh-CN" altLang="en-US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层定位</a:t>
            </a:r>
          </a:p>
          <a:p>
            <a:pPr algn="ctr"/>
            <a:r>
              <a:rPr lang="en-US" altLang="zh-CN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 </a:t>
            </a:r>
            <a:r>
              <a:rPr lang="zh-CN" altLang="en-US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种方法输出 </a:t>
            </a:r>
            <a:r>
              <a:rPr lang="en-US" altLang="zh-CN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Top-K</a:t>
            </a:r>
            <a:endParaRPr lang="zh-CN" altLang="en-US" sz="1600" b="1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8090AA9-1280-21F6-FF56-D5D598465E3C}"/>
              </a:ext>
            </a:extLst>
          </p:cNvPr>
          <p:cNvSpPr/>
          <p:nvPr/>
        </p:nvSpPr>
        <p:spPr>
          <a:xfrm>
            <a:off x="2413000" y="2463800"/>
            <a:ext cx="1574800" cy="1244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  </a:t>
            </a:r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真实扫层</a:t>
            </a:r>
          </a:p>
          <a:p>
            <a:pPr algn="ctr"/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同配置训练＋独立评测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22363FC-8F55-793E-69A3-20D2D0BABF2C}"/>
              </a:ext>
            </a:extLst>
          </p:cNvPr>
          <p:cNvSpPr/>
          <p:nvPr/>
        </p:nvSpPr>
        <p:spPr>
          <a:xfrm>
            <a:off x="4292600" y="2463800"/>
            <a:ext cx="1574800" cy="1244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 </a:t>
            </a:r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子图构建</a:t>
            </a:r>
          </a:p>
          <a:p>
            <a:pPr algn="ctr"/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实体链接＋受限扩展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534E06F9-553E-7992-943E-4DB280EE7964}"/>
              </a:ext>
            </a:extLst>
          </p:cNvPr>
          <p:cNvSpPr/>
          <p:nvPr/>
        </p:nvSpPr>
        <p:spPr>
          <a:xfrm>
            <a:off x="6172200" y="2463800"/>
            <a:ext cx="1574800" cy="1244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 </a:t>
            </a:r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子图编码</a:t>
            </a:r>
          </a:p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RGCN </a:t>
            </a:r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聚合关联知识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8A0BD78-CC40-E5E4-CE9C-C3BFCA41C7E9}"/>
              </a:ext>
            </a:extLst>
          </p:cNvPr>
          <p:cNvSpPr/>
          <p:nvPr/>
        </p:nvSpPr>
        <p:spPr>
          <a:xfrm>
            <a:off x="8051800" y="2463800"/>
            <a:ext cx="1574800" cy="1244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  </a:t>
            </a:r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双路注入</a:t>
            </a:r>
          </a:p>
          <a:p>
            <a:pPr algn="ctr"/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目标知识＋相关知识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BE439641-78CD-A8DF-6CCE-B67C8B747D8E}"/>
              </a:ext>
            </a:extLst>
          </p:cNvPr>
          <p:cNvSpPr/>
          <p:nvPr/>
        </p:nvSpPr>
        <p:spPr>
          <a:xfrm>
            <a:off x="9931400" y="2463800"/>
            <a:ext cx="1574800" cy="1244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  </a:t>
            </a:r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可视分析</a:t>
            </a:r>
          </a:p>
          <a:p>
            <a:pPr algn="ctr"/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指标、热图、问答诊断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AE6AB51-044B-AD26-1B7E-127E8CCB296D}"/>
              </a:ext>
            </a:extLst>
          </p:cNvPr>
          <p:cNvSpPr txBox="1"/>
          <p:nvPr/>
        </p:nvSpPr>
        <p:spPr>
          <a:xfrm>
            <a:off x="533400" y="44196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4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定位是第一步，不是最终贡献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97E441C-5F6A-3F75-2575-F07C834A3A69}"/>
              </a:ext>
            </a:extLst>
          </p:cNvPr>
          <p:cNvSpPr txBox="1"/>
          <p:nvPr/>
        </p:nvSpPr>
        <p:spPr>
          <a:xfrm>
            <a:off x="533400" y="50292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9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Top-K </a:t>
            </a:r>
            <a:r>
              <a:rPr lang="zh-CN" altLang="en-US" sz="19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只回答“值得在哪里训练”；论文最终要证明的是：在选定层注入结构化关联知识后，可靠性、泛化性与局部性形成更优平衡。</a:t>
            </a:r>
          </a:p>
        </p:txBody>
      </p:sp>
    </p:spTree>
    <p:extLst>
      <p:ext uri="{BB962C8B-B14F-4D97-AF65-F5344CB8AC3E}">
        <p14:creationId xmlns:p14="http://schemas.microsoft.com/office/powerpoint/2010/main" val="2521977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>
            <a:extLst>
              <a:ext uri="{FF2B5EF4-FFF2-40B4-BE49-F238E27FC236}">
                <a16:creationId xmlns:a16="http://schemas.microsoft.com/office/drawing/2014/main" id="{A7DAC991-703B-4F2D-8B9E-6A0306BF1585}"/>
              </a:ext>
            </a:extLst>
          </p:cNvPr>
          <p:cNvSpPr txBox="1"/>
          <p:nvPr/>
        </p:nvSpPr>
        <p:spPr>
          <a:xfrm>
            <a:off x="457200" y="2794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实验设计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7E369E8B-3048-8F7A-5ACC-F3E64D9FC0C1}"/>
              </a:ext>
            </a:extLst>
          </p:cNvPr>
          <p:cNvSpPr txBox="1"/>
          <p:nvPr/>
        </p:nvSpPr>
        <p:spPr>
          <a:xfrm>
            <a:off x="457200" y="609600"/>
            <a:ext cx="1130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35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统一实验协议把“候选层好不好”变成可比较证据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7566098D-A45C-5B56-6EE0-9630D1B0B310}"/>
              </a:ext>
            </a:extLst>
          </p:cNvPr>
          <p:cNvCxnSpPr/>
          <p:nvPr/>
        </p:nvCxnSpPr>
        <p:spPr>
          <a:xfrm>
            <a:off x="457200" y="1371600"/>
            <a:ext cx="11277600" cy="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age-number">
            <a:extLst>
              <a:ext uri="{FF2B5EF4-FFF2-40B4-BE49-F238E27FC236}">
                <a16:creationId xmlns:a16="http://schemas.microsoft.com/office/drawing/2014/main" id="{3AE25C59-7AF3-7337-912C-EAA228171BF4}"/>
              </a:ext>
            </a:extLst>
          </p:cNvPr>
          <p:cNvSpPr txBox="1"/>
          <p:nvPr/>
        </p:nvSpPr>
        <p:spPr>
          <a:xfrm>
            <a:off x="11303000" y="64135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1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</a:t>
            </a:r>
            <a:endParaRPr lang="zh-CN" altLang="en-US" sz="110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E799CADA-2A86-2C4B-2D7A-7252BC7962E3}"/>
              </a:ext>
            </a:extLst>
          </p:cNvPr>
          <p:cNvCxnSpPr/>
          <p:nvPr/>
        </p:nvCxnSpPr>
        <p:spPr>
          <a:xfrm>
            <a:off x="4178300" y="1879600"/>
            <a:ext cx="0" cy="388620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A7B634B-26CA-355F-D0C9-EC449D13F84D}"/>
              </a:ext>
            </a:extLst>
          </p:cNvPr>
          <p:cNvCxnSpPr/>
          <p:nvPr/>
        </p:nvCxnSpPr>
        <p:spPr>
          <a:xfrm>
            <a:off x="8051800" y="1879600"/>
            <a:ext cx="0" cy="388620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66F93124-E950-CB72-BFA7-FD12F2B8A7C8}"/>
              </a:ext>
            </a:extLst>
          </p:cNvPr>
          <p:cNvSpPr txBox="1"/>
          <p:nvPr/>
        </p:nvSpPr>
        <p:spPr>
          <a:xfrm>
            <a:off x="533400" y="18034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2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lang="zh-CN" altLang="en-US" sz="22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个数据集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D110656-2F7D-3A38-B4F4-917FA211717A}"/>
              </a:ext>
            </a:extLst>
          </p:cNvPr>
          <p:cNvSpPr txBox="1"/>
          <p:nvPr/>
        </p:nvSpPr>
        <p:spPr>
          <a:xfrm>
            <a:off x="533400" y="23876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zh-CN" sz="17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EVQA-pilot500</a:t>
            </a:r>
            <a:r>
              <a:rPr lang="zh-CN" altLang="en-US" sz="17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：编辑可靠性、泛化性、局部性</a:t>
            </a:r>
          </a:p>
          <a:p>
            <a:pPr>
              <a:spcAft>
                <a:spcPts val="800"/>
              </a:spcAft>
            </a:pPr>
            <a:r>
              <a:rPr lang="en-US" altLang="zh-CN" sz="17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MMKE-visual</a:t>
            </a:r>
            <a:r>
              <a:rPr lang="zh-CN" altLang="en-US" sz="17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：视觉知识编辑</a:t>
            </a:r>
          </a:p>
          <a:p>
            <a:pPr>
              <a:spcAft>
                <a:spcPts val="800"/>
              </a:spcAft>
            </a:pPr>
            <a:r>
              <a:rPr lang="en-US" altLang="zh-CN" sz="17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MMKE-entity</a:t>
            </a:r>
            <a:r>
              <a:rPr lang="zh-CN" altLang="en-US" sz="17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：实体知识编辑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40D6122-0682-9D4E-8A04-81A1B0090A6E}"/>
              </a:ext>
            </a:extLst>
          </p:cNvPr>
          <p:cNvSpPr txBox="1"/>
          <p:nvPr/>
        </p:nvSpPr>
        <p:spPr>
          <a:xfrm>
            <a:off x="4445000" y="18034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200" b="1">
                <a:solidFill>
                  <a:srgbClr val="0F76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 </a:t>
            </a:r>
            <a:r>
              <a:rPr lang="zh-CN" altLang="en-US" sz="2200" b="1">
                <a:solidFill>
                  <a:srgbClr val="0F76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个模型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1130DB7-20BD-97B2-9E67-65A8E871E419}"/>
              </a:ext>
            </a:extLst>
          </p:cNvPr>
          <p:cNvSpPr txBox="1"/>
          <p:nvPr/>
        </p:nvSpPr>
        <p:spPr>
          <a:xfrm>
            <a:off x="4445000" y="23876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zh-CN" sz="17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BLIP2</a:t>
            </a:r>
            <a:r>
              <a:rPr lang="zh-CN" altLang="en-US" sz="17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7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InstructBLIP</a:t>
            </a:r>
          </a:p>
          <a:p>
            <a:pPr>
              <a:spcAft>
                <a:spcPts val="800"/>
              </a:spcAft>
            </a:pPr>
            <a:r>
              <a:rPr lang="en-US" altLang="zh-CN" sz="17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MiniGPT-4</a:t>
            </a:r>
            <a:r>
              <a:rPr lang="zh-CN" altLang="en-US" sz="17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7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LLaVA</a:t>
            </a:r>
          </a:p>
          <a:p>
            <a:pPr>
              <a:spcAft>
                <a:spcPts val="800"/>
              </a:spcAft>
            </a:pPr>
            <a:r>
              <a:rPr lang="en-US" altLang="zh-CN" sz="17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PaliGemma</a:t>
            </a:r>
            <a:r>
              <a:rPr lang="zh-CN" altLang="en-US" sz="17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7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SmolVLM</a:t>
            </a:r>
          </a:p>
          <a:p>
            <a:pPr>
              <a:spcAft>
                <a:spcPts val="800"/>
              </a:spcAft>
            </a:pPr>
            <a:r>
              <a:rPr lang="en-US" altLang="zh-CN" sz="17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Qwen2.5-VL</a:t>
            </a:r>
            <a:endParaRPr lang="zh-CN" altLang="en-US" sz="17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60A93A6-C632-9321-21D8-AAC531849676}"/>
              </a:ext>
            </a:extLst>
          </p:cNvPr>
          <p:cNvSpPr txBox="1"/>
          <p:nvPr/>
        </p:nvSpPr>
        <p:spPr>
          <a:xfrm>
            <a:off x="8331200" y="18034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200" b="1">
                <a:solidFill>
                  <a:srgbClr val="EA580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一套验收标准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82D24F7-0E55-F9DF-D03D-C0A2490509CD}"/>
              </a:ext>
            </a:extLst>
          </p:cNvPr>
          <p:cNvSpPr txBox="1"/>
          <p:nvPr/>
        </p:nvSpPr>
        <p:spPr>
          <a:xfrm>
            <a:off x="8331200" y="23876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zh-CN" sz="17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7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候选并集逐层训练 </a:t>
            </a:r>
            <a:r>
              <a:rPr lang="en-US" altLang="zh-CN" sz="17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 epoch</a:t>
            </a:r>
          </a:p>
          <a:p>
            <a:pPr>
              <a:spcAft>
                <a:spcPts val="800"/>
              </a:spcAft>
            </a:pPr>
            <a:r>
              <a:rPr lang="en-US" altLang="zh-CN" sz="17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7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按最小 </a:t>
            </a:r>
            <a:r>
              <a:rPr lang="en-US" altLang="zh-CN" sz="17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EMA loss </a:t>
            </a:r>
            <a:r>
              <a:rPr lang="zh-CN" altLang="en-US" sz="17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选 </a:t>
            </a:r>
            <a:r>
              <a:rPr lang="en-US" altLang="zh-CN" sz="17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checkpoint</a:t>
            </a:r>
          </a:p>
          <a:p>
            <a:pPr>
              <a:spcAft>
                <a:spcPts val="800"/>
              </a:spcAft>
            </a:pPr>
            <a:r>
              <a:rPr lang="en-US" altLang="zh-CN" sz="17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7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只用对应 </a:t>
            </a:r>
            <a:r>
              <a:rPr lang="en-US" altLang="zh-CN" sz="17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test/eval </a:t>
            </a:r>
            <a:r>
              <a:rPr lang="zh-CN" altLang="en-US" sz="17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数据评测</a:t>
            </a:r>
          </a:p>
          <a:p>
            <a:pPr>
              <a:spcAft>
                <a:spcPts val="800"/>
              </a:spcAft>
            </a:pPr>
            <a:r>
              <a:rPr lang="en-US" altLang="zh-CN" sz="17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7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双标记：</a:t>
            </a:r>
            <a:r>
              <a:rPr lang="en-US" altLang="zh-CN" sz="17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selected_checkpoint.tsv + eval_full.done</a:t>
            </a:r>
          </a:p>
          <a:p>
            <a:pPr>
              <a:spcAft>
                <a:spcPts val="800"/>
              </a:spcAft>
            </a:pPr>
            <a:r>
              <a:rPr lang="en-US" altLang="zh-CN" sz="17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7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比较 </a:t>
            </a:r>
            <a:r>
              <a:rPr lang="en-US" altLang="zh-CN" sz="17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Best@K</a:t>
            </a:r>
            <a:r>
              <a:rPr lang="zh-CN" altLang="en-US" sz="17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7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Mean@K</a:t>
            </a:r>
            <a:r>
              <a:rPr lang="zh-CN" altLang="en-US" sz="17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7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Regret@K</a:t>
            </a:r>
            <a:r>
              <a:rPr lang="zh-CN" altLang="en-US" sz="17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、相关性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1C3E05B-9710-B6D3-D782-8F1D8BEE286B}"/>
              </a:ext>
            </a:extLst>
          </p:cNvPr>
          <p:cNvSpPr txBox="1"/>
          <p:nvPr/>
        </p:nvSpPr>
        <p:spPr>
          <a:xfrm>
            <a:off x="533400" y="59182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可比性的关键：同一数据、同一训练配置、同一评测口径；定位方法只改变候选层排序。</a:t>
            </a:r>
          </a:p>
        </p:txBody>
      </p:sp>
    </p:spTree>
    <p:extLst>
      <p:ext uri="{BB962C8B-B14F-4D97-AF65-F5344CB8AC3E}">
        <p14:creationId xmlns:p14="http://schemas.microsoft.com/office/powerpoint/2010/main" val="643824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>
            <a:extLst>
              <a:ext uri="{FF2B5EF4-FFF2-40B4-BE49-F238E27FC236}">
                <a16:creationId xmlns:a16="http://schemas.microsoft.com/office/drawing/2014/main" id="{BD4AFB13-8DD1-0D71-32E6-D3B28C2A4AF3}"/>
              </a:ext>
            </a:extLst>
          </p:cNvPr>
          <p:cNvSpPr txBox="1"/>
          <p:nvPr/>
        </p:nvSpPr>
        <p:spPr>
          <a:xfrm>
            <a:off x="457200" y="2794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定位方法全景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3DCBC603-DEE9-70AC-CADA-36A0E65A2286}"/>
              </a:ext>
            </a:extLst>
          </p:cNvPr>
          <p:cNvSpPr txBox="1"/>
          <p:nvPr/>
        </p:nvSpPr>
        <p:spPr>
          <a:xfrm>
            <a:off x="457200" y="609600"/>
            <a:ext cx="1130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5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 </a:t>
            </a:r>
            <a:r>
              <a:rPr lang="zh-CN" altLang="en-US" sz="35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种方法从“结构先验”走向“视觉梯度与因果证据”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2E1BC795-A9A1-1FFB-5672-2E32677E10C2}"/>
              </a:ext>
            </a:extLst>
          </p:cNvPr>
          <p:cNvCxnSpPr/>
          <p:nvPr/>
        </p:nvCxnSpPr>
        <p:spPr>
          <a:xfrm>
            <a:off x="457200" y="1371600"/>
            <a:ext cx="11277600" cy="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age-number">
            <a:extLst>
              <a:ext uri="{FF2B5EF4-FFF2-40B4-BE49-F238E27FC236}">
                <a16:creationId xmlns:a16="http://schemas.microsoft.com/office/drawing/2014/main" id="{6F8D396F-7018-D495-1F0A-48A488ECA19D}"/>
              </a:ext>
            </a:extLst>
          </p:cNvPr>
          <p:cNvSpPr txBox="1"/>
          <p:nvPr/>
        </p:nvSpPr>
        <p:spPr>
          <a:xfrm>
            <a:off x="11303000" y="64135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1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05</a:t>
            </a:r>
            <a:endParaRPr lang="zh-CN" altLang="en-US" sz="110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DD183435-453C-AAAF-9542-3A7F9ED1C5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9299317"/>
              </p:ext>
            </p:extLst>
          </p:nvPr>
        </p:nvGraphicFramePr>
        <p:xfrm>
          <a:off x="533400" y="1803400"/>
          <a:ext cx="11125200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1300">
                  <a:extLst>
                    <a:ext uri="{9D8B030D-6E8A-4147-A177-3AD203B41FA5}">
                      <a16:colId xmlns:a16="http://schemas.microsoft.com/office/drawing/2014/main" val="3288643074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374220044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210970235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3027242326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88900" marR="889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定位信号</a:t>
                      </a:r>
                    </a:p>
                  </a:txBody>
                  <a:tcPr marL="88900" marR="889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候选规则</a:t>
                      </a:r>
                    </a:p>
                  </a:txBody>
                  <a:tcPr marL="88900" marR="889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插入位置</a:t>
                      </a:r>
                    </a:p>
                  </a:txBody>
                  <a:tcPr marL="88900" marR="88900"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5574822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r>
                        <a:rPr lang="en-US" altLang="zh-CN" sz="160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Middle</a:t>
                      </a:r>
                      <a:endParaRPr lang="zh-CN" altLang="en-US" sz="160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网络深度</a:t>
                      </a:r>
                    </a:p>
                  </a:txBody>
                  <a:tcPr marL="88900" marR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距中点最近</a:t>
                      </a:r>
                    </a:p>
                  </a:txBody>
                  <a:tcPr marL="88900" marR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Direct</a:t>
                      </a:r>
                      <a:endParaRPr lang="zh-CN" altLang="en-US" sz="160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145903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r>
                        <a:rPr lang="en-US" altLang="zh-CN" sz="160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VisEdit</a:t>
                      </a:r>
                      <a:endParaRPr lang="zh-CN" altLang="en-US" sz="160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关键 </a:t>
                      </a:r>
                      <a:r>
                        <a:rPr lang="en-US" altLang="zh-CN" sz="160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token </a:t>
                      </a:r>
                      <a:r>
                        <a:rPr lang="zh-CN" altLang="en-US" sz="160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贡献</a:t>
                      </a:r>
                    </a:p>
                  </a:txBody>
                  <a:tcPr marL="88900" marR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高贡献区之前</a:t>
                      </a:r>
                    </a:p>
                  </a:txBody>
                  <a:tcPr marL="88900" marR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Pre</a:t>
                      </a:r>
                      <a:endParaRPr lang="zh-CN" altLang="en-US" sz="160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286603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r>
                        <a:rPr lang="en-US" altLang="zh-CN" sz="160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SaLEM</a:t>
                      </a:r>
                      <a:endParaRPr lang="zh-CN" altLang="en-US" sz="160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MLP </a:t>
                      </a:r>
                      <a:r>
                        <a:rPr lang="zh-CN" altLang="en-US" sz="160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参数绝对梯度</a:t>
                      </a:r>
                    </a:p>
                  </a:txBody>
                  <a:tcPr marL="88900" marR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显著性最高</a:t>
                      </a:r>
                    </a:p>
                  </a:txBody>
                  <a:tcPr marL="88900" marR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Direct</a:t>
                      </a:r>
                      <a:endParaRPr lang="zh-CN" altLang="en-US" sz="160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7547401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r>
                        <a:rPr lang="en-US" altLang="zh-CN" sz="160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LGA</a:t>
                      </a:r>
                      <a:endParaRPr lang="zh-CN" altLang="en-US" sz="160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新旧参数梯度内积</a:t>
                      </a:r>
                    </a:p>
                  </a:txBody>
                  <a:tcPr marL="88900" marR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协同更新最强</a:t>
                      </a:r>
                    </a:p>
                  </a:txBody>
                  <a:tcPr marL="88900" marR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Direct</a:t>
                      </a:r>
                      <a:endParaRPr lang="zh-CN" altLang="en-US" sz="160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073554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r>
                        <a:rPr lang="en-US" altLang="zh-CN" sz="160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Perturb-KL</a:t>
                      </a:r>
                      <a:endParaRPr lang="zh-CN" altLang="en-US" sz="160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视觉 </a:t>
                      </a:r>
                      <a:r>
                        <a:rPr lang="en-US" altLang="zh-CN" sz="160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token </a:t>
                      </a:r>
                      <a:r>
                        <a:rPr lang="zh-CN" altLang="en-US" sz="160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扰动</a:t>
                      </a:r>
                    </a:p>
                  </a:txBody>
                  <a:tcPr marL="88900" marR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KL </a:t>
                      </a:r>
                      <a:r>
                        <a:rPr lang="zh-CN" altLang="en-US" sz="160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最敏感</a:t>
                      </a:r>
                    </a:p>
                  </a:txBody>
                  <a:tcPr marL="88900" marR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Direct</a:t>
                      </a:r>
                      <a:endParaRPr lang="zh-CN" altLang="en-US" sz="160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45551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r>
                        <a:rPr lang="en-US" altLang="zh-CN" sz="160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CMA</a:t>
                      </a:r>
                      <a:endParaRPr lang="zh-CN" altLang="en-US" sz="160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污染</a:t>
                      </a:r>
                      <a:r>
                        <a:rPr lang="en-US" altLang="zh-CN" sz="160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—</a:t>
                      </a:r>
                      <a:r>
                        <a:rPr lang="zh-CN" altLang="en-US" sz="160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恢复</a:t>
                      </a:r>
                    </a:p>
                  </a:txBody>
                  <a:tcPr marL="88900" marR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因果恢复最高</a:t>
                      </a:r>
                    </a:p>
                  </a:txBody>
                  <a:tcPr marL="88900" marR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Direct</a:t>
                      </a:r>
                      <a:endParaRPr lang="zh-CN" altLang="en-US" sz="160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9235882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r>
                        <a:rPr lang="en-US" altLang="zh-CN" sz="160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Ours</a:t>
                      </a:r>
                      <a:endParaRPr lang="zh-CN" altLang="en-US" sz="160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新旧视觉梯度关系</a:t>
                      </a:r>
                    </a:p>
                  </a:txBody>
                  <a:tcPr marL="88900" marR="8890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 </a:t>
                      </a:r>
                      <a:r>
                        <a:rPr lang="zh-CN" altLang="en-US" sz="160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公式排序</a:t>
                      </a:r>
                    </a:p>
                  </a:txBody>
                  <a:tcPr marL="88900" marR="8890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Direct</a:t>
                      </a:r>
                      <a:endParaRPr lang="zh-CN" altLang="en-US" sz="160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334949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8C36B135-66C5-9062-1FE9-2A97BA372FA5}"/>
              </a:ext>
            </a:extLst>
          </p:cNvPr>
          <p:cNvSpPr txBox="1"/>
          <p:nvPr/>
        </p:nvSpPr>
        <p:spPr>
          <a:xfrm>
            <a:off x="533400" y="5969000"/>
            <a:ext cx="1112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注：</a:t>
            </a:r>
            <a:r>
              <a:rPr lang="en-US" altLang="zh-CN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Perturb-KL-Pre-AltSeq </a:t>
            </a:r>
            <a:r>
              <a:rPr lang="zh-CN" altLang="en-US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仅作为前置插入消融，不计入 </a:t>
            </a:r>
            <a:r>
              <a:rPr lang="en-US" altLang="zh-CN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 </a:t>
            </a:r>
            <a:r>
              <a:rPr lang="zh-CN" altLang="en-US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个正式策略。</a:t>
            </a:r>
          </a:p>
        </p:txBody>
      </p:sp>
    </p:spTree>
    <p:extLst>
      <p:ext uri="{BB962C8B-B14F-4D97-AF65-F5344CB8AC3E}">
        <p14:creationId xmlns:p14="http://schemas.microsoft.com/office/powerpoint/2010/main" val="3909731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>
            <a:extLst>
              <a:ext uri="{FF2B5EF4-FFF2-40B4-BE49-F238E27FC236}">
                <a16:creationId xmlns:a16="http://schemas.microsoft.com/office/drawing/2014/main" id="{4A729145-5BF3-CBF4-EE82-13F364B2BF74}"/>
              </a:ext>
            </a:extLst>
          </p:cNvPr>
          <p:cNvSpPr txBox="1"/>
          <p:nvPr/>
        </p:nvSpPr>
        <p:spPr>
          <a:xfrm>
            <a:off x="457200" y="2794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STEP 1 · </a:t>
            </a:r>
            <a:r>
              <a:rPr lang="zh-CN" altLang="en-US" sz="12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层定位方法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7ADFA3CC-A5AB-06CE-0A4F-58F9247C6F60}"/>
              </a:ext>
            </a:extLst>
          </p:cNvPr>
          <p:cNvSpPr txBox="1"/>
          <p:nvPr/>
        </p:nvSpPr>
        <p:spPr>
          <a:xfrm>
            <a:off x="457200" y="609600"/>
            <a:ext cx="1130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5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Middle</a:t>
            </a:r>
            <a:r>
              <a:rPr lang="zh-CN" altLang="en-US" sz="35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：用网络中点作为零成本结构先验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CCEC02A5-4914-8FE2-3D4C-695DBE033DC3}"/>
              </a:ext>
            </a:extLst>
          </p:cNvPr>
          <p:cNvCxnSpPr/>
          <p:nvPr/>
        </p:nvCxnSpPr>
        <p:spPr>
          <a:xfrm>
            <a:off x="457200" y="1371600"/>
            <a:ext cx="11277600" cy="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age-number">
            <a:extLst>
              <a:ext uri="{FF2B5EF4-FFF2-40B4-BE49-F238E27FC236}">
                <a16:creationId xmlns:a16="http://schemas.microsoft.com/office/drawing/2014/main" id="{C9E18587-4B45-3137-3100-E382D1DC6F6A}"/>
              </a:ext>
            </a:extLst>
          </p:cNvPr>
          <p:cNvSpPr txBox="1"/>
          <p:nvPr/>
        </p:nvSpPr>
        <p:spPr>
          <a:xfrm>
            <a:off x="11303000" y="64135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1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06</a:t>
            </a:r>
            <a:endParaRPr lang="zh-CN" altLang="en-US" sz="110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3C56619-830D-9FA5-7514-EB2B8B3C8385}"/>
              </a:ext>
            </a:extLst>
          </p:cNvPr>
          <p:cNvSpPr txBox="1"/>
          <p:nvPr/>
        </p:nvSpPr>
        <p:spPr>
          <a:xfrm>
            <a:off x="482600" y="16764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9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Middle-Prior-Direct</a:t>
            </a:r>
            <a:endParaRPr lang="zh-CN" altLang="en-US" sz="1900" b="1">
              <a:solidFill>
                <a:srgbClr val="2563E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B247E5A-03BF-45AC-D201-01732F52F957}"/>
              </a:ext>
            </a:extLst>
          </p:cNvPr>
          <p:cNvSpPr txBox="1"/>
          <p:nvPr/>
        </p:nvSpPr>
        <p:spPr>
          <a:xfrm>
            <a:off x="482600" y="22098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不依赖数据与梯度，适合作为最低成本基线。</a:t>
            </a:r>
          </a:p>
          <a:p>
            <a:pPr>
              <a:spcAft>
                <a:spcPts val="800"/>
              </a:spcAft>
            </a:pP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严格中点 </a:t>
            </a: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ρ=0.5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，按到中点的距离排序。</a:t>
            </a:r>
          </a:p>
          <a:p>
            <a:pPr>
              <a:spcAft>
                <a:spcPts val="800"/>
              </a:spcAft>
            </a:pP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候选层直接挂载 </a:t>
            </a: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adapter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，不做层位偏移。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7C27D857-739B-BC53-DE61-44407D324293}"/>
              </a:ext>
            </a:extLst>
          </p:cNvPr>
          <p:cNvSpPr/>
          <p:nvPr/>
        </p:nvSpPr>
        <p:spPr>
          <a:xfrm>
            <a:off x="6426200" y="2527300"/>
            <a:ext cx="228600" cy="228600"/>
          </a:xfrm>
          <a:prstGeom prst="rightArrow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8A5277E8-A7A8-AEE6-3AF8-CB1B7C6D3B3E}"/>
              </a:ext>
            </a:extLst>
          </p:cNvPr>
          <p:cNvSpPr/>
          <p:nvPr/>
        </p:nvSpPr>
        <p:spPr>
          <a:xfrm>
            <a:off x="8280400" y="2527300"/>
            <a:ext cx="228600" cy="228600"/>
          </a:xfrm>
          <a:prstGeom prst="rightArrow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BC609D55-F8F8-166A-2B33-1372785E051D}"/>
              </a:ext>
            </a:extLst>
          </p:cNvPr>
          <p:cNvSpPr/>
          <p:nvPr/>
        </p:nvSpPr>
        <p:spPr>
          <a:xfrm>
            <a:off x="10134600" y="2527300"/>
            <a:ext cx="228600" cy="228600"/>
          </a:xfrm>
          <a:prstGeom prst="rightArrow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flow-node-0">
            <a:extLst>
              <a:ext uri="{FF2B5EF4-FFF2-40B4-BE49-F238E27FC236}">
                <a16:creationId xmlns:a16="http://schemas.microsoft.com/office/drawing/2014/main" id="{1358913D-4491-D249-B3B1-FFF25AE57364}"/>
              </a:ext>
            </a:extLst>
          </p:cNvPr>
          <p:cNvSpPr/>
          <p:nvPr/>
        </p:nvSpPr>
        <p:spPr>
          <a:xfrm>
            <a:off x="4826000" y="2095500"/>
            <a:ext cx="1574800" cy="10922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读取层数 </a:t>
            </a:r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flow-node-1">
            <a:extLst>
              <a:ext uri="{FF2B5EF4-FFF2-40B4-BE49-F238E27FC236}">
                <a16:creationId xmlns:a16="http://schemas.microsoft.com/office/drawing/2014/main" id="{22682847-0E2D-C9A3-0A56-3F63EEAB2762}"/>
              </a:ext>
            </a:extLst>
          </p:cNvPr>
          <p:cNvSpPr/>
          <p:nvPr/>
        </p:nvSpPr>
        <p:spPr>
          <a:xfrm>
            <a:off x="6680200" y="2095500"/>
            <a:ext cx="1574800" cy="10922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计算网络中点</a:t>
            </a:r>
          </a:p>
        </p:txBody>
      </p:sp>
      <p:sp>
        <p:nvSpPr>
          <p:cNvPr id="13" name="flow-node-2">
            <a:extLst>
              <a:ext uri="{FF2B5EF4-FFF2-40B4-BE49-F238E27FC236}">
                <a16:creationId xmlns:a16="http://schemas.microsoft.com/office/drawing/2014/main" id="{8EBA778C-097F-3037-EE4E-AC42800FC167}"/>
              </a:ext>
            </a:extLst>
          </p:cNvPr>
          <p:cNvSpPr/>
          <p:nvPr/>
        </p:nvSpPr>
        <p:spPr>
          <a:xfrm>
            <a:off x="8534400" y="2095500"/>
            <a:ext cx="1574800" cy="10922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按距离排序</a:t>
            </a:r>
          </a:p>
        </p:txBody>
      </p:sp>
      <p:sp>
        <p:nvSpPr>
          <p:cNvPr id="14" name="flow-node-3">
            <a:extLst>
              <a:ext uri="{FF2B5EF4-FFF2-40B4-BE49-F238E27FC236}">
                <a16:creationId xmlns:a16="http://schemas.microsoft.com/office/drawing/2014/main" id="{22AC1346-036F-93C4-5AEE-B98BC79CFF95}"/>
              </a:ext>
            </a:extLst>
          </p:cNvPr>
          <p:cNvSpPr/>
          <p:nvPr/>
        </p:nvSpPr>
        <p:spPr>
          <a:xfrm>
            <a:off x="10388600" y="2095500"/>
            <a:ext cx="1574800" cy="10922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zh-CN" altLang="en-US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输出 </a:t>
            </a:r>
            <a:r>
              <a:rPr lang="en-US" altLang="zh-CN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Direct Top-K</a:t>
            </a:r>
            <a:endParaRPr lang="zh-CN" altLang="en-US" sz="1600" b="1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DAB9647-4738-2E78-21A4-885618DD55D6}"/>
              </a:ext>
            </a:extLst>
          </p:cNvPr>
          <p:cNvSpPr txBox="1"/>
          <p:nvPr/>
        </p:nvSpPr>
        <p:spPr>
          <a:xfrm>
            <a:off x="4826000" y="36322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统一案例：</a:t>
            </a:r>
            <a:r>
              <a:rPr lang="en-US" altLang="zh-CN" sz="1600" b="1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MMKE-visual × Qwen2.5-VL-3B</a:t>
            </a:r>
            <a:endParaRPr lang="zh-CN" altLang="en-US" sz="1600" b="1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result-top3">
            <a:extLst>
              <a:ext uri="{FF2B5EF4-FFF2-40B4-BE49-F238E27FC236}">
                <a16:creationId xmlns:a16="http://schemas.microsoft.com/office/drawing/2014/main" id="{4D84547A-37B6-B792-FD71-71273C6A7AB8}"/>
              </a:ext>
            </a:extLst>
          </p:cNvPr>
          <p:cNvSpPr/>
          <p:nvPr/>
        </p:nvSpPr>
        <p:spPr>
          <a:xfrm>
            <a:off x="4826000" y="4089400"/>
            <a:ext cx="3111500" cy="7366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20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Top-3</a:t>
            </a:r>
            <a:r>
              <a:rPr lang="zh-CN" altLang="en-US" sz="20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20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L17, L18, L16</a:t>
            </a:r>
            <a:endParaRPr lang="zh-CN" altLang="en-US" sz="2000" b="1">
              <a:solidFill>
                <a:srgbClr val="2563E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result-performance">
            <a:extLst>
              <a:ext uri="{FF2B5EF4-FFF2-40B4-BE49-F238E27FC236}">
                <a16:creationId xmlns:a16="http://schemas.microsoft.com/office/drawing/2014/main" id="{60D67C78-47A9-DDF5-2079-024C2019119A}"/>
              </a:ext>
            </a:extLst>
          </p:cNvPr>
          <p:cNvSpPr/>
          <p:nvPr/>
        </p:nvSpPr>
        <p:spPr>
          <a:xfrm>
            <a:off x="8191500" y="4089400"/>
            <a:ext cx="3111500" cy="736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7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Best@3 70.65  |  Mean@3 70.02</a:t>
            </a:r>
            <a:endParaRPr lang="zh-CN" altLang="en-US" sz="1700" b="1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FEE4A0F-F3C0-5FD8-9C92-2FF20BA4A790}"/>
              </a:ext>
            </a:extLst>
          </p:cNvPr>
          <p:cNvSpPr txBox="1"/>
          <p:nvPr/>
        </p:nvSpPr>
        <p:spPr>
          <a:xfrm>
            <a:off x="4826000" y="5080000"/>
            <a:ext cx="647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解释边界：它检验“中层先验”是否已足够，不能反映样本级编辑信号。</a:t>
            </a:r>
          </a:p>
        </p:txBody>
      </p:sp>
    </p:spTree>
    <p:extLst>
      <p:ext uri="{BB962C8B-B14F-4D97-AF65-F5344CB8AC3E}">
        <p14:creationId xmlns:p14="http://schemas.microsoft.com/office/powerpoint/2010/main" val="2692621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>
            <a:extLst>
              <a:ext uri="{FF2B5EF4-FFF2-40B4-BE49-F238E27FC236}">
                <a16:creationId xmlns:a16="http://schemas.microsoft.com/office/drawing/2014/main" id="{8CFCA3D0-2080-63D3-4E3F-13BEE201CEEB}"/>
              </a:ext>
            </a:extLst>
          </p:cNvPr>
          <p:cNvSpPr txBox="1"/>
          <p:nvPr/>
        </p:nvSpPr>
        <p:spPr>
          <a:xfrm>
            <a:off x="457200" y="2794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STEP 1 · </a:t>
            </a:r>
            <a:r>
              <a:rPr lang="zh-CN" altLang="en-US" sz="12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层定位方法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C6A0B5D1-0E4C-EA1E-95C4-AFE0E8861894}"/>
              </a:ext>
            </a:extLst>
          </p:cNvPr>
          <p:cNvSpPr txBox="1"/>
          <p:nvPr/>
        </p:nvSpPr>
        <p:spPr>
          <a:xfrm>
            <a:off x="457200" y="609600"/>
            <a:ext cx="1130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5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VisEdit</a:t>
            </a:r>
            <a:r>
              <a:rPr lang="zh-CN" altLang="en-US" sz="35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：高贡献区之前更适合注入视觉编辑信号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06B18F3E-8DA7-D44A-9435-ACEF060A27F2}"/>
              </a:ext>
            </a:extLst>
          </p:cNvPr>
          <p:cNvCxnSpPr/>
          <p:nvPr/>
        </p:nvCxnSpPr>
        <p:spPr>
          <a:xfrm>
            <a:off x="457200" y="1371600"/>
            <a:ext cx="11277600" cy="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age-number">
            <a:extLst>
              <a:ext uri="{FF2B5EF4-FFF2-40B4-BE49-F238E27FC236}">
                <a16:creationId xmlns:a16="http://schemas.microsoft.com/office/drawing/2014/main" id="{DA6663FE-74FE-21D2-2576-DB846640ECF5}"/>
              </a:ext>
            </a:extLst>
          </p:cNvPr>
          <p:cNvSpPr txBox="1"/>
          <p:nvPr/>
        </p:nvSpPr>
        <p:spPr>
          <a:xfrm>
            <a:off x="11303000" y="64135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1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07</a:t>
            </a:r>
            <a:endParaRPr lang="zh-CN" altLang="en-US" sz="110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2E9A897-42DB-B410-F4A0-0C4CBCC2055F}"/>
              </a:ext>
            </a:extLst>
          </p:cNvPr>
          <p:cNvSpPr txBox="1"/>
          <p:nvPr/>
        </p:nvSpPr>
        <p:spPr>
          <a:xfrm>
            <a:off x="482600" y="16764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900" b="1">
                <a:solidFill>
                  <a:srgbClr val="7C3AE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VisEdit-Contrib-Pre-KeyToken</a:t>
            </a:r>
            <a:endParaRPr lang="zh-CN" altLang="en-US" sz="1900" b="1">
              <a:solidFill>
                <a:srgbClr val="7C3AE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ADD87B8-4D14-6542-F4BB-45FBEAC89D87}"/>
              </a:ext>
            </a:extLst>
          </p:cNvPr>
          <p:cNvSpPr txBox="1"/>
          <p:nvPr/>
        </p:nvSpPr>
        <p:spPr>
          <a:xfrm>
            <a:off x="482600" y="22098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对目标关键 </a:t>
            </a: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token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的预测做模块输出归因。</a:t>
            </a:r>
          </a:p>
          <a:p>
            <a:pPr>
              <a:spcAft>
                <a:spcPts val="800"/>
              </a:spcAft>
            </a:pP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联合 </a:t>
            </a: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Attention/MLP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映射概率与归一化 </a:t>
            </a: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logit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  <a:p>
            <a:pPr>
              <a:spcAft>
                <a:spcPts val="800"/>
              </a:spcAft>
            </a:pP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先识别高贡献区，再选择其前置层挂载 </a:t>
            </a: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adapter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9E302928-7E53-36ED-FE64-ADE50D165724}"/>
              </a:ext>
            </a:extLst>
          </p:cNvPr>
          <p:cNvSpPr/>
          <p:nvPr/>
        </p:nvSpPr>
        <p:spPr>
          <a:xfrm>
            <a:off x="6426200" y="2527300"/>
            <a:ext cx="228600" cy="228600"/>
          </a:xfrm>
          <a:prstGeom prst="rightArrow">
            <a:avLst/>
          </a:prstGeom>
          <a:solidFill>
            <a:srgbClr val="7C3A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B7476639-7046-9519-978E-5039AA5426A0}"/>
              </a:ext>
            </a:extLst>
          </p:cNvPr>
          <p:cNvSpPr/>
          <p:nvPr/>
        </p:nvSpPr>
        <p:spPr>
          <a:xfrm>
            <a:off x="8280400" y="2527300"/>
            <a:ext cx="228600" cy="228600"/>
          </a:xfrm>
          <a:prstGeom prst="rightArrow">
            <a:avLst/>
          </a:prstGeom>
          <a:solidFill>
            <a:srgbClr val="7C3A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312978B9-D115-9D4D-96B9-56362C4CEC66}"/>
              </a:ext>
            </a:extLst>
          </p:cNvPr>
          <p:cNvSpPr/>
          <p:nvPr/>
        </p:nvSpPr>
        <p:spPr>
          <a:xfrm>
            <a:off x="10134600" y="2527300"/>
            <a:ext cx="228600" cy="228600"/>
          </a:xfrm>
          <a:prstGeom prst="rightArrow">
            <a:avLst/>
          </a:prstGeom>
          <a:solidFill>
            <a:srgbClr val="7C3A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flow-node-0">
            <a:extLst>
              <a:ext uri="{FF2B5EF4-FFF2-40B4-BE49-F238E27FC236}">
                <a16:creationId xmlns:a16="http://schemas.microsoft.com/office/drawing/2014/main" id="{7BF19C4C-88D9-4449-E135-C6D2C7A93AF9}"/>
              </a:ext>
            </a:extLst>
          </p:cNvPr>
          <p:cNvSpPr/>
          <p:nvPr/>
        </p:nvSpPr>
        <p:spPr>
          <a:xfrm>
            <a:off x="4826000" y="2095500"/>
            <a:ext cx="1574800" cy="10922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抽取 </a:t>
            </a:r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key token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flow-node-1">
            <a:extLst>
              <a:ext uri="{FF2B5EF4-FFF2-40B4-BE49-F238E27FC236}">
                <a16:creationId xmlns:a16="http://schemas.microsoft.com/office/drawing/2014/main" id="{6C51A357-E147-2A21-62C3-04F670A8E99A}"/>
              </a:ext>
            </a:extLst>
          </p:cNvPr>
          <p:cNvSpPr/>
          <p:nvPr/>
        </p:nvSpPr>
        <p:spPr>
          <a:xfrm>
            <a:off x="6680200" y="2095500"/>
            <a:ext cx="1574800" cy="10922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计算模块贡献</a:t>
            </a:r>
          </a:p>
        </p:txBody>
      </p:sp>
      <p:sp>
        <p:nvSpPr>
          <p:cNvPr id="13" name="flow-node-2">
            <a:extLst>
              <a:ext uri="{FF2B5EF4-FFF2-40B4-BE49-F238E27FC236}">
                <a16:creationId xmlns:a16="http://schemas.microsoft.com/office/drawing/2014/main" id="{188E8060-FB0A-667F-C51D-2C95E0B30A1A}"/>
              </a:ext>
            </a:extLst>
          </p:cNvPr>
          <p:cNvSpPr/>
          <p:nvPr/>
        </p:nvSpPr>
        <p:spPr>
          <a:xfrm>
            <a:off x="8534400" y="2095500"/>
            <a:ext cx="1574800" cy="10922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平滑并识别高贡献区</a:t>
            </a:r>
          </a:p>
        </p:txBody>
      </p:sp>
      <p:sp>
        <p:nvSpPr>
          <p:cNvPr id="14" name="flow-node-3">
            <a:extLst>
              <a:ext uri="{FF2B5EF4-FFF2-40B4-BE49-F238E27FC236}">
                <a16:creationId xmlns:a16="http://schemas.microsoft.com/office/drawing/2014/main" id="{D831CFEF-5B91-EE7C-134C-A6F346DB98D2}"/>
              </a:ext>
            </a:extLst>
          </p:cNvPr>
          <p:cNvSpPr/>
          <p:nvPr/>
        </p:nvSpPr>
        <p:spPr>
          <a:xfrm>
            <a:off x="10388600" y="2095500"/>
            <a:ext cx="1574800" cy="10922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zh-CN" altLang="en-US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向前偏移输出 </a:t>
            </a:r>
            <a:r>
              <a:rPr lang="en-US" altLang="zh-CN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Top-K</a:t>
            </a:r>
            <a:endParaRPr lang="zh-CN" altLang="en-US" sz="1600" b="1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383BE55-2A2A-F9C3-EB31-90B9CA883FEE}"/>
              </a:ext>
            </a:extLst>
          </p:cNvPr>
          <p:cNvSpPr txBox="1"/>
          <p:nvPr/>
        </p:nvSpPr>
        <p:spPr>
          <a:xfrm>
            <a:off x="4826000" y="36322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统一案例：</a:t>
            </a:r>
            <a:r>
              <a:rPr lang="en-US" altLang="zh-CN" sz="1600" b="1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MMKE-visual × Qwen2.5-VL-3B</a:t>
            </a:r>
            <a:endParaRPr lang="zh-CN" altLang="en-US" sz="1600" b="1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result-top3">
            <a:extLst>
              <a:ext uri="{FF2B5EF4-FFF2-40B4-BE49-F238E27FC236}">
                <a16:creationId xmlns:a16="http://schemas.microsoft.com/office/drawing/2014/main" id="{CF14C93B-B46A-31D1-E4AD-3C81DE4B423F}"/>
              </a:ext>
            </a:extLst>
          </p:cNvPr>
          <p:cNvSpPr/>
          <p:nvPr/>
        </p:nvSpPr>
        <p:spPr>
          <a:xfrm>
            <a:off x="4826000" y="4089400"/>
            <a:ext cx="3111500" cy="7366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2000" b="1">
                <a:solidFill>
                  <a:srgbClr val="7C3AE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Top-3</a:t>
            </a:r>
            <a:r>
              <a:rPr lang="zh-CN" altLang="en-US" sz="2000" b="1">
                <a:solidFill>
                  <a:srgbClr val="7C3AE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2000" b="1">
                <a:solidFill>
                  <a:srgbClr val="7C3AE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L28, L27, L26</a:t>
            </a:r>
            <a:endParaRPr lang="zh-CN" altLang="en-US" sz="2000" b="1">
              <a:solidFill>
                <a:srgbClr val="7C3AE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result-performance">
            <a:extLst>
              <a:ext uri="{FF2B5EF4-FFF2-40B4-BE49-F238E27FC236}">
                <a16:creationId xmlns:a16="http://schemas.microsoft.com/office/drawing/2014/main" id="{BCF67462-BE9E-9AB0-C759-12147E6B4219}"/>
              </a:ext>
            </a:extLst>
          </p:cNvPr>
          <p:cNvSpPr/>
          <p:nvPr/>
        </p:nvSpPr>
        <p:spPr>
          <a:xfrm>
            <a:off x="8191500" y="4089400"/>
            <a:ext cx="3111500" cy="736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7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Best@3 68.35  |  Mean@3 68.24</a:t>
            </a:r>
            <a:endParaRPr lang="zh-CN" altLang="en-US" sz="1700" b="1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9D0174B-3A23-B765-5563-6DBE688D29EC}"/>
              </a:ext>
            </a:extLst>
          </p:cNvPr>
          <p:cNvSpPr txBox="1"/>
          <p:nvPr/>
        </p:nvSpPr>
        <p:spPr>
          <a:xfrm>
            <a:off x="4826000" y="5080000"/>
            <a:ext cx="647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解释边界：严格 </a:t>
            </a:r>
            <a:r>
              <a:rPr lang="en-US" altLang="zh-CN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KeyToken </a:t>
            </a:r>
            <a:r>
              <a:rPr lang="zh-CN" altLang="en-US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才是主表；历史 </a:t>
            </a:r>
            <a:r>
              <a:rPr lang="en-US" altLang="zh-CN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FirstToken </a:t>
            </a:r>
            <a:r>
              <a:rPr lang="zh-CN" altLang="en-US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只能作为诊断。</a:t>
            </a:r>
          </a:p>
        </p:txBody>
      </p:sp>
    </p:spTree>
    <p:extLst>
      <p:ext uri="{BB962C8B-B14F-4D97-AF65-F5344CB8AC3E}">
        <p14:creationId xmlns:p14="http://schemas.microsoft.com/office/powerpoint/2010/main" val="4233412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>
            <a:extLst>
              <a:ext uri="{FF2B5EF4-FFF2-40B4-BE49-F238E27FC236}">
                <a16:creationId xmlns:a16="http://schemas.microsoft.com/office/drawing/2014/main" id="{C72F9F88-CA3A-13D9-CA5D-2F624FDFE525}"/>
              </a:ext>
            </a:extLst>
          </p:cNvPr>
          <p:cNvSpPr txBox="1"/>
          <p:nvPr/>
        </p:nvSpPr>
        <p:spPr>
          <a:xfrm>
            <a:off x="457200" y="2794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STEP 1 · </a:t>
            </a:r>
            <a:r>
              <a:rPr lang="zh-CN" altLang="en-US" sz="12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层定位方法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A54D7C8C-F445-2BBA-8DEE-B30E7BADDE84}"/>
              </a:ext>
            </a:extLst>
          </p:cNvPr>
          <p:cNvSpPr txBox="1"/>
          <p:nvPr/>
        </p:nvSpPr>
        <p:spPr>
          <a:xfrm>
            <a:off x="457200" y="609600"/>
            <a:ext cx="1130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5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SaLEM</a:t>
            </a:r>
            <a:r>
              <a:rPr lang="zh-CN" altLang="en-US" sz="35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：参数绝对梯度揭示“最容易被新知识推动”的层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F1E46B7E-8E22-74E8-054B-9E3E27A5223F}"/>
              </a:ext>
            </a:extLst>
          </p:cNvPr>
          <p:cNvCxnSpPr/>
          <p:nvPr/>
        </p:nvCxnSpPr>
        <p:spPr>
          <a:xfrm>
            <a:off x="457200" y="1371600"/>
            <a:ext cx="11277600" cy="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age-number">
            <a:extLst>
              <a:ext uri="{FF2B5EF4-FFF2-40B4-BE49-F238E27FC236}">
                <a16:creationId xmlns:a16="http://schemas.microsoft.com/office/drawing/2014/main" id="{B228554C-E2B9-0D74-10CA-C827954B215D}"/>
              </a:ext>
            </a:extLst>
          </p:cNvPr>
          <p:cNvSpPr txBox="1"/>
          <p:nvPr/>
        </p:nvSpPr>
        <p:spPr>
          <a:xfrm>
            <a:off x="11303000" y="64135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1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08</a:t>
            </a:r>
            <a:endParaRPr lang="zh-CN" altLang="en-US" sz="110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CAB3399-BCAF-7883-8B41-9271278841C6}"/>
              </a:ext>
            </a:extLst>
          </p:cNvPr>
          <p:cNvSpPr txBox="1"/>
          <p:nvPr/>
        </p:nvSpPr>
        <p:spPr>
          <a:xfrm>
            <a:off x="482600" y="16764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900" b="1">
                <a:solidFill>
                  <a:srgbClr val="0F76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SaLEM-Alt-Direct</a:t>
            </a:r>
            <a:endParaRPr lang="zh-CN" altLang="en-US" sz="1900" b="1">
              <a:solidFill>
                <a:srgbClr val="0F766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EE5B968-0CEA-A3A1-58E8-8DD0ABE15402}"/>
              </a:ext>
            </a:extLst>
          </p:cNvPr>
          <p:cNvSpPr txBox="1"/>
          <p:nvPr/>
        </p:nvSpPr>
        <p:spPr>
          <a:xfrm>
            <a:off x="482600" y="22098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以完整 </a:t>
            </a: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alt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序列损失反向传播。</a:t>
            </a:r>
          </a:p>
          <a:p>
            <a:pPr>
              <a:spcAft>
                <a:spcPts val="800"/>
              </a:spcAft>
            </a:pP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仅比较统一的 </a:t>
            </a: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MLP/FFN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参数集合。</a:t>
            </a:r>
          </a:p>
          <a:p>
            <a:pPr>
              <a:spcAft>
                <a:spcPts val="800"/>
              </a:spcAft>
            </a:pP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参数→列→矩阵→层逐级聚合绝对梯度。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414FFD16-9EB7-1493-63BC-BA46C0680284}"/>
              </a:ext>
            </a:extLst>
          </p:cNvPr>
          <p:cNvSpPr/>
          <p:nvPr/>
        </p:nvSpPr>
        <p:spPr>
          <a:xfrm>
            <a:off x="6426200" y="2527300"/>
            <a:ext cx="228600" cy="228600"/>
          </a:xfrm>
          <a:prstGeom prst="rightArrow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AAE94E22-90F6-17FA-AD2B-A116E1FF4406}"/>
              </a:ext>
            </a:extLst>
          </p:cNvPr>
          <p:cNvSpPr/>
          <p:nvPr/>
        </p:nvSpPr>
        <p:spPr>
          <a:xfrm>
            <a:off x="8280400" y="2527300"/>
            <a:ext cx="228600" cy="228600"/>
          </a:xfrm>
          <a:prstGeom prst="rightArrow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54B67D7F-67D6-DB40-DA7A-A30951D8A03D}"/>
              </a:ext>
            </a:extLst>
          </p:cNvPr>
          <p:cNvSpPr/>
          <p:nvPr/>
        </p:nvSpPr>
        <p:spPr>
          <a:xfrm>
            <a:off x="10134600" y="2527300"/>
            <a:ext cx="228600" cy="228600"/>
          </a:xfrm>
          <a:prstGeom prst="rightArrow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flow-node-0">
            <a:extLst>
              <a:ext uri="{FF2B5EF4-FFF2-40B4-BE49-F238E27FC236}">
                <a16:creationId xmlns:a16="http://schemas.microsoft.com/office/drawing/2014/main" id="{A91574A0-FCAD-F089-2A09-434C813BCF7E}"/>
              </a:ext>
            </a:extLst>
          </p:cNvPr>
          <p:cNvSpPr/>
          <p:nvPr/>
        </p:nvSpPr>
        <p:spPr>
          <a:xfrm>
            <a:off x="4826000" y="2095500"/>
            <a:ext cx="1574800" cy="10922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计算 </a:t>
            </a:r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alt loss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flow-node-1">
            <a:extLst>
              <a:ext uri="{FF2B5EF4-FFF2-40B4-BE49-F238E27FC236}">
                <a16:creationId xmlns:a16="http://schemas.microsoft.com/office/drawing/2014/main" id="{8C1B781B-DC7B-EE99-0FB6-15F31C4CC5CB}"/>
              </a:ext>
            </a:extLst>
          </p:cNvPr>
          <p:cNvSpPr/>
          <p:nvPr/>
        </p:nvSpPr>
        <p:spPr>
          <a:xfrm>
            <a:off x="6680200" y="2095500"/>
            <a:ext cx="1574800" cy="10922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提取 </a:t>
            </a:r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MLP </a:t>
            </a:r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参数梯度</a:t>
            </a:r>
          </a:p>
        </p:txBody>
      </p:sp>
      <p:sp>
        <p:nvSpPr>
          <p:cNvPr id="13" name="flow-node-2">
            <a:extLst>
              <a:ext uri="{FF2B5EF4-FFF2-40B4-BE49-F238E27FC236}">
                <a16:creationId xmlns:a16="http://schemas.microsoft.com/office/drawing/2014/main" id="{6E819D71-C108-FB78-7621-E09F1EB37DA8}"/>
              </a:ext>
            </a:extLst>
          </p:cNvPr>
          <p:cNvSpPr/>
          <p:nvPr/>
        </p:nvSpPr>
        <p:spPr>
          <a:xfrm>
            <a:off x="8534400" y="2095500"/>
            <a:ext cx="1574800" cy="10922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逐级聚合显著性</a:t>
            </a:r>
          </a:p>
        </p:txBody>
      </p:sp>
      <p:sp>
        <p:nvSpPr>
          <p:cNvPr id="14" name="flow-node-3">
            <a:extLst>
              <a:ext uri="{FF2B5EF4-FFF2-40B4-BE49-F238E27FC236}">
                <a16:creationId xmlns:a16="http://schemas.microsoft.com/office/drawing/2014/main" id="{1AF38D0E-8762-709F-493B-13A82B589ABA}"/>
              </a:ext>
            </a:extLst>
          </p:cNvPr>
          <p:cNvSpPr/>
          <p:nvPr/>
        </p:nvSpPr>
        <p:spPr>
          <a:xfrm>
            <a:off x="10388600" y="2095500"/>
            <a:ext cx="1574800" cy="10922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zh-CN" altLang="en-US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直接选显著层 </a:t>
            </a:r>
            <a:r>
              <a:rPr lang="en-US" altLang="zh-CN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Top-K</a:t>
            </a:r>
            <a:endParaRPr lang="zh-CN" altLang="en-US" sz="1600" b="1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F7C3E28-0C21-D3FE-4784-42B2366DF4BF}"/>
              </a:ext>
            </a:extLst>
          </p:cNvPr>
          <p:cNvSpPr txBox="1"/>
          <p:nvPr/>
        </p:nvSpPr>
        <p:spPr>
          <a:xfrm>
            <a:off x="4826000" y="36322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统一案例：</a:t>
            </a:r>
            <a:r>
              <a:rPr lang="en-US" altLang="zh-CN" sz="1600" b="1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MMKE-visual × Qwen2.5-VL-3B</a:t>
            </a:r>
            <a:endParaRPr lang="zh-CN" altLang="en-US" sz="1600" b="1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result-top3">
            <a:extLst>
              <a:ext uri="{FF2B5EF4-FFF2-40B4-BE49-F238E27FC236}">
                <a16:creationId xmlns:a16="http://schemas.microsoft.com/office/drawing/2014/main" id="{B187BC8E-DFC4-F769-5B99-FD0157F80ED9}"/>
              </a:ext>
            </a:extLst>
          </p:cNvPr>
          <p:cNvSpPr/>
          <p:nvPr/>
        </p:nvSpPr>
        <p:spPr>
          <a:xfrm>
            <a:off x="4826000" y="4089400"/>
            <a:ext cx="3111500" cy="7366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2000" b="1">
                <a:solidFill>
                  <a:srgbClr val="0F76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Top-3</a:t>
            </a:r>
            <a:r>
              <a:rPr lang="zh-CN" altLang="en-US" sz="2000" b="1">
                <a:solidFill>
                  <a:srgbClr val="0F76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2000" b="1">
                <a:solidFill>
                  <a:srgbClr val="0F76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L12, L11, L14</a:t>
            </a:r>
            <a:endParaRPr lang="zh-CN" altLang="en-US" sz="2000" b="1">
              <a:solidFill>
                <a:srgbClr val="0F766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result-performance">
            <a:extLst>
              <a:ext uri="{FF2B5EF4-FFF2-40B4-BE49-F238E27FC236}">
                <a16:creationId xmlns:a16="http://schemas.microsoft.com/office/drawing/2014/main" id="{81775585-5077-1264-C216-D787C541C57F}"/>
              </a:ext>
            </a:extLst>
          </p:cNvPr>
          <p:cNvSpPr/>
          <p:nvPr/>
        </p:nvSpPr>
        <p:spPr>
          <a:xfrm>
            <a:off x="8191500" y="4089400"/>
            <a:ext cx="3111500" cy="736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7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Best@3 71.00  |  Mean@3 70.61</a:t>
            </a:r>
            <a:endParaRPr lang="zh-CN" altLang="en-US" sz="1700" b="1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D9B10BF-A5C1-A98F-FC38-4DF38DF9079C}"/>
              </a:ext>
            </a:extLst>
          </p:cNvPr>
          <p:cNvSpPr txBox="1"/>
          <p:nvPr/>
        </p:nvSpPr>
        <p:spPr>
          <a:xfrm>
            <a:off x="4826000" y="5080000"/>
            <a:ext cx="647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解释边界：这是 </a:t>
            </a:r>
            <a:r>
              <a:rPr lang="en-US" altLang="zh-CN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SaLEM </a:t>
            </a:r>
            <a:r>
              <a:rPr lang="zh-CN" altLang="en-US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风格定位基线，不声称复现完整编辑器。</a:t>
            </a:r>
          </a:p>
        </p:txBody>
      </p:sp>
    </p:spTree>
    <p:extLst>
      <p:ext uri="{BB962C8B-B14F-4D97-AF65-F5344CB8AC3E}">
        <p14:creationId xmlns:p14="http://schemas.microsoft.com/office/powerpoint/2010/main" val="483041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>
            <a:extLst>
              <a:ext uri="{FF2B5EF4-FFF2-40B4-BE49-F238E27FC236}">
                <a16:creationId xmlns:a16="http://schemas.microsoft.com/office/drawing/2014/main" id="{8911CF56-8662-9372-5F2A-8D9FC4D8D04B}"/>
              </a:ext>
            </a:extLst>
          </p:cNvPr>
          <p:cNvSpPr txBox="1"/>
          <p:nvPr/>
        </p:nvSpPr>
        <p:spPr>
          <a:xfrm>
            <a:off x="457200" y="2794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STEP 1 · </a:t>
            </a:r>
            <a:r>
              <a:rPr lang="zh-CN" altLang="en-US" sz="12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层定位方法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47CC2859-F721-37A1-AF8F-5D3AA86B468B}"/>
              </a:ext>
            </a:extLst>
          </p:cNvPr>
          <p:cNvSpPr txBox="1"/>
          <p:nvPr/>
        </p:nvSpPr>
        <p:spPr>
          <a:xfrm>
            <a:off x="457200" y="609600"/>
            <a:ext cx="1130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5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LGA</a:t>
            </a:r>
            <a:r>
              <a:rPr lang="zh-CN" altLang="en-US" sz="35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：新旧知识梯度同向时，该层更可能是“黄金层”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20C24520-40C3-5E9D-1AF7-CF781CE35526}"/>
              </a:ext>
            </a:extLst>
          </p:cNvPr>
          <p:cNvCxnSpPr/>
          <p:nvPr/>
        </p:nvCxnSpPr>
        <p:spPr>
          <a:xfrm>
            <a:off x="457200" y="1371600"/>
            <a:ext cx="11277600" cy="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age-number">
            <a:extLst>
              <a:ext uri="{FF2B5EF4-FFF2-40B4-BE49-F238E27FC236}">
                <a16:creationId xmlns:a16="http://schemas.microsoft.com/office/drawing/2014/main" id="{D557DCDE-26AB-AD84-8E3A-82EB057D4997}"/>
              </a:ext>
            </a:extLst>
          </p:cNvPr>
          <p:cNvSpPr txBox="1"/>
          <p:nvPr/>
        </p:nvSpPr>
        <p:spPr>
          <a:xfrm>
            <a:off x="11303000" y="64135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1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09</a:t>
            </a:r>
            <a:endParaRPr lang="zh-CN" altLang="en-US" sz="110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C62F665-C06E-5477-428F-895F929DB092}"/>
              </a:ext>
            </a:extLst>
          </p:cNvPr>
          <p:cNvSpPr txBox="1"/>
          <p:nvPr/>
        </p:nvSpPr>
        <p:spPr>
          <a:xfrm>
            <a:off x="482600" y="16764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900" b="1">
                <a:solidFill>
                  <a:srgbClr val="EA580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LGA-Param-Direct-AltModelPred</a:t>
            </a:r>
            <a:endParaRPr lang="zh-CN" altLang="en-US" sz="1900" b="1">
              <a:solidFill>
                <a:srgbClr val="EA580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C7E6B89-E1ED-4FF2-8198-49781056555D}"/>
              </a:ext>
            </a:extLst>
          </p:cNvPr>
          <p:cNvSpPr txBox="1"/>
          <p:nvPr/>
        </p:nvSpPr>
        <p:spPr>
          <a:xfrm>
            <a:off x="482600" y="22098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旧知识来自冻结模型的 </a:t>
            </a: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model_pred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，新知识来自 </a:t>
            </a: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alt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  <a:p>
            <a:pPr>
              <a:spcAft>
                <a:spcPts val="800"/>
              </a:spcAft>
            </a:pP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分别计算 </a:t>
            </a: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MLP/FFN weight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的新旧参数梯度。</a:t>
            </a:r>
          </a:p>
          <a:p>
            <a:pPr>
              <a:spcAft>
                <a:spcPts val="800"/>
              </a:spcAft>
            </a:pP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用每层 </a:t>
            </a: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raw gradient dot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衡量共同承载程度。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FA72071B-B967-56D0-481B-9B53B19EA207}"/>
              </a:ext>
            </a:extLst>
          </p:cNvPr>
          <p:cNvSpPr/>
          <p:nvPr/>
        </p:nvSpPr>
        <p:spPr>
          <a:xfrm>
            <a:off x="6426200" y="2527300"/>
            <a:ext cx="228600" cy="228600"/>
          </a:xfrm>
          <a:prstGeom prst="rightArrow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04CAC942-FCB9-840F-F682-0FA0EA69DB23}"/>
              </a:ext>
            </a:extLst>
          </p:cNvPr>
          <p:cNvSpPr/>
          <p:nvPr/>
        </p:nvSpPr>
        <p:spPr>
          <a:xfrm>
            <a:off x="8280400" y="2527300"/>
            <a:ext cx="228600" cy="228600"/>
          </a:xfrm>
          <a:prstGeom prst="rightArrow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29B63940-8CDC-5DB3-7740-1EAFB365ECBC}"/>
              </a:ext>
            </a:extLst>
          </p:cNvPr>
          <p:cNvSpPr/>
          <p:nvPr/>
        </p:nvSpPr>
        <p:spPr>
          <a:xfrm>
            <a:off x="10134600" y="2527300"/>
            <a:ext cx="228600" cy="228600"/>
          </a:xfrm>
          <a:prstGeom prst="rightArrow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flow-node-0">
            <a:extLst>
              <a:ext uri="{FF2B5EF4-FFF2-40B4-BE49-F238E27FC236}">
                <a16:creationId xmlns:a16="http://schemas.microsoft.com/office/drawing/2014/main" id="{436A6419-ABAC-783E-0129-CD1BC15E3569}"/>
              </a:ext>
            </a:extLst>
          </p:cNvPr>
          <p:cNvSpPr/>
          <p:nvPr/>
        </p:nvSpPr>
        <p:spPr>
          <a:xfrm>
            <a:off x="4826000" y="2095500"/>
            <a:ext cx="1574800" cy="10922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生成旧</a:t>
            </a:r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新目标</a:t>
            </a:r>
          </a:p>
        </p:txBody>
      </p:sp>
      <p:sp>
        <p:nvSpPr>
          <p:cNvPr id="12" name="flow-node-1">
            <a:extLst>
              <a:ext uri="{FF2B5EF4-FFF2-40B4-BE49-F238E27FC236}">
                <a16:creationId xmlns:a16="http://schemas.microsoft.com/office/drawing/2014/main" id="{81AFB6B5-AADC-8B0C-FC43-AFC125E7A576}"/>
              </a:ext>
            </a:extLst>
          </p:cNvPr>
          <p:cNvSpPr/>
          <p:nvPr/>
        </p:nvSpPr>
        <p:spPr>
          <a:xfrm>
            <a:off x="6680200" y="2095500"/>
            <a:ext cx="1574800" cy="10922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求两组参数梯度</a:t>
            </a:r>
          </a:p>
        </p:txBody>
      </p:sp>
      <p:sp>
        <p:nvSpPr>
          <p:cNvPr id="13" name="flow-node-2">
            <a:extLst>
              <a:ext uri="{FF2B5EF4-FFF2-40B4-BE49-F238E27FC236}">
                <a16:creationId xmlns:a16="http://schemas.microsoft.com/office/drawing/2014/main" id="{1E932606-0468-296B-E9A7-6DCB830694B6}"/>
              </a:ext>
            </a:extLst>
          </p:cNvPr>
          <p:cNvSpPr/>
          <p:nvPr/>
        </p:nvSpPr>
        <p:spPr>
          <a:xfrm>
            <a:off x="8534400" y="2095500"/>
            <a:ext cx="1574800" cy="10922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计算层内梯度内积</a:t>
            </a:r>
          </a:p>
        </p:txBody>
      </p:sp>
      <p:sp>
        <p:nvSpPr>
          <p:cNvPr id="14" name="flow-node-3">
            <a:extLst>
              <a:ext uri="{FF2B5EF4-FFF2-40B4-BE49-F238E27FC236}">
                <a16:creationId xmlns:a16="http://schemas.microsoft.com/office/drawing/2014/main" id="{45089C6D-6748-39A0-0810-37235C21FD15}"/>
              </a:ext>
            </a:extLst>
          </p:cNvPr>
          <p:cNvSpPr/>
          <p:nvPr/>
        </p:nvSpPr>
        <p:spPr>
          <a:xfrm>
            <a:off x="10388600" y="2095500"/>
            <a:ext cx="1574800" cy="10922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zh-CN" altLang="en-US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直接选 </a:t>
            </a:r>
            <a:r>
              <a:rPr lang="en-US" altLang="zh-CN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dot </a:t>
            </a:r>
            <a:r>
              <a:rPr lang="zh-CN" altLang="en-US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最大 </a:t>
            </a:r>
            <a:r>
              <a:rPr lang="en-US" altLang="zh-CN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Top-K</a:t>
            </a:r>
            <a:endParaRPr lang="zh-CN" altLang="en-US" sz="1600" b="1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102BE66-5432-F73E-347E-1902BE1C3D5F}"/>
              </a:ext>
            </a:extLst>
          </p:cNvPr>
          <p:cNvSpPr txBox="1"/>
          <p:nvPr/>
        </p:nvSpPr>
        <p:spPr>
          <a:xfrm>
            <a:off x="4826000" y="36322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统一案例：</a:t>
            </a:r>
            <a:r>
              <a:rPr lang="en-US" altLang="zh-CN" sz="1600" b="1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MMKE-visual × Qwen2.5-VL-3B</a:t>
            </a:r>
            <a:endParaRPr lang="zh-CN" altLang="en-US" sz="1600" b="1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result-top3">
            <a:extLst>
              <a:ext uri="{FF2B5EF4-FFF2-40B4-BE49-F238E27FC236}">
                <a16:creationId xmlns:a16="http://schemas.microsoft.com/office/drawing/2014/main" id="{D34B7498-DB55-27E3-9102-5B092CD75F40}"/>
              </a:ext>
            </a:extLst>
          </p:cNvPr>
          <p:cNvSpPr/>
          <p:nvPr/>
        </p:nvSpPr>
        <p:spPr>
          <a:xfrm>
            <a:off x="4826000" y="4089400"/>
            <a:ext cx="3111500" cy="7366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2000" b="1">
                <a:solidFill>
                  <a:srgbClr val="EA580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Top-3</a:t>
            </a:r>
            <a:r>
              <a:rPr lang="zh-CN" altLang="en-US" sz="2000" b="1">
                <a:solidFill>
                  <a:srgbClr val="EA580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2000" b="1">
                <a:solidFill>
                  <a:srgbClr val="EA580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L2, L30, L1</a:t>
            </a:r>
            <a:endParaRPr lang="zh-CN" altLang="en-US" sz="2000" b="1">
              <a:solidFill>
                <a:srgbClr val="EA580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result-performance">
            <a:extLst>
              <a:ext uri="{FF2B5EF4-FFF2-40B4-BE49-F238E27FC236}">
                <a16:creationId xmlns:a16="http://schemas.microsoft.com/office/drawing/2014/main" id="{4E7CC312-4331-613C-BF35-B21A0B3A699E}"/>
              </a:ext>
            </a:extLst>
          </p:cNvPr>
          <p:cNvSpPr/>
          <p:nvPr/>
        </p:nvSpPr>
        <p:spPr>
          <a:xfrm>
            <a:off x="8191500" y="4089400"/>
            <a:ext cx="3111500" cy="736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7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Best@3 69.93  |  Mean@3 68.82</a:t>
            </a:r>
            <a:endParaRPr lang="zh-CN" altLang="en-US" sz="1700" b="1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79158C8-40F8-5B25-E084-984CB074D0F2}"/>
              </a:ext>
            </a:extLst>
          </p:cNvPr>
          <p:cNvSpPr txBox="1"/>
          <p:nvPr/>
        </p:nvSpPr>
        <p:spPr>
          <a:xfrm>
            <a:off x="4826000" y="5080000"/>
            <a:ext cx="647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解释边界：主版本是参数梯度；</a:t>
            </a:r>
            <a:r>
              <a:rPr lang="en-US" altLang="zh-CN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hidden-state </a:t>
            </a:r>
            <a:r>
              <a:rPr lang="zh-CN" altLang="en-US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变体不能冒充原始 </a:t>
            </a:r>
            <a:r>
              <a:rPr lang="en-US" altLang="zh-CN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LGA</a:t>
            </a:r>
            <a:r>
              <a:rPr lang="zh-CN" altLang="en-US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043632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>
            <a:extLst>
              <a:ext uri="{FF2B5EF4-FFF2-40B4-BE49-F238E27FC236}">
                <a16:creationId xmlns:a16="http://schemas.microsoft.com/office/drawing/2014/main" id="{211D5A60-8E72-1A6D-DE68-2EA5A9962A23}"/>
              </a:ext>
            </a:extLst>
          </p:cNvPr>
          <p:cNvSpPr txBox="1"/>
          <p:nvPr/>
        </p:nvSpPr>
        <p:spPr>
          <a:xfrm>
            <a:off x="457200" y="2794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STEP 1 · </a:t>
            </a:r>
            <a:r>
              <a:rPr lang="zh-CN" altLang="en-US" sz="12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层定位方法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AA652F62-1822-1942-B134-BC1365910FFF}"/>
              </a:ext>
            </a:extLst>
          </p:cNvPr>
          <p:cNvSpPr txBox="1"/>
          <p:nvPr/>
        </p:nvSpPr>
        <p:spPr>
          <a:xfrm>
            <a:off x="457200" y="609600"/>
            <a:ext cx="1130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5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Perturb-KL</a:t>
            </a:r>
            <a:r>
              <a:rPr lang="zh-CN" altLang="en-US" sz="35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：视觉表征被扰动后，输出变化越大越关键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B93CD8B2-EE4B-089C-8752-3209FAF674EC}"/>
              </a:ext>
            </a:extLst>
          </p:cNvPr>
          <p:cNvCxnSpPr/>
          <p:nvPr/>
        </p:nvCxnSpPr>
        <p:spPr>
          <a:xfrm>
            <a:off x="457200" y="1371600"/>
            <a:ext cx="11277600" cy="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age-number">
            <a:extLst>
              <a:ext uri="{FF2B5EF4-FFF2-40B4-BE49-F238E27FC236}">
                <a16:creationId xmlns:a16="http://schemas.microsoft.com/office/drawing/2014/main" id="{5255CC99-B19E-B75E-8CDA-C3467F4E83F1}"/>
              </a:ext>
            </a:extLst>
          </p:cNvPr>
          <p:cNvSpPr txBox="1"/>
          <p:nvPr/>
        </p:nvSpPr>
        <p:spPr>
          <a:xfrm>
            <a:off x="11303000" y="64135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1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endParaRPr lang="zh-CN" altLang="en-US" sz="110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C1ECB16-A85A-16E5-B973-C56244910AF9}"/>
              </a:ext>
            </a:extLst>
          </p:cNvPr>
          <p:cNvSpPr txBox="1"/>
          <p:nvPr/>
        </p:nvSpPr>
        <p:spPr>
          <a:xfrm>
            <a:off x="482600" y="16764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900" b="1">
                <a:solidFill>
                  <a:srgbClr val="B91C1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Perturb-KL-Direct-AltSeq</a:t>
            </a:r>
            <a:endParaRPr lang="zh-CN" altLang="en-US" sz="1900" b="1">
              <a:solidFill>
                <a:srgbClr val="B91C1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05DF7F2-357D-2778-C131-B22FDC72C76D}"/>
              </a:ext>
            </a:extLst>
          </p:cNvPr>
          <p:cNvSpPr txBox="1"/>
          <p:nvPr/>
        </p:nvSpPr>
        <p:spPr>
          <a:xfrm>
            <a:off x="482600" y="22098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只扰动 </a:t>
            </a: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visual tokens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，保持文本与目标序列不变。</a:t>
            </a:r>
          </a:p>
          <a:p>
            <a:pPr>
              <a:spcAft>
                <a:spcPts val="800"/>
              </a:spcAft>
            </a:pP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多噪声尺度、多随机种子比较 </a:t>
            </a: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clean/perturbed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分布。</a:t>
            </a:r>
          </a:p>
          <a:p>
            <a:pPr>
              <a:spcAft>
                <a:spcPts val="800"/>
              </a:spcAft>
            </a:pP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在完整 </a:t>
            </a: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alt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序列上聚合稳健 </a:t>
            </a: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KL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分数。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F93BCD9E-2D86-F01A-D429-203EFBE2FC17}"/>
              </a:ext>
            </a:extLst>
          </p:cNvPr>
          <p:cNvSpPr/>
          <p:nvPr/>
        </p:nvSpPr>
        <p:spPr>
          <a:xfrm>
            <a:off x="6426200" y="2527300"/>
            <a:ext cx="228600" cy="228600"/>
          </a:xfrm>
          <a:prstGeom prst="rightArrow">
            <a:avLst/>
          </a:prstGeom>
          <a:solidFill>
            <a:srgbClr val="B91C1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DE3D8BE6-A5DA-C1CD-456C-43E12A4F28B7}"/>
              </a:ext>
            </a:extLst>
          </p:cNvPr>
          <p:cNvSpPr/>
          <p:nvPr/>
        </p:nvSpPr>
        <p:spPr>
          <a:xfrm>
            <a:off x="8280400" y="2527300"/>
            <a:ext cx="228600" cy="228600"/>
          </a:xfrm>
          <a:prstGeom prst="rightArrow">
            <a:avLst/>
          </a:prstGeom>
          <a:solidFill>
            <a:srgbClr val="B91C1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0CDE19B9-0EBB-73B6-94C5-3EC144C5CD57}"/>
              </a:ext>
            </a:extLst>
          </p:cNvPr>
          <p:cNvSpPr/>
          <p:nvPr/>
        </p:nvSpPr>
        <p:spPr>
          <a:xfrm>
            <a:off x="10134600" y="2527300"/>
            <a:ext cx="228600" cy="228600"/>
          </a:xfrm>
          <a:prstGeom prst="rightArrow">
            <a:avLst/>
          </a:prstGeom>
          <a:solidFill>
            <a:srgbClr val="B91C1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flow-node-0">
            <a:extLst>
              <a:ext uri="{FF2B5EF4-FFF2-40B4-BE49-F238E27FC236}">
                <a16:creationId xmlns:a16="http://schemas.microsoft.com/office/drawing/2014/main" id="{781DDD5B-B160-E84E-A743-4C5697BA250B}"/>
              </a:ext>
            </a:extLst>
          </p:cNvPr>
          <p:cNvSpPr/>
          <p:nvPr/>
        </p:nvSpPr>
        <p:spPr>
          <a:xfrm>
            <a:off x="4826000" y="2095500"/>
            <a:ext cx="1574800" cy="10922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注入视觉噪声</a:t>
            </a:r>
          </a:p>
        </p:txBody>
      </p:sp>
      <p:sp>
        <p:nvSpPr>
          <p:cNvPr id="12" name="flow-node-1">
            <a:extLst>
              <a:ext uri="{FF2B5EF4-FFF2-40B4-BE49-F238E27FC236}">
                <a16:creationId xmlns:a16="http://schemas.microsoft.com/office/drawing/2014/main" id="{5087C986-8D60-4E85-07D4-B579268502C1}"/>
              </a:ext>
            </a:extLst>
          </p:cNvPr>
          <p:cNvSpPr/>
          <p:nvPr/>
        </p:nvSpPr>
        <p:spPr>
          <a:xfrm>
            <a:off x="6680200" y="2095500"/>
            <a:ext cx="1574800" cy="10922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获得 </a:t>
            </a:r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clean/perturbed </a:t>
            </a:r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分布</a:t>
            </a:r>
          </a:p>
        </p:txBody>
      </p:sp>
      <p:sp>
        <p:nvSpPr>
          <p:cNvPr id="13" name="flow-node-2">
            <a:extLst>
              <a:ext uri="{FF2B5EF4-FFF2-40B4-BE49-F238E27FC236}">
                <a16:creationId xmlns:a16="http://schemas.microsoft.com/office/drawing/2014/main" id="{C028E8CF-270F-AC6F-8523-BF3110E582AB}"/>
              </a:ext>
            </a:extLst>
          </p:cNvPr>
          <p:cNvSpPr/>
          <p:nvPr/>
        </p:nvSpPr>
        <p:spPr>
          <a:xfrm>
            <a:off x="8534400" y="2095500"/>
            <a:ext cx="1574800" cy="10922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多尺度多种子稳健聚合</a:t>
            </a:r>
          </a:p>
        </p:txBody>
      </p:sp>
      <p:sp>
        <p:nvSpPr>
          <p:cNvPr id="14" name="flow-node-3">
            <a:extLst>
              <a:ext uri="{FF2B5EF4-FFF2-40B4-BE49-F238E27FC236}">
                <a16:creationId xmlns:a16="http://schemas.microsoft.com/office/drawing/2014/main" id="{F17B670B-98D2-27B8-9813-F7192BD1FE72}"/>
              </a:ext>
            </a:extLst>
          </p:cNvPr>
          <p:cNvSpPr/>
          <p:nvPr/>
        </p:nvSpPr>
        <p:spPr>
          <a:xfrm>
            <a:off x="10388600" y="2095500"/>
            <a:ext cx="1574800" cy="10922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zh-CN" altLang="en-US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直接选 </a:t>
            </a:r>
            <a:r>
              <a:rPr lang="en-US" altLang="zh-CN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KL </a:t>
            </a:r>
            <a:r>
              <a:rPr lang="zh-CN" altLang="en-US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敏感 </a:t>
            </a:r>
            <a:r>
              <a:rPr lang="en-US" altLang="zh-CN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Top-K</a:t>
            </a:r>
            <a:endParaRPr lang="zh-CN" altLang="en-US" sz="1600" b="1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CE094DB-2883-6740-515C-66B0D3633EC4}"/>
              </a:ext>
            </a:extLst>
          </p:cNvPr>
          <p:cNvSpPr txBox="1"/>
          <p:nvPr/>
        </p:nvSpPr>
        <p:spPr>
          <a:xfrm>
            <a:off x="4826000" y="36322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统一案例：</a:t>
            </a:r>
            <a:r>
              <a:rPr lang="en-US" altLang="zh-CN" sz="1600" b="1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MMKE-visual × Qwen2.5-VL-3B</a:t>
            </a:r>
            <a:endParaRPr lang="zh-CN" altLang="en-US" sz="1600" b="1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result-top3">
            <a:extLst>
              <a:ext uri="{FF2B5EF4-FFF2-40B4-BE49-F238E27FC236}">
                <a16:creationId xmlns:a16="http://schemas.microsoft.com/office/drawing/2014/main" id="{6DEB8C7C-5646-B436-2FD1-ACA73EED7205}"/>
              </a:ext>
            </a:extLst>
          </p:cNvPr>
          <p:cNvSpPr/>
          <p:nvPr/>
        </p:nvSpPr>
        <p:spPr>
          <a:xfrm>
            <a:off x="4826000" y="4089400"/>
            <a:ext cx="3111500" cy="7366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2000" b="1">
                <a:solidFill>
                  <a:srgbClr val="B91C1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Top-3</a:t>
            </a:r>
            <a:r>
              <a:rPr lang="zh-CN" altLang="en-US" sz="2000" b="1">
                <a:solidFill>
                  <a:srgbClr val="B91C1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2000" b="1">
                <a:solidFill>
                  <a:srgbClr val="B91C1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L0, L13, L14</a:t>
            </a:r>
            <a:endParaRPr lang="zh-CN" altLang="en-US" sz="2000" b="1">
              <a:solidFill>
                <a:srgbClr val="B91C1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result-performance">
            <a:extLst>
              <a:ext uri="{FF2B5EF4-FFF2-40B4-BE49-F238E27FC236}">
                <a16:creationId xmlns:a16="http://schemas.microsoft.com/office/drawing/2014/main" id="{A2A0C3BF-027A-B18E-A451-428E405A1F5F}"/>
              </a:ext>
            </a:extLst>
          </p:cNvPr>
          <p:cNvSpPr/>
          <p:nvPr/>
        </p:nvSpPr>
        <p:spPr>
          <a:xfrm>
            <a:off x="8191500" y="4089400"/>
            <a:ext cx="3111500" cy="736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7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Best@3 70.42  |  Mean@3 70.21</a:t>
            </a:r>
            <a:endParaRPr lang="zh-CN" altLang="en-US" sz="1700" b="1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AE7A59D-32D0-F1AB-A8BF-D325F4E08279}"/>
              </a:ext>
            </a:extLst>
          </p:cNvPr>
          <p:cNvSpPr txBox="1"/>
          <p:nvPr/>
        </p:nvSpPr>
        <p:spPr>
          <a:xfrm>
            <a:off x="4826000" y="5080000"/>
            <a:ext cx="647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解释边界：这是本文构造的序列级敏感性基线；</a:t>
            </a:r>
            <a:r>
              <a:rPr lang="en-US" altLang="zh-CN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Pre </a:t>
            </a:r>
            <a:r>
              <a:rPr lang="zh-CN" altLang="en-US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版本仅为消融。</a:t>
            </a:r>
          </a:p>
        </p:txBody>
      </p:sp>
    </p:spTree>
    <p:extLst>
      <p:ext uri="{BB962C8B-B14F-4D97-AF65-F5344CB8AC3E}">
        <p14:creationId xmlns:p14="http://schemas.microsoft.com/office/powerpoint/2010/main" val="2811633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>
            <a:extLst>
              <a:ext uri="{FF2B5EF4-FFF2-40B4-BE49-F238E27FC236}">
                <a16:creationId xmlns:a16="http://schemas.microsoft.com/office/drawing/2014/main" id="{60541707-BBA0-85C3-E1D4-E074D9C36718}"/>
              </a:ext>
            </a:extLst>
          </p:cNvPr>
          <p:cNvSpPr txBox="1"/>
          <p:nvPr/>
        </p:nvSpPr>
        <p:spPr>
          <a:xfrm>
            <a:off x="457200" y="2794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STEP 1 · </a:t>
            </a:r>
            <a:r>
              <a:rPr lang="zh-CN" altLang="en-US" sz="12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层定位方法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FBD71D05-CD16-2ACF-3803-93DE7251C709}"/>
              </a:ext>
            </a:extLst>
          </p:cNvPr>
          <p:cNvSpPr txBox="1"/>
          <p:nvPr/>
        </p:nvSpPr>
        <p:spPr>
          <a:xfrm>
            <a:off x="457200" y="609600"/>
            <a:ext cx="1130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5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CMA</a:t>
            </a:r>
            <a:r>
              <a:rPr lang="zh-CN" altLang="en-US" sz="35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：恢复某层视觉状态能挽救答案，才构成因果证据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97DB88A-170B-A498-8EAF-9127C718E29E}"/>
              </a:ext>
            </a:extLst>
          </p:cNvPr>
          <p:cNvCxnSpPr/>
          <p:nvPr/>
        </p:nvCxnSpPr>
        <p:spPr>
          <a:xfrm>
            <a:off x="457200" y="1371600"/>
            <a:ext cx="11277600" cy="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age-number">
            <a:extLst>
              <a:ext uri="{FF2B5EF4-FFF2-40B4-BE49-F238E27FC236}">
                <a16:creationId xmlns:a16="http://schemas.microsoft.com/office/drawing/2014/main" id="{37E4B56F-8B79-8ECF-5B0E-62E283216C5C}"/>
              </a:ext>
            </a:extLst>
          </p:cNvPr>
          <p:cNvSpPr txBox="1"/>
          <p:nvPr/>
        </p:nvSpPr>
        <p:spPr>
          <a:xfrm>
            <a:off x="11303000" y="64135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1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</a:t>
            </a:r>
            <a:endParaRPr lang="zh-CN" altLang="en-US" sz="110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F5900BF-8E83-3AC0-38D6-1198EA1BE21B}"/>
              </a:ext>
            </a:extLst>
          </p:cNvPr>
          <p:cNvSpPr txBox="1"/>
          <p:nvPr/>
        </p:nvSpPr>
        <p:spPr>
          <a:xfrm>
            <a:off x="482600" y="16764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900" b="1">
                <a:solidFill>
                  <a:srgbClr val="1580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CMA-Direct</a:t>
            </a:r>
            <a:endParaRPr lang="zh-CN" altLang="en-US" sz="1900" b="1">
              <a:solidFill>
                <a:srgbClr val="15803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C8DEC56-7391-3FD1-8ADF-1CBC09840612}"/>
              </a:ext>
            </a:extLst>
          </p:cNvPr>
          <p:cNvSpPr txBox="1"/>
          <p:nvPr/>
        </p:nvSpPr>
        <p:spPr>
          <a:xfrm>
            <a:off x="482600" y="22098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先确认视觉污染确实降低目标答案支持。</a:t>
            </a:r>
          </a:p>
          <a:p>
            <a:pPr>
              <a:spcAft>
                <a:spcPts val="800"/>
              </a:spcAft>
            </a:pP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逐层恢复 </a:t>
            </a: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clean visual hidden state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  <a:p>
            <a:pPr>
              <a:spcAft>
                <a:spcPts val="800"/>
              </a:spcAft>
            </a:pP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以恢复后的目标支持提升 </a:t>
            </a: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CR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作为主分数。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4CEC2036-8522-7C4B-24BD-4DBBD37281E7}"/>
              </a:ext>
            </a:extLst>
          </p:cNvPr>
          <p:cNvSpPr/>
          <p:nvPr/>
        </p:nvSpPr>
        <p:spPr>
          <a:xfrm>
            <a:off x="6426200" y="2527300"/>
            <a:ext cx="228600" cy="228600"/>
          </a:xfrm>
          <a:prstGeom prst="rightArrow">
            <a:avLst/>
          </a:prstGeom>
          <a:solidFill>
            <a:srgbClr val="1580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375A6B8E-BEBB-D20D-2847-ED8B768025AA}"/>
              </a:ext>
            </a:extLst>
          </p:cNvPr>
          <p:cNvSpPr/>
          <p:nvPr/>
        </p:nvSpPr>
        <p:spPr>
          <a:xfrm>
            <a:off x="8280400" y="2527300"/>
            <a:ext cx="228600" cy="228600"/>
          </a:xfrm>
          <a:prstGeom prst="rightArrow">
            <a:avLst/>
          </a:prstGeom>
          <a:solidFill>
            <a:srgbClr val="1580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1ABE5981-112F-8BA1-9E16-4BD5416E9641}"/>
              </a:ext>
            </a:extLst>
          </p:cNvPr>
          <p:cNvSpPr/>
          <p:nvPr/>
        </p:nvSpPr>
        <p:spPr>
          <a:xfrm>
            <a:off x="10134600" y="2527300"/>
            <a:ext cx="228600" cy="228600"/>
          </a:xfrm>
          <a:prstGeom prst="rightArrow">
            <a:avLst/>
          </a:prstGeom>
          <a:solidFill>
            <a:srgbClr val="1580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flow-node-0">
            <a:extLst>
              <a:ext uri="{FF2B5EF4-FFF2-40B4-BE49-F238E27FC236}">
                <a16:creationId xmlns:a16="http://schemas.microsoft.com/office/drawing/2014/main" id="{4A6B5F2A-55DE-BDA7-1329-88951EBB1534}"/>
              </a:ext>
            </a:extLst>
          </p:cNvPr>
          <p:cNvSpPr/>
          <p:nvPr/>
        </p:nvSpPr>
        <p:spPr>
          <a:xfrm>
            <a:off x="4826000" y="2095500"/>
            <a:ext cx="1574800" cy="10922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计算 </a:t>
            </a:r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clean </a:t>
            </a:r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支持</a:t>
            </a:r>
          </a:p>
        </p:txBody>
      </p:sp>
      <p:sp>
        <p:nvSpPr>
          <p:cNvPr id="12" name="flow-node-1">
            <a:extLst>
              <a:ext uri="{FF2B5EF4-FFF2-40B4-BE49-F238E27FC236}">
                <a16:creationId xmlns:a16="http://schemas.microsoft.com/office/drawing/2014/main" id="{C0FCC3D1-1957-F89F-6D0F-B2A61F7096A3}"/>
              </a:ext>
            </a:extLst>
          </p:cNvPr>
          <p:cNvSpPr/>
          <p:nvPr/>
        </p:nvSpPr>
        <p:spPr>
          <a:xfrm>
            <a:off x="6680200" y="2095500"/>
            <a:ext cx="1574800" cy="10922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污染视觉输入</a:t>
            </a:r>
          </a:p>
        </p:txBody>
      </p:sp>
      <p:sp>
        <p:nvSpPr>
          <p:cNvPr id="13" name="flow-node-2">
            <a:extLst>
              <a:ext uri="{FF2B5EF4-FFF2-40B4-BE49-F238E27FC236}">
                <a16:creationId xmlns:a16="http://schemas.microsoft.com/office/drawing/2014/main" id="{EAE2898C-A093-B51E-146B-88CFE978EBBD}"/>
              </a:ext>
            </a:extLst>
          </p:cNvPr>
          <p:cNvSpPr/>
          <p:nvPr/>
        </p:nvSpPr>
        <p:spPr>
          <a:xfrm>
            <a:off x="8534400" y="2095500"/>
            <a:ext cx="1574800" cy="10922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逐层恢复 </a:t>
            </a:r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clean </a:t>
            </a:r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状态</a:t>
            </a:r>
          </a:p>
        </p:txBody>
      </p:sp>
      <p:sp>
        <p:nvSpPr>
          <p:cNvPr id="14" name="flow-node-3">
            <a:extLst>
              <a:ext uri="{FF2B5EF4-FFF2-40B4-BE49-F238E27FC236}">
                <a16:creationId xmlns:a16="http://schemas.microsoft.com/office/drawing/2014/main" id="{D6817B17-C94D-9D82-14C2-4F4BC6F5F5F3}"/>
              </a:ext>
            </a:extLst>
          </p:cNvPr>
          <p:cNvSpPr/>
          <p:nvPr/>
        </p:nvSpPr>
        <p:spPr>
          <a:xfrm>
            <a:off x="10388600" y="2095500"/>
            <a:ext cx="1574800" cy="1092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zh-CN" altLang="en-US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按 </a:t>
            </a:r>
            <a:r>
              <a:rPr lang="en-US" altLang="zh-CN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CR </a:t>
            </a:r>
            <a:r>
              <a:rPr lang="zh-CN" altLang="en-US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选 </a:t>
            </a:r>
            <a:r>
              <a:rPr lang="en-US" altLang="zh-CN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Top-K</a:t>
            </a:r>
            <a:endParaRPr lang="zh-CN" altLang="en-US" sz="1600" b="1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AB395B0-7C98-110A-2167-479739FC1B5B}"/>
              </a:ext>
            </a:extLst>
          </p:cNvPr>
          <p:cNvSpPr txBox="1"/>
          <p:nvPr/>
        </p:nvSpPr>
        <p:spPr>
          <a:xfrm>
            <a:off x="4826000" y="36322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统一案例：</a:t>
            </a:r>
            <a:r>
              <a:rPr lang="en-US" altLang="zh-CN" sz="1600" b="1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MMKE-visual × Qwen2.5-VL-3B</a:t>
            </a:r>
            <a:endParaRPr lang="zh-CN" altLang="en-US" sz="1600" b="1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result-top3">
            <a:extLst>
              <a:ext uri="{FF2B5EF4-FFF2-40B4-BE49-F238E27FC236}">
                <a16:creationId xmlns:a16="http://schemas.microsoft.com/office/drawing/2014/main" id="{EC493CFF-FFB7-7FC4-3930-BC70475A8155}"/>
              </a:ext>
            </a:extLst>
          </p:cNvPr>
          <p:cNvSpPr/>
          <p:nvPr/>
        </p:nvSpPr>
        <p:spPr>
          <a:xfrm>
            <a:off x="4826000" y="4089400"/>
            <a:ext cx="3111500" cy="7366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2000" b="1">
                <a:solidFill>
                  <a:srgbClr val="1580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Top-3</a:t>
            </a:r>
            <a:r>
              <a:rPr lang="zh-CN" altLang="en-US" sz="2000" b="1">
                <a:solidFill>
                  <a:srgbClr val="1580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2000" b="1">
                <a:solidFill>
                  <a:srgbClr val="1580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L1, L0, L6</a:t>
            </a:r>
            <a:endParaRPr lang="zh-CN" altLang="en-US" sz="2000" b="1">
              <a:solidFill>
                <a:srgbClr val="15803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result-performance">
            <a:extLst>
              <a:ext uri="{FF2B5EF4-FFF2-40B4-BE49-F238E27FC236}">
                <a16:creationId xmlns:a16="http://schemas.microsoft.com/office/drawing/2014/main" id="{A1DA784D-5E86-A7E0-E939-0D59869E6BBC}"/>
              </a:ext>
            </a:extLst>
          </p:cNvPr>
          <p:cNvSpPr/>
          <p:nvPr/>
        </p:nvSpPr>
        <p:spPr>
          <a:xfrm>
            <a:off x="8191500" y="4089400"/>
            <a:ext cx="3111500" cy="736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7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Best@3 70.42  |  Mean@3 70.02</a:t>
            </a:r>
            <a:endParaRPr lang="zh-CN" altLang="en-US" sz="1700" b="1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DF5905A-FA90-A29D-3E68-FC0268CC569C}"/>
              </a:ext>
            </a:extLst>
          </p:cNvPr>
          <p:cNvSpPr txBox="1"/>
          <p:nvPr/>
        </p:nvSpPr>
        <p:spPr>
          <a:xfrm>
            <a:off x="4826000" y="5080000"/>
            <a:ext cx="647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解释边界：该案例 </a:t>
            </a:r>
            <a:r>
              <a:rPr lang="en-US" altLang="zh-CN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coverage=31/214</a:t>
            </a:r>
            <a:r>
              <a:rPr lang="zh-CN" altLang="en-US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14.5%</a:t>
            </a:r>
            <a:r>
              <a:rPr lang="zh-CN" altLang="en-US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），需低覆盖标记；因果恢复不等于真实可编辑性。</a:t>
            </a:r>
          </a:p>
        </p:txBody>
      </p:sp>
    </p:spTree>
    <p:extLst>
      <p:ext uri="{BB962C8B-B14F-4D97-AF65-F5344CB8AC3E}">
        <p14:creationId xmlns:p14="http://schemas.microsoft.com/office/powerpoint/2010/main" val="114881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>
            <a:extLst>
              <a:ext uri="{FF2B5EF4-FFF2-40B4-BE49-F238E27FC236}">
                <a16:creationId xmlns:a16="http://schemas.microsoft.com/office/drawing/2014/main" id="{2739A5A5-9EE5-F7E2-6D8F-621BDA5FB99E}"/>
              </a:ext>
            </a:extLst>
          </p:cNvPr>
          <p:cNvSpPr txBox="1"/>
          <p:nvPr/>
        </p:nvSpPr>
        <p:spPr>
          <a:xfrm>
            <a:off x="457200" y="2794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STEP 1 · </a:t>
            </a:r>
            <a:r>
              <a:rPr lang="zh-CN" altLang="en-US" sz="12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层定位方法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0EA78478-7EF2-839B-EE27-608CAA720A17}"/>
              </a:ext>
            </a:extLst>
          </p:cNvPr>
          <p:cNvSpPr txBox="1"/>
          <p:nvPr/>
        </p:nvSpPr>
        <p:spPr>
          <a:xfrm>
            <a:off x="457200" y="609600"/>
            <a:ext cx="1130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5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Ours</a:t>
            </a:r>
            <a:r>
              <a:rPr lang="zh-CN" altLang="en-US" sz="35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：用新旧知识的视觉梯度关系直接预测可编辑层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94038217-8FFB-4010-67DB-0DC51DEBA079}"/>
              </a:ext>
            </a:extLst>
          </p:cNvPr>
          <p:cNvCxnSpPr/>
          <p:nvPr/>
        </p:nvCxnSpPr>
        <p:spPr>
          <a:xfrm>
            <a:off x="457200" y="1371600"/>
            <a:ext cx="11277600" cy="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age-number">
            <a:extLst>
              <a:ext uri="{FF2B5EF4-FFF2-40B4-BE49-F238E27FC236}">
                <a16:creationId xmlns:a16="http://schemas.microsoft.com/office/drawing/2014/main" id="{6DAFBA3E-007B-28B9-2EA2-E5233D87797C}"/>
              </a:ext>
            </a:extLst>
          </p:cNvPr>
          <p:cNvSpPr txBox="1"/>
          <p:nvPr/>
        </p:nvSpPr>
        <p:spPr>
          <a:xfrm>
            <a:off x="11303000" y="64135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1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</a:t>
            </a:r>
            <a:endParaRPr lang="zh-CN" altLang="en-US" sz="110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20197A0-3294-C447-953C-8245F2FDC3E8}"/>
              </a:ext>
            </a:extLst>
          </p:cNvPr>
          <p:cNvSpPr txBox="1"/>
          <p:nvPr/>
        </p:nvSpPr>
        <p:spPr>
          <a:xfrm>
            <a:off x="482600" y="16764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9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Ours-VisualGradient-Direct</a:t>
            </a:r>
            <a:endParaRPr lang="zh-CN" altLang="en-US" sz="1900" b="1">
              <a:solidFill>
                <a:srgbClr val="2563E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C0A4FA4-CE3F-0ACD-F185-68FB228DE919}"/>
              </a:ext>
            </a:extLst>
          </p:cNvPr>
          <p:cNvSpPr txBox="1"/>
          <p:nvPr/>
        </p:nvSpPr>
        <p:spPr>
          <a:xfrm>
            <a:off x="482600" y="22098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在每层 </a:t>
            </a: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visual-token hidden state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上插入零扰动。</a:t>
            </a:r>
          </a:p>
          <a:p>
            <a:pPr>
              <a:spcAft>
                <a:spcPts val="800"/>
              </a:spcAft>
            </a:pP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分别求旧知识 </a:t>
            </a: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model_pred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与新知识 </a:t>
            </a: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alt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的视觉梯度。</a:t>
            </a:r>
          </a:p>
          <a:p>
            <a:pPr>
              <a:spcAft>
                <a:spcPts val="800"/>
              </a:spcAft>
            </a:pP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7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个基础公式＋</a:t>
            </a: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个深度加权指标并行输出 </a:t>
            </a: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Top-K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02CE6763-D707-92C7-BB3F-0B4836E0ACC5}"/>
              </a:ext>
            </a:extLst>
          </p:cNvPr>
          <p:cNvSpPr/>
          <p:nvPr/>
        </p:nvSpPr>
        <p:spPr>
          <a:xfrm>
            <a:off x="6426200" y="2527300"/>
            <a:ext cx="228600" cy="228600"/>
          </a:xfrm>
          <a:prstGeom prst="rightArrow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8C646DA1-C894-65FC-B4B6-2FA7E9448659}"/>
              </a:ext>
            </a:extLst>
          </p:cNvPr>
          <p:cNvSpPr/>
          <p:nvPr/>
        </p:nvSpPr>
        <p:spPr>
          <a:xfrm>
            <a:off x="8280400" y="2527300"/>
            <a:ext cx="228600" cy="228600"/>
          </a:xfrm>
          <a:prstGeom prst="rightArrow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6E511648-E2D6-C547-F935-0D7520D92E2C}"/>
              </a:ext>
            </a:extLst>
          </p:cNvPr>
          <p:cNvSpPr/>
          <p:nvPr/>
        </p:nvSpPr>
        <p:spPr>
          <a:xfrm>
            <a:off x="10134600" y="2527300"/>
            <a:ext cx="228600" cy="228600"/>
          </a:xfrm>
          <a:prstGeom prst="rightArrow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flow-node-0">
            <a:extLst>
              <a:ext uri="{FF2B5EF4-FFF2-40B4-BE49-F238E27FC236}">
                <a16:creationId xmlns:a16="http://schemas.microsoft.com/office/drawing/2014/main" id="{5E82858D-95EF-EA84-DBB2-DE1DAA789CC6}"/>
              </a:ext>
            </a:extLst>
          </p:cNvPr>
          <p:cNvSpPr/>
          <p:nvPr/>
        </p:nvSpPr>
        <p:spPr>
          <a:xfrm>
            <a:off x="4826000" y="2095500"/>
            <a:ext cx="1574800" cy="10922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对齐旧</a:t>
            </a:r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新目标</a:t>
            </a:r>
          </a:p>
        </p:txBody>
      </p:sp>
      <p:sp>
        <p:nvSpPr>
          <p:cNvPr id="12" name="flow-node-1">
            <a:extLst>
              <a:ext uri="{FF2B5EF4-FFF2-40B4-BE49-F238E27FC236}">
                <a16:creationId xmlns:a16="http://schemas.microsoft.com/office/drawing/2014/main" id="{44AA5282-4663-0DFF-E98B-CB1DEDFF1BD6}"/>
              </a:ext>
            </a:extLst>
          </p:cNvPr>
          <p:cNvSpPr/>
          <p:nvPr/>
        </p:nvSpPr>
        <p:spPr>
          <a:xfrm>
            <a:off x="6680200" y="2095500"/>
            <a:ext cx="1574800" cy="10922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提取视觉隐藏梯度</a:t>
            </a:r>
          </a:p>
        </p:txBody>
      </p:sp>
      <p:sp>
        <p:nvSpPr>
          <p:cNvPr id="13" name="flow-node-2">
            <a:extLst>
              <a:ext uri="{FF2B5EF4-FFF2-40B4-BE49-F238E27FC236}">
                <a16:creationId xmlns:a16="http://schemas.microsoft.com/office/drawing/2014/main" id="{B7FC93D2-A2AB-88E5-2825-387B1F50A3DE}"/>
              </a:ext>
            </a:extLst>
          </p:cNvPr>
          <p:cNvSpPr/>
          <p:nvPr/>
        </p:nvSpPr>
        <p:spPr>
          <a:xfrm>
            <a:off x="8534400" y="2095500"/>
            <a:ext cx="1574800" cy="10922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计算 </a:t>
            </a:r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 </a:t>
            </a:r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个候选公式</a:t>
            </a:r>
          </a:p>
        </p:txBody>
      </p:sp>
      <p:sp>
        <p:nvSpPr>
          <p:cNvPr id="14" name="flow-node-3">
            <a:extLst>
              <a:ext uri="{FF2B5EF4-FFF2-40B4-BE49-F238E27FC236}">
                <a16:creationId xmlns:a16="http://schemas.microsoft.com/office/drawing/2014/main" id="{347542E1-7F13-0D0D-A0E9-2F7610454FDB}"/>
              </a:ext>
            </a:extLst>
          </p:cNvPr>
          <p:cNvSpPr/>
          <p:nvPr/>
        </p:nvSpPr>
        <p:spPr>
          <a:xfrm>
            <a:off x="10388600" y="2095500"/>
            <a:ext cx="1574800" cy="10922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zh-CN" altLang="en-US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直接输出公式级 </a:t>
            </a:r>
            <a:r>
              <a:rPr lang="en-US" altLang="zh-CN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Top-K</a:t>
            </a:r>
            <a:endParaRPr lang="zh-CN" altLang="en-US" sz="1600" b="1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E62A1CD-3357-564C-103C-B403E70099B4}"/>
              </a:ext>
            </a:extLst>
          </p:cNvPr>
          <p:cNvSpPr txBox="1"/>
          <p:nvPr/>
        </p:nvSpPr>
        <p:spPr>
          <a:xfrm>
            <a:off x="4826000" y="36322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统一案例：</a:t>
            </a:r>
            <a:r>
              <a:rPr lang="en-US" altLang="zh-CN" sz="1600" b="1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MMKE-visual × Qwen2.5-VL-3B</a:t>
            </a:r>
            <a:endParaRPr lang="zh-CN" altLang="en-US" sz="1600" b="1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result-top3">
            <a:extLst>
              <a:ext uri="{FF2B5EF4-FFF2-40B4-BE49-F238E27FC236}">
                <a16:creationId xmlns:a16="http://schemas.microsoft.com/office/drawing/2014/main" id="{EB8EC358-D0EE-8270-D2DF-A69574D59D2D}"/>
              </a:ext>
            </a:extLst>
          </p:cNvPr>
          <p:cNvSpPr/>
          <p:nvPr/>
        </p:nvSpPr>
        <p:spPr>
          <a:xfrm>
            <a:off x="4826000" y="4089400"/>
            <a:ext cx="3111500" cy="7366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20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Top-3</a:t>
            </a:r>
            <a:r>
              <a:rPr lang="zh-CN" altLang="en-US" sz="20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20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L0, L1, L2</a:t>
            </a:r>
            <a:endParaRPr lang="zh-CN" altLang="en-US" sz="2000" b="1">
              <a:solidFill>
                <a:srgbClr val="2563E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result-performance">
            <a:extLst>
              <a:ext uri="{FF2B5EF4-FFF2-40B4-BE49-F238E27FC236}">
                <a16:creationId xmlns:a16="http://schemas.microsoft.com/office/drawing/2014/main" id="{1E3064B8-3494-FB77-9EE5-F40185115BAB}"/>
              </a:ext>
            </a:extLst>
          </p:cNvPr>
          <p:cNvSpPr/>
          <p:nvPr/>
        </p:nvSpPr>
        <p:spPr>
          <a:xfrm>
            <a:off x="8191500" y="4089400"/>
            <a:ext cx="3111500" cy="736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7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Best@3 70.42  |  Mean@3 69.94</a:t>
            </a:r>
            <a:endParaRPr lang="zh-CN" altLang="en-US" sz="1700" b="1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04DA237-3DB2-0D6E-645C-07D21F25031A}"/>
              </a:ext>
            </a:extLst>
          </p:cNvPr>
          <p:cNvSpPr txBox="1"/>
          <p:nvPr/>
        </p:nvSpPr>
        <p:spPr>
          <a:xfrm>
            <a:off x="4826000" y="5080000"/>
            <a:ext cx="647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解释边界：当前主候选 </a:t>
            </a:r>
            <a:r>
              <a:rPr lang="en-US" altLang="zh-CN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M_abscos_x_newn = |cos| × new_norm</a:t>
            </a:r>
            <a:r>
              <a:rPr lang="zh-CN" altLang="en-US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；仍是暂定主公式。</a:t>
            </a:r>
          </a:p>
        </p:txBody>
      </p:sp>
    </p:spTree>
    <p:extLst>
      <p:ext uri="{BB962C8B-B14F-4D97-AF65-F5344CB8AC3E}">
        <p14:creationId xmlns:p14="http://schemas.microsoft.com/office/powerpoint/2010/main" val="40892197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>
            <a:extLst>
              <a:ext uri="{FF2B5EF4-FFF2-40B4-BE49-F238E27FC236}">
                <a16:creationId xmlns:a16="http://schemas.microsoft.com/office/drawing/2014/main" id="{0B28831C-354C-5BA5-091C-96CFFCA4FE92}"/>
              </a:ext>
            </a:extLst>
          </p:cNvPr>
          <p:cNvSpPr txBox="1"/>
          <p:nvPr/>
        </p:nvSpPr>
        <p:spPr>
          <a:xfrm>
            <a:off x="457200" y="2794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定位结果热力图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94E51E46-AF21-68F7-8004-B90C119AED1D}"/>
              </a:ext>
            </a:extLst>
          </p:cNvPr>
          <p:cNvSpPr txBox="1"/>
          <p:nvPr/>
        </p:nvSpPr>
        <p:spPr>
          <a:xfrm>
            <a:off x="457200" y="609600"/>
            <a:ext cx="1130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35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同一模型上，</a:t>
            </a:r>
            <a:r>
              <a:rPr lang="en-US" altLang="zh-CN" sz="35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 </a:t>
            </a:r>
            <a:r>
              <a:rPr lang="zh-CN" altLang="en-US" sz="35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种方法给出的候选层高度分散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B770E277-AAD6-FBFE-02CD-2A0FA5DEBC60}"/>
              </a:ext>
            </a:extLst>
          </p:cNvPr>
          <p:cNvCxnSpPr/>
          <p:nvPr/>
        </p:nvCxnSpPr>
        <p:spPr>
          <a:xfrm>
            <a:off x="457200" y="1371600"/>
            <a:ext cx="11277600" cy="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age-number">
            <a:extLst>
              <a:ext uri="{FF2B5EF4-FFF2-40B4-BE49-F238E27FC236}">
                <a16:creationId xmlns:a16="http://schemas.microsoft.com/office/drawing/2014/main" id="{FE17468C-8E0C-2299-FB26-55B832425800}"/>
              </a:ext>
            </a:extLst>
          </p:cNvPr>
          <p:cNvSpPr txBox="1"/>
          <p:nvPr/>
        </p:nvSpPr>
        <p:spPr>
          <a:xfrm>
            <a:off x="11303000" y="64135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1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</a:t>
            </a:r>
            <a:endParaRPr lang="zh-CN" altLang="en-US" sz="110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CFC94EE-56D1-6A8E-9E9D-FBDC96E5FD8A}"/>
              </a:ext>
            </a:extLst>
          </p:cNvPr>
          <p:cNvSpPr txBox="1"/>
          <p:nvPr/>
        </p:nvSpPr>
        <p:spPr>
          <a:xfrm>
            <a:off x="2260600" y="1676400"/>
            <a:ext cx="2603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0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endParaRPr lang="zh-CN" altLang="en-US" sz="100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1E083BB-2896-E18A-4437-AD23C6DC3697}"/>
              </a:ext>
            </a:extLst>
          </p:cNvPr>
          <p:cNvSpPr txBox="1"/>
          <p:nvPr/>
        </p:nvSpPr>
        <p:spPr>
          <a:xfrm>
            <a:off x="2520950" y="1676400"/>
            <a:ext cx="2603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0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sz="100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7C0088A-57AE-BE7D-C796-32CF5DE3D655}"/>
              </a:ext>
            </a:extLst>
          </p:cNvPr>
          <p:cNvSpPr txBox="1"/>
          <p:nvPr/>
        </p:nvSpPr>
        <p:spPr>
          <a:xfrm>
            <a:off x="2781300" y="1676400"/>
            <a:ext cx="2603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0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100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5672CF3-5BDB-884C-84D9-5F3E9D33BF4C}"/>
              </a:ext>
            </a:extLst>
          </p:cNvPr>
          <p:cNvSpPr txBox="1"/>
          <p:nvPr/>
        </p:nvSpPr>
        <p:spPr>
          <a:xfrm>
            <a:off x="3041650" y="1676400"/>
            <a:ext cx="2603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0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zh-CN" altLang="en-US" sz="100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B896FCC-FBFC-E7F3-7AB4-FDCBCE5070BA}"/>
              </a:ext>
            </a:extLst>
          </p:cNvPr>
          <p:cNvSpPr txBox="1"/>
          <p:nvPr/>
        </p:nvSpPr>
        <p:spPr>
          <a:xfrm>
            <a:off x="3302000" y="1676400"/>
            <a:ext cx="2603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0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endParaRPr lang="zh-CN" altLang="en-US" sz="100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999F9EA-5552-AD90-599A-AF0842F9505B}"/>
              </a:ext>
            </a:extLst>
          </p:cNvPr>
          <p:cNvSpPr txBox="1"/>
          <p:nvPr/>
        </p:nvSpPr>
        <p:spPr>
          <a:xfrm>
            <a:off x="3562350" y="1676400"/>
            <a:ext cx="2603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0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endParaRPr lang="zh-CN" altLang="en-US" sz="100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8342620-6479-6588-1917-2C410FD2A4DA}"/>
              </a:ext>
            </a:extLst>
          </p:cNvPr>
          <p:cNvSpPr txBox="1"/>
          <p:nvPr/>
        </p:nvSpPr>
        <p:spPr>
          <a:xfrm>
            <a:off x="3822700" y="1676400"/>
            <a:ext cx="2603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0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endParaRPr lang="zh-CN" altLang="en-US" sz="100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2463963-638B-B7D4-4C92-EEB723576B44}"/>
              </a:ext>
            </a:extLst>
          </p:cNvPr>
          <p:cNvSpPr txBox="1"/>
          <p:nvPr/>
        </p:nvSpPr>
        <p:spPr>
          <a:xfrm>
            <a:off x="4083050" y="1676400"/>
            <a:ext cx="2603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0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</a:t>
            </a:r>
            <a:endParaRPr lang="zh-CN" altLang="en-US" sz="100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714C215-EC5A-FFE3-F0E5-5CE83F9196F2}"/>
              </a:ext>
            </a:extLst>
          </p:cNvPr>
          <p:cNvSpPr txBox="1"/>
          <p:nvPr/>
        </p:nvSpPr>
        <p:spPr>
          <a:xfrm>
            <a:off x="4343400" y="1676400"/>
            <a:ext cx="2603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0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</a:t>
            </a:r>
            <a:endParaRPr lang="zh-CN" altLang="en-US" sz="100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8734AE2-6D13-9CDE-C722-771032FF8F50}"/>
              </a:ext>
            </a:extLst>
          </p:cNvPr>
          <p:cNvSpPr txBox="1"/>
          <p:nvPr/>
        </p:nvSpPr>
        <p:spPr>
          <a:xfrm>
            <a:off x="4603750" y="1676400"/>
            <a:ext cx="2603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0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</a:t>
            </a:r>
            <a:endParaRPr lang="zh-CN" altLang="en-US" sz="100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5F7EDF0-9930-9DD9-2EC8-1718FCBACEAD}"/>
              </a:ext>
            </a:extLst>
          </p:cNvPr>
          <p:cNvSpPr txBox="1"/>
          <p:nvPr/>
        </p:nvSpPr>
        <p:spPr>
          <a:xfrm>
            <a:off x="4864100" y="1676400"/>
            <a:ext cx="2603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0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endParaRPr lang="zh-CN" altLang="en-US" sz="100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659C0C0-9363-04E9-8802-0D7EC651EE95}"/>
              </a:ext>
            </a:extLst>
          </p:cNvPr>
          <p:cNvSpPr txBox="1"/>
          <p:nvPr/>
        </p:nvSpPr>
        <p:spPr>
          <a:xfrm>
            <a:off x="5124450" y="1676400"/>
            <a:ext cx="2603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0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</a:t>
            </a:r>
            <a:endParaRPr lang="zh-CN" altLang="en-US" sz="100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FD0E86E-9535-F34A-A7EE-A634618C48F5}"/>
              </a:ext>
            </a:extLst>
          </p:cNvPr>
          <p:cNvSpPr txBox="1"/>
          <p:nvPr/>
        </p:nvSpPr>
        <p:spPr>
          <a:xfrm>
            <a:off x="5384800" y="1676400"/>
            <a:ext cx="2603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0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</a:t>
            </a:r>
            <a:endParaRPr lang="zh-CN" altLang="en-US" sz="100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641167D-3568-4704-C42B-595698060945}"/>
              </a:ext>
            </a:extLst>
          </p:cNvPr>
          <p:cNvSpPr txBox="1"/>
          <p:nvPr/>
        </p:nvSpPr>
        <p:spPr>
          <a:xfrm>
            <a:off x="5645150" y="1676400"/>
            <a:ext cx="2603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0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</a:t>
            </a:r>
            <a:endParaRPr lang="zh-CN" altLang="en-US" sz="100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6E16238-FD8D-EBE5-6071-E894BC7D6935}"/>
              </a:ext>
            </a:extLst>
          </p:cNvPr>
          <p:cNvSpPr txBox="1"/>
          <p:nvPr/>
        </p:nvSpPr>
        <p:spPr>
          <a:xfrm>
            <a:off x="5905500" y="1676400"/>
            <a:ext cx="2603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0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14</a:t>
            </a:r>
            <a:endParaRPr lang="zh-CN" altLang="en-US" sz="100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096F01E-3219-31D9-38F8-17EEF05F703D}"/>
              </a:ext>
            </a:extLst>
          </p:cNvPr>
          <p:cNvSpPr txBox="1"/>
          <p:nvPr/>
        </p:nvSpPr>
        <p:spPr>
          <a:xfrm>
            <a:off x="6165850" y="1676400"/>
            <a:ext cx="2603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0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</a:t>
            </a:r>
            <a:endParaRPr lang="zh-CN" altLang="en-US" sz="100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F60FB91-3740-DAE0-F667-0D31483A5B23}"/>
              </a:ext>
            </a:extLst>
          </p:cNvPr>
          <p:cNvSpPr txBox="1"/>
          <p:nvPr/>
        </p:nvSpPr>
        <p:spPr>
          <a:xfrm>
            <a:off x="6426200" y="1676400"/>
            <a:ext cx="2603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0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</a:t>
            </a:r>
            <a:endParaRPr lang="zh-CN" altLang="en-US" sz="100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B0EC2A6-494C-6370-C63A-01F5A74EBA55}"/>
              </a:ext>
            </a:extLst>
          </p:cNvPr>
          <p:cNvSpPr txBox="1"/>
          <p:nvPr/>
        </p:nvSpPr>
        <p:spPr>
          <a:xfrm>
            <a:off x="6686550" y="1676400"/>
            <a:ext cx="2603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0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17</a:t>
            </a:r>
            <a:endParaRPr lang="zh-CN" altLang="en-US" sz="100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713BC24-643E-5493-180B-90389A230B71}"/>
              </a:ext>
            </a:extLst>
          </p:cNvPr>
          <p:cNvSpPr txBox="1"/>
          <p:nvPr/>
        </p:nvSpPr>
        <p:spPr>
          <a:xfrm>
            <a:off x="6946900" y="1676400"/>
            <a:ext cx="2603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0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18</a:t>
            </a:r>
            <a:endParaRPr lang="zh-CN" altLang="en-US" sz="100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FCAD4C1-9AE4-8CED-587C-12A2BF0D2BB6}"/>
              </a:ext>
            </a:extLst>
          </p:cNvPr>
          <p:cNvSpPr txBox="1"/>
          <p:nvPr/>
        </p:nvSpPr>
        <p:spPr>
          <a:xfrm>
            <a:off x="7207250" y="1676400"/>
            <a:ext cx="2603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0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19</a:t>
            </a:r>
            <a:endParaRPr lang="zh-CN" altLang="en-US" sz="100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60EDB8C-F94F-76FB-BD4A-948FA7429751}"/>
              </a:ext>
            </a:extLst>
          </p:cNvPr>
          <p:cNvSpPr txBox="1"/>
          <p:nvPr/>
        </p:nvSpPr>
        <p:spPr>
          <a:xfrm>
            <a:off x="7467600" y="1676400"/>
            <a:ext cx="2603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0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</a:t>
            </a:r>
            <a:endParaRPr lang="zh-CN" altLang="en-US" sz="100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A38F699-4B84-9FBE-4F17-327E7E61DB41}"/>
              </a:ext>
            </a:extLst>
          </p:cNvPr>
          <p:cNvSpPr txBox="1"/>
          <p:nvPr/>
        </p:nvSpPr>
        <p:spPr>
          <a:xfrm>
            <a:off x="7727950" y="1676400"/>
            <a:ext cx="2603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0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21</a:t>
            </a:r>
            <a:endParaRPr lang="zh-CN" altLang="en-US" sz="100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DE6B511-A6DE-0B73-3368-88C54DCCE4E3}"/>
              </a:ext>
            </a:extLst>
          </p:cNvPr>
          <p:cNvSpPr txBox="1"/>
          <p:nvPr/>
        </p:nvSpPr>
        <p:spPr>
          <a:xfrm>
            <a:off x="7988300" y="1676400"/>
            <a:ext cx="2603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0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22</a:t>
            </a:r>
            <a:endParaRPr lang="zh-CN" altLang="en-US" sz="100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E3924E8-066A-ADA3-7965-4C0384944B3C}"/>
              </a:ext>
            </a:extLst>
          </p:cNvPr>
          <p:cNvSpPr txBox="1"/>
          <p:nvPr/>
        </p:nvSpPr>
        <p:spPr>
          <a:xfrm>
            <a:off x="8248650" y="1676400"/>
            <a:ext cx="2603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0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23</a:t>
            </a:r>
            <a:endParaRPr lang="zh-CN" altLang="en-US" sz="100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0616C58-467C-403F-61AF-6ABC0ADD38B2}"/>
              </a:ext>
            </a:extLst>
          </p:cNvPr>
          <p:cNvSpPr txBox="1"/>
          <p:nvPr/>
        </p:nvSpPr>
        <p:spPr>
          <a:xfrm>
            <a:off x="8509000" y="1676400"/>
            <a:ext cx="2603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0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24</a:t>
            </a:r>
            <a:endParaRPr lang="zh-CN" altLang="en-US" sz="100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A79FC84-5D13-A098-38FA-0362265D799A}"/>
              </a:ext>
            </a:extLst>
          </p:cNvPr>
          <p:cNvSpPr txBox="1"/>
          <p:nvPr/>
        </p:nvSpPr>
        <p:spPr>
          <a:xfrm>
            <a:off x="8769350" y="1676400"/>
            <a:ext cx="2603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0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25</a:t>
            </a:r>
            <a:endParaRPr lang="zh-CN" altLang="en-US" sz="100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5FB34C2-77F6-FE23-EAF0-3E4DBD19AC19}"/>
              </a:ext>
            </a:extLst>
          </p:cNvPr>
          <p:cNvSpPr txBox="1"/>
          <p:nvPr/>
        </p:nvSpPr>
        <p:spPr>
          <a:xfrm>
            <a:off x="9029700" y="1676400"/>
            <a:ext cx="2603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0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26</a:t>
            </a:r>
            <a:endParaRPr lang="zh-CN" altLang="en-US" sz="100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E9CA19D-1728-ED1D-B23A-E65C91D5F526}"/>
              </a:ext>
            </a:extLst>
          </p:cNvPr>
          <p:cNvSpPr txBox="1"/>
          <p:nvPr/>
        </p:nvSpPr>
        <p:spPr>
          <a:xfrm>
            <a:off x="9290050" y="1676400"/>
            <a:ext cx="2603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0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27</a:t>
            </a:r>
            <a:endParaRPr lang="zh-CN" altLang="en-US" sz="100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AF06AD1-1863-759C-1AF7-296A14F66072}"/>
              </a:ext>
            </a:extLst>
          </p:cNvPr>
          <p:cNvSpPr txBox="1"/>
          <p:nvPr/>
        </p:nvSpPr>
        <p:spPr>
          <a:xfrm>
            <a:off x="9550400" y="1676400"/>
            <a:ext cx="2603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0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28</a:t>
            </a:r>
            <a:endParaRPr lang="zh-CN" altLang="en-US" sz="100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7A0849D-F4C8-5920-FAD5-104BA5CCDD14}"/>
              </a:ext>
            </a:extLst>
          </p:cNvPr>
          <p:cNvSpPr txBox="1"/>
          <p:nvPr/>
        </p:nvSpPr>
        <p:spPr>
          <a:xfrm>
            <a:off x="9810750" y="1676400"/>
            <a:ext cx="2603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0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29</a:t>
            </a:r>
            <a:endParaRPr lang="zh-CN" altLang="en-US" sz="100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ACAE30D-130D-D891-4908-8188F8A5ABD5}"/>
              </a:ext>
            </a:extLst>
          </p:cNvPr>
          <p:cNvSpPr txBox="1"/>
          <p:nvPr/>
        </p:nvSpPr>
        <p:spPr>
          <a:xfrm>
            <a:off x="10071100" y="1676400"/>
            <a:ext cx="2603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0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</a:t>
            </a:r>
            <a:endParaRPr lang="zh-CN" altLang="en-US" sz="100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01EE4C5-2DAD-2526-3179-F113354CC263}"/>
              </a:ext>
            </a:extLst>
          </p:cNvPr>
          <p:cNvSpPr txBox="1"/>
          <p:nvPr/>
        </p:nvSpPr>
        <p:spPr>
          <a:xfrm>
            <a:off x="10331450" y="1676400"/>
            <a:ext cx="2603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0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31</a:t>
            </a:r>
            <a:endParaRPr lang="zh-CN" altLang="en-US" sz="100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7A710465-3CF7-818D-23C0-F9E24D781EDB}"/>
              </a:ext>
            </a:extLst>
          </p:cNvPr>
          <p:cNvSpPr txBox="1"/>
          <p:nvPr/>
        </p:nvSpPr>
        <p:spPr>
          <a:xfrm>
            <a:off x="10591800" y="1676400"/>
            <a:ext cx="2603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0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32</a:t>
            </a:r>
            <a:endParaRPr lang="zh-CN" altLang="en-US" sz="100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27D163B-38DB-9779-C303-6AAF57381D49}"/>
              </a:ext>
            </a:extLst>
          </p:cNvPr>
          <p:cNvSpPr txBox="1"/>
          <p:nvPr/>
        </p:nvSpPr>
        <p:spPr>
          <a:xfrm>
            <a:off x="10852150" y="1676400"/>
            <a:ext cx="2603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0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33</a:t>
            </a:r>
            <a:endParaRPr lang="zh-CN" altLang="en-US" sz="100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F7057CF-7D15-22E4-7EB5-4B5BB1020A48}"/>
              </a:ext>
            </a:extLst>
          </p:cNvPr>
          <p:cNvSpPr txBox="1"/>
          <p:nvPr/>
        </p:nvSpPr>
        <p:spPr>
          <a:xfrm>
            <a:off x="11112500" y="1676400"/>
            <a:ext cx="2603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0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34</a:t>
            </a:r>
            <a:endParaRPr lang="zh-CN" altLang="en-US" sz="100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28C5468-2C49-C4EB-45BF-AC31C6BA699B}"/>
              </a:ext>
            </a:extLst>
          </p:cNvPr>
          <p:cNvSpPr txBox="1"/>
          <p:nvPr/>
        </p:nvSpPr>
        <p:spPr>
          <a:xfrm>
            <a:off x="533400" y="2146300"/>
            <a:ext cx="160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Middle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D80EAE40-98D0-C808-8220-4A08F5D9AC22}"/>
              </a:ext>
            </a:extLst>
          </p:cNvPr>
          <p:cNvSpPr/>
          <p:nvPr/>
        </p:nvSpPr>
        <p:spPr>
          <a:xfrm>
            <a:off x="2260600" y="2057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1FAC6A05-60CA-703C-49B1-C625FFBC405D}"/>
              </a:ext>
            </a:extLst>
          </p:cNvPr>
          <p:cNvSpPr/>
          <p:nvPr/>
        </p:nvSpPr>
        <p:spPr>
          <a:xfrm>
            <a:off x="2520950" y="2057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D8678DF9-D1DC-3A2F-2B00-3F8B97526CF1}"/>
              </a:ext>
            </a:extLst>
          </p:cNvPr>
          <p:cNvSpPr/>
          <p:nvPr/>
        </p:nvSpPr>
        <p:spPr>
          <a:xfrm>
            <a:off x="2781300" y="2057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94ABD315-CC92-8091-1374-40372A36C55A}"/>
              </a:ext>
            </a:extLst>
          </p:cNvPr>
          <p:cNvSpPr/>
          <p:nvPr/>
        </p:nvSpPr>
        <p:spPr>
          <a:xfrm>
            <a:off x="3041650" y="2057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C19FCE56-338A-0836-B32B-461887706923}"/>
              </a:ext>
            </a:extLst>
          </p:cNvPr>
          <p:cNvSpPr/>
          <p:nvPr/>
        </p:nvSpPr>
        <p:spPr>
          <a:xfrm>
            <a:off x="3302000" y="2057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DC180E28-D357-BE97-500B-61F0BAC66678}"/>
              </a:ext>
            </a:extLst>
          </p:cNvPr>
          <p:cNvSpPr/>
          <p:nvPr/>
        </p:nvSpPr>
        <p:spPr>
          <a:xfrm>
            <a:off x="3562350" y="2057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58E0E60F-46C1-8DAE-A1E1-C7E46BD89D22}"/>
              </a:ext>
            </a:extLst>
          </p:cNvPr>
          <p:cNvSpPr/>
          <p:nvPr/>
        </p:nvSpPr>
        <p:spPr>
          <a:xfrm>
            <a:off x="3822700" y="2057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E7323D30-A9E5-B381-55D7-DBC6E59F6E98}"/>
              </a:ext>
            </a:extLst>
          </p:cNvPr>
          <p:cNvSpPr/>
          <p:nvPr/>
        </p:nvSpPr>
        <p:spPr>
          <a:xfrm>
            <a:off x="4083050" y="2057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81277D44-6ECB-C15F-D519-9E3A4704B86A}"/>
              </a:ext>
            </a:extLst>
          </p:cNvPr>
          <p:cNvSpPr/>
          <p:nvPr/>
        </p:nvSpPr>
        <p:spPr>
          <a:xfrm>
            <a:off x="4343400" y="2057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AF79FB9B-56E7-31A3-043C-6313A89E3DFC}"/>
              </a:ext>
            </a:extLst>
          </p:cNvPr>
          <p:cNvSpPr/>
          <p:nvPr/>
        </p:nvSpPr>
        <p:spPr>
          <a:xfrm>
            <a:off x="4603750" y="2057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C1E24681-8C3C-24E6-86B4-D6138862F336}"/>
              </a:ext>
            </a:extLst>
          </p:cNvPr>
          <p:cNvSpPr/>
          <p:nvPr/>
        </p:nvSpPr>
        <p:spPr>
          <a:xfrm>
            <a:off x="4864100" y="2057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06124BF5-0C56-C167-6690-991183E79DAE}"/>
              </a:ext>
            </a:extLst>
          </p:cNvPr>
          <p:cNvSpPr/>
          <p:nvPr/>
        </p:nvSpPr>
        <p:spPr>
          <a:xfrm>
            <a:off x="5124450" y="2057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D4992FF1-13AE-BC5C-DA0E-1B368D677ED4}"/>
              </a:ext>
            </a:extLst>
          </p:cNvPr>
          <p:cNvSpPr/>
          <p:nvPr/>
        </p:nvSpPr>
        <p:spPr>
          <a:xfrm>
            <a:off x="5384800" y="2057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2F002B26-AC1E-E617-CA06-7F581B251920}"/>
              </a:ext>
            </a:extLst>
          </p:cNvPr>
          <p:cNvSpPr/>
          <p:nvPr/>
        </p:nvSpPr>
        <p:spPr>
          <a:xfrm>
            <a:off x="5645150" y="2057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887258E3-E808-40C8-6351-02EE56B5B8FE}"/>
              </a:ext>
            </a:extLst>
          </p:cNvPr>
          <p:cNvSpPr/>
          <p:nvPr/>
        </p:nvSpPr>
        <p:spPr>
          <a:xfrm>
            <a:off x="5905500" y="2057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B9AFBAD5-5EA7-E1A2-5015-5CD6BF0B35A2}"/>
              </a:ext>
            </a:extLst>
          </p:cNvPr>
          <p:cNvSpPr/>
          <p:nvPr/>
        </p:nvSpPr>
        <p:spPr>
          <a:xfrm>
            <a:off x="6165850" y="2057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3924CD31-62E1-4E7D-A660-B0D20E11F2AB}"/>
              </a:ext>
            </a:extLst>
          </p:cNvPr>
          <p:cNvSpPr/>
          <p:nvPr/>
        </p:nvSpPr>
        <p:spPr>
          <a:xfrm>
            <a:off x="6426200" y="2057400"/>
            <a:ext cx="234950" cy="304800"/>
          </a:xfrm>
          <a:prstGeom prst="roundRect">
            <a:avLst/>
          </a:prstGeom>
          <a:solidFill>
            <a:srgbClr val="BFDBFE"/>
          </a:solidFill>
          <a:ln w="1270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0B6B4D94-AFE3-75E4-47C6-6F200392248C}"/>
              </a:ext>
            </a:extLst>
          </p:cNvPr>
          <p:cNvSpPr/>
          <p:nvPr/>
        </p:nvSpPr>
        <p:spPr>
          <a:xfrm>
            <a:off x="6686550" y="2057400"/>
            <a:ext cx="234950" cy="3048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FAF8CB39-0F9C-9130-6B50-EB6E29BB1AC4}"/>
              </a:ext>
            </a:extLst>
          </p:cNvPr>
          <p:cNvSpPr/>
          <p:nvPr/>
        </p:nvSpPr>
        <p:spPr>
          <a:xfrm>
            <a:off x="6946900" y="2057400"/>
            <a:ext cx="234950" cy="304800"/>
          </a:xfrm>
          <a:prstGeom prst="roundRect">
            <a:avLst/>
          </a:prstGeom>
          <a:solidFill>
            <a:srgbClr val="60A5FA"/>
          </a:solidFill>
          <a:ln w="12700">
            <a:solidFill>
              <a:srgbClr val="60A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54F6EEC4-F7B8-7361-9B4E-C97A7EA3B433}"/>
              </a:ext>
            </a:extLst>
          </p:cNvPr>
          <p:cNvSpPr/>
          <p:nvPr/>
        </p:nvSpPr>
        <p:spPr>
          <a:xfrm>
            <a:off x="7207250" y="2057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E95C1D94-35A3-8E15-E69D-7C4C77AA5968}"/>
              </a:ext>
            </a:extLst>
          </p:cNvPr>
          <p:cNvSpPr/>
          <p:nvPr/>
        </p:nvSpPr>
        <p:spPr>
          <a:xfrm>
            <a:off x="7467600" y="2057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CB26CDB3-CC2D-A3E8-5419-7E97E2F354DF}"/>
              </a:ext>
            </a:extLst>
          </p:cNvPr>
          <p:cNvSpPr/>
          <p:nvPr/>
        </p:nvSpPr>
        <p:spPr>
          <a:xfrm>
            <a:off x="7727950" y="2057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3101AFF9-15DB-E547-3C1C-B5F9332E3035}"/>
              </a:ext>
            </a:extLst>
          </p:cNvPr>
          <p:cNvSpPr/>
          <p:nvPr/>
        </p:nvSpPr>
        <p:spPr>
          <a:xfrm>
            <a:off x="7988300" y="2057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703001BF-CF9E-E040-FF54-BB56000FE963}"/>
              </a:ext>
            </a:extLst>
          </p:cNvPr>
          <p:cNvSpPr/>
          <p:nvPr/>
        </p:nvSpPr>
        <p:spPr>
          <a:xfrm>
            <a:off x="8248650" y="2057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7958F93D-4211-A433-A37F-595A6FCE412A}"/>
              </a:ext>
            </a:extLst>
          </p:cNvPr>
          <p:cNvSpPr/>
          <p:nvPr/>
        </p:nvSpPr>
        <p:spPr>
          <a:xfrm>
            <a:off x="8509000" y="2057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C5123DB4-60DE-59E3-C7C9-D989DF43BB1B}"/>
              </a:ext>
            </a:extLst>
          </p:cNvPr>
          <p:cNvSpPr/>
          <p:nvPr/>
        </p:nvSpPr>
        <p:spPr>
          <a:xfrm>
            <a:off x="8769350" y="2057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E3B95F17-24B6-C0ED-9E35-AD45027E4CAC}"/>
              </a:ext>
            </a:extLst>
          </p:cNvPr>
          <p:cNvSpPr/>
          <p:nvPr/>
        </p:nvSpPr>
        <p:spPr>
          <a:xfrm>
            <a:off x="9029700" y="2057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884D15F4-D63A-67F4-CA54-44D57107B822}"/>
              </a:ext>
            </a:extLst>
          </p:cNvPr>
          <p:cNvSpPr/>
          <p:nvPr/>
        </p:nvSpPr>
        <p:spPr>
          <a:xfrm>
            <a:off x="9290050" y="2057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875C495E-F6E0-E42A-F689-570550E60E1C}"/>
              </a:ext>
            </a:extLst>
          </p:cNvPr>
          <p:cNvSpPr/>
          <p:nvPr/>
        </p:nvSpPr>
        <p:spPr>
          <a:xfrm>
            <a:off x="9550400" y="2057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932A9006-90AE-6852-36F8-60B19DD2FA1D}"/>
              </a:ext>
            </a:extLst>
          </p:cNvPr>
          <p:cNvSpPr/>
          <p:nvPr/>
        </p:nvSpPr>
        <p:spPr>
          <a:xfrm>
            <a:off x="9810750" y="2057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F1872DCD-1BBC-CECA-CE32-289A38CB939D}"/>
              </a:ext>
            </a:extLst>
          </p:cNvPr>
          <p:cNvSpPr/>
          <p:nvPr/>
        </p:nvSpPr>
        <p:spPr>
          <a:xfrm>
            <a:off x="10071100" y="2057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FD161250-0267-750C-DB17-071804C7E3FE}"/>
              </a:ext>
            </a:extLst>
          </p:cNvPr>
          <p:cNvSpPr/>
          <p:nvPr/>
        </p:nvSpPr>
        <p:spPr>
          <a:xfrm>
            <a:off x="10331450" y="2057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C6668BA7-0B4D-3CB5-05BA-43D134DE09C7}"/>
              </a:ext>
            </a:extLst>
          </p:cNvPr>
          <p:cNvSpPr/>
          <p:nvPr/>
        </p:nvSpPr>
        <p:spPr>
          <a:xfrm>
            <a:off x="10591800" y="2057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E5D99709-35B9-1998-8317-986AA3F6AD6B}"/>
              </a:ext>
            </a:extLst>
          </p:cNvPr>
          <p:cNvSpPr/>
          <p:nvPr/>
        </p:nvSpPr>
        <p:spPr>
          <a:xfrm>
            <a:off x="10852150" y="2057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90CCF75C-EF3D-48DD-08B5-AF3C34D6F134}"/>
              </a:ext>
            </a:extLst>
          </p:cNvPr>
          <p:cNvSpPr/>
          <p:nvPr/>
        </p:nvSpPr>
        <p:spPr>
          <a:xfrm>
            <a:off x="11112500" y="2057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7AB81947-5498-70D1-9ECC-6901260925A0}"/>
              </a:ext>
            </a:extLst>
          </p:cNvPr>
          <p:cNvSpPr txBox="1"/>
          <p:nvPr/>
        </p:nvSpPr>
        <p:spPr>
          <a:xfrm>
            <a:off x="533400" y="2628900"/>
            <a:ext cx="160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VisEdit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A4377737-9632-8DEF-FB9D-FD0941E7CE7A}"/>
              </a:ext>
            </a:extLst>
          </p:cNvPr>
          <p:cNvSpPr/>
          <p:nvPr/>
        </p:nvSpPr>
        <p:spPr>
          <a:xfrm>
            <a:off x="2260600" y="2540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36B94636-932D-6BBB-2630-8D858D0865C7}"/>
              </a:ext>
            </a:extLst>
          </p:cNvPr>
          <p:cNvSpPr/>
          <p:nvPr/>
        </p:nvSpPr>
        <p:spPr>
          <a:xfrm>
            <a:off x="2520950" y="2540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852C6CEE-30E2-B47C-1040-2371D671ECAC}"/>
              </a:ext>
            </a:extLst>
          </p:cNvPr>
          <p:cNvSpPr/>
          <p:nvPr/>
        </p:nvSpPr>
        <p:spPr>
          <a:xfrm>
            <a:off x="2781300" y="2540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1" name="矩形: 圆角 80">
            <a:extLst>
              <a:ext uri="{FF2B5EF4-FFF2-40B4-BE49-F238E27FC236}">
                <a16:creationId xmlns:a16="http://schemas.microsoft.com/office/drawing/2014/main" id="{5F9C93D8-2FDC-43F4-E09D-16E1D24C26CD}"/>
              </a:ext>
            </a:extLst>
          </p:cNvPr>
          <p:cNvSpPr/>
          <p:nvPr/>
        </p:nvSpPr>
        <p:spPr>
          <a:xfrm>
            <a:off x="3041650" y="2540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59658A51-ADD4-7E42-A76D-10202001E882}"/>
              </a:ext>
            </a:extLst>
          </p:cNvPr>
          <p:cNvSpPr/>
          <p:nvPr/>
        </p:nvSpPr>
        <p:spPr>
          <a:xfrm>
            <a:off x="3302000" y="2540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3" name="矩形: 圆角 82">
            <a:extLst>
              <a:ext uri="{FF2B5EF4-FFF2-40B4-BE49-F238E27FC236}">
                <a16:creationId xmlns:a16="http://schemas.microsoft.com/office/drawing/2014/main" id="{3E4D4FEC-3C2F-27CB-D8EA-D2D7E634B69C}"/>
              </a:ext>
            </a:extLst>
          </p:cNvPr>
          <p:cNvSpPr/>
          <p:nvPr/>
        </p:nvSpPr>
        <p:spPr>
          <a:xfrm>
            <a:off x="3562350" y="2540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09C9EF15-EFEE-8B1A-7ADF-BBE57F7F554B}"/>
              </a:ext>
            </a:extLst>
          </p:cNvPr>
          <p:cNvSpPr/>
          <p:nvPr/>
        </p:nvSpPr>
        <p:spPr>
          <a:xfrm>
            <a:off x="3822700" y="2540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E37C0BF6-9FBA-1D08-F355-AAE81147CDD6}"/>
              </a:ext>
            </a:extLst>
          </p:cNvPr>
          <p:cNvSpPr/>
          <p:nvPr/>
        </p:nvSpPr>
        <p:spPr>
          <a:xfrm>
            <a:off x="4083050" y="2540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6" name="矩形: 圆角 85">
            <a:extLst>
              <a:ext uri="{FF2B5EF4-FFF2-40B4-BE49-F238E27FC236}">
                <a16:creationId xmlns:a16="http://schemas.microsoft.com/office/drawing/2014/main" id="{5C1F9430-6846-EA77-1E64-6C8625F27269}"/>
              </a:ext>
            </a:extLst>
          </p:cNvPr>
          <p:cNvSpPr/>
          <p:nvPr/>
        </p:nvSpPr>
        <p:spPr>
          <a:xfrm>
            <a:off x="4343400" y="2540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7442697D-F2F4-58AF-C0C3-FC0B5D062896}"/>
              </a:ext>
            </a:extLst>
          </p:cNvPr>
          <p:cNvSpPr/>
          <p:nvPr/>
        </p:nvSpPr>
        <p:spPr>
          <a:xfrm>
            <a:off x="4603750" y="2540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CB9D481A-B9B3-70B9-29C4-2AEB10CA0BA1}"/>
              </a:ext>
            </a:extLst>
          </p:cNvPr>
          <p:cNvSpPr/>
          <p:nvPr/>
        </p:nvSpPr>
        <p:spPr>
          <a:xfrm>
            <a:off x="4864100" y="2540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69747D62-68DB-EB7C-747C-3C79E6D7674F}"/>
              </a:ext>
            </a:extLst>
          </p:cNvPr>
          <p:cNvSpPr/>
          <p:nvPr/>
        </p:nvSpPr>
        <p:spPr>
          <a:xfrm>
            <a:off x="5124450" y="2540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0" name="矩形: 圆角 89">
            <a:extLst>
              <a:ext uri="{FF2B5EF4-FFF2-40B4-BE49-F238E27FC236}">
                <a16:creationId xmlns:a16="http://schemas.microsoft.com/office/drawing/2014/main" id="{C218DDF5-C3B9-9182-9D7C-4C3ADFFCD4BA}"/>
              </a:ext>
            </a:extLst>
          </p:cNvPr>
          <p:cNvSpPr/>
          <p:nvPr/>
        </p:nvSpPr>
        <p:spPr>
          <a:xfrm>
            <a:off x="5384800" y="2540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1" name="矩形: 圆角 90">
            <a:extLst>
              <a:ext uri="{FF2B5EF4-FFF2-40B4-BE49-F238E27FC236}">
                <a16:creationId xmlns:a16="http://schemas.microsoft.com/office/drawing/2014/main" id="{D49058E7-86BE-9500-E794-1D200E6F0109}"/>
              </a:ext>
            </a:extLst>
          </p:cNvPr>
          <p:cNvSpPr/>
          <p:nvPr/>
        </p:nvSpPr>
        <p:spPr>
          <a:xfrm>
            <a:off x="5645150" y="2540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2" name="矩形: 圆角 91">
            <a:extLst>
              <a:ext uri="{FF2B5EF4-FFF2-40B4-BE49-F238E27FC236}">
                <a16:creationId xmlns:a16="http://schemas.microsoft.com/office/drawing/2014/main" id="{BE2D2499-AD23-66EE-2E3E-308150F60A70}"/>
              </a:ext>
            </a:extLst>
          </p:cNvPr>
          <p:cNvSpPr/>
          <p:nvPr/>
        </p:nvSpPr>
        <p:spPr>
          <a:xfrm>
            <a:off x="5905500" y="2540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3" name="矩形: 圆角 92">
            <a:extLst>
              <a:ext uri="{FF2B5EF4-FFF2-40B4-BE49-F238E27FC236}">
                <a16:creationId xmlns:a16="http://schemas.microsoft.com/office/drawing/2014/main" id="{35944C28-9915-8006-71BC-B6DFBC05D9BE}"/>
              </a:ext>
            </a:extLst>
          </p:cNvPr>
          <p:cNvSpPr/>
          <p:nvPr/>
        </p:nvSpPr>
        <p:spPr>
          <a:xfrm>
            <a:off x="6165850" y="2540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4" name="矩形: 圆角 93">
            <a:extLst>
              <a:ext uri="{FF2B5EF4-FFF2-40B4-BE49-F238E27FC236}">
                <a16:creationId xmlns:a16="http://schemas.microsoft.com/office/drawing/2014/main" id="{6583369A-DDFF-CB5B-CE5F-DBAF81D4A5E1}"/>
              </a:ext>
            </a:extLst>
          </p:cNvPr>
          <p:cNvSpPr/>
          <p:nvPr/>
        </p:nvSpPr>
        <p:spPr>
          <a:xfrm>
            <a:off x="6426200" y="2540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5" name="矩形: 圆角 94">
            <a:extLst>
              <a:ext uri="{FF2B5EF4-FFF2-40B4-BE49-F238E27FC236}">
                <a16:creationId xmlns:a16="http://schemas.microsoft.com/office/drawing/2014/main" id="{55E5BCA3-3700-5D6A-69F3-436E06A479A4}"/>
              </a:ext>
            </a:extLst>
          </p:cNvPr>
          <p:cNvSpPr/>
          <p:nvPr/>
        </p:nvSpPr>
        <p:spPr>
          <a:xfrm>
            <a:off x="6686550" y="2540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6" name="矩形: 圆角 95">
            <a:extLst>
              <a:ext uri="{FF2B5EF4-FFF2-40B4-BE49-F238E27FC236}">
                <a16:creationId xmlns:a16="http://schemas.microsoft.com/office/drawing/2014/main" id="{9E322BDE-3DEA-B78F-D776-E0C35442CC69}"/>
              </a:ext>
            </a:extLst>
          </p:cNvPr>
          <p:cNvSpPr/>
          <p:nvPr/>
        </p:nvSpPr>
        <p:spPr>
          <a:xfrm>
            <a:off x="6946900" y="2540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7" name="矩形: 圆角 96">
            <a:extLst>
              <a:ext uri="{FF2B5EF4-FFF2-40B4-BE49-F238E27FC236}">
                <a16:creationId xmlns:a16="http://schemas.microsoft.com/office/drawing/2014/main" id="{96520E22-2257-F342-1EEB-3BAD0BCE78D5}"/>
              </a:ext>
            </a:extLst>
          </p:cNvPr>
          <p:cNvSpPr/>
          <p:nvPr/>
        </p:nvSpPr>
        <p:spPr>
          <a:xfrm>
            <a:off x="7207250" y="2540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8" name="矩形: 圆角 97">
            <a:extLst>
              <a:ext uri="{FF2B5EF4-FFF2-40B4-BE49-F238E27FC236}">
                <a16:creationId xmlns:a16="http://schemas.microsoft.com/office/drawing/2014/main" id="{F8FE8217-BABB-E619-1966-1ABFFC7FF87B}"/>
              </a:ext>
            </a:extLst>
          </p:cNvPr>
          <p:cNvSpPr/>
          <p:nvPr/>
        </p:nvSpPr>
        <p:spPr>
          <a:xfrm>
            <a:off x="7467600" y="2540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9" name="矩形: 圆角 98">
            <a:extLst>
              <a:ext uri="{FF2B5EF4-FFF2-40B4-BE49-F238E27FC236}">
                <a16:creationId xmlns:a16="http://schemas.microsoft.com/office/drawing/2014/main" id="{7BC167AC-75B3-A96B-020D-A67BEDD55685}"/>
              </a:ext>
            </a:extLst>
          </p:cNvPr>
          <p:cNvSpPr/>
          <p:nvPr/>
        </p:nvSpPr>
        <p:spPr>
          <a:xfrm>
            <a:off x="7727950" y="2540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0" name="矩形: 圆角 99">
            <a:extLst>
              <a:ext uri="{FF2B5EF4-FFF2-40B4-BE49-F238E27FC236}">
                <a16:creationId xmlns:a16="http://schemas.microsoft.com/office/drawing/2014/main" id="{2147B2EE-C5BB-4474-DA74-C7B8C83FE922}"/>
              </a:ext>
            </a:extLst>
          </p:cNvPr>
          <p:cNvSpPr/>
          <p:nvPr/>
        </p:nvSpPr>
        <p:spPr>
          <a:xfrm>
            <a:off x="7988300" y="2540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1" name="矩形: 圆角 100">
            <a:extLst>
              <a:ext uri="{FF2B5EF4-FFF2-40B4-BE49-F238E27FC236}">
                <a16:creationId xmlns:a16="http://schemas.microsoft.com/office/drawing/2014/main" id="{C09CBD45-A18E-6CCD-D235-15E6F617D3B0}"/>
              </a:ext>
            </a:extLst>
          </p:cNvPr>
          <p:cNvSpPr/>
          <p:nvPr/>
        </p:nvSpPr>
        <p:spPr>
          <a:xfrm>
            <a:off x="8248650" y="2540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2" name="矩形: 圆角 101">
            <a:extLst>
              <a:ext uri="{FF2B5EF4-FFF2-40B4-BE49-F238E27FC236}">
                <a16:creationId xmlns:a16="http://schemas.microsoft.com/office/drawing/2014/main" id="{D9EC0AD2-2692-9623-807C-F7358ED4653D}"/>
              </a:ext>
            </a:extLst>
          </p:cNvPr>
          <p:cNvSpPr/>
          <p:nvPr/>
        </p:nvSpPr>
        <p:spPr>
          <a:xfrm>
            <a:off x="8509000" y="2540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3" name="矩形: 圆角 102">
            <a:extLst>
              <a:ext uri="{FF2B5EF4-FFF2-40B4-BE49-F238E27FC236}">
                <a16:creationId xmlns:a16="http://schemas.microsoft.com/office/drawing/2014/main" id="{33111E2E-3C1E-D84B-F3DB-23E31F85BE28}"/>
              </a:ext>
            </a:extLst>
          </p:cNvPr>
          <p:cNvSpPr/>
          <p:nvPr/>
        </p:nvSpPr>
        <p:spPr>
          <a:xfrm>
            <a:off x="8769350" y="2540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4" name="矩形: 圆角 103">
            <a:extLst>
              <a:ext uri="{FF2B5EF4-FFF2-40B4-BE49-F238E27FC236}">
                <a16:creationId xmlns:a16="http://schemas.microsoft.com/office/drawing/2014/main" id="{14A4F556-FC61-A961-0954-20B42E88D118}"/>
              </a:ext>
            </a:extLst>
          </p:cNvPr>
          <p:cNvSpPr/>
          <p:nvPr/>
        </p:nvSpPr>
        <p:spPr>
          <a:xfrm>
            <a:off x="9029700" y="2540000"/>
            <a:ext cx="234950" cy="304800"/>
          </a:xfrm>
          <a:prstGeom prst="roundRect">
            <a:avLst/>
          </a:prstGeom>
          <a:solidFill>
            <a:srgbClr val="BFDBFE"/>
          </a:solidFill>
          <a:ln w="1270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B84EEE0B-3143-9D1F-5989-89F0B2320D29}"/>
              </a:ext>
            </a:extLst>
          </p:cNvPr>
          <p:cNvSpPr/>
          <p:nvPr/>
        </p:nvSpPr>
        <p:spPr>
          <a:xfrm>
            <a:off x="9290050" y="2540000"/>
            <a:ext cx="234950" cy="304800"/>
          </a:xfrm>
          <a:prstGeom prst="roundRect">
            <a:avLst/>
          </a:prstGeom>
          <a:solidFill>
            <a:srgbClr val="60A5FA"/>
          </a:solidFill>
          <a:ln w="12700">
            <a:solidFill>
              <a:srgbClr val="60A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6" name="矩形: 圆角 105">
            <a:extLst>
              <a:ext uri="{FF2B5EF4-FFF2-40B4-BE49-F238E27FC236}">
                <a16:creationId xmlns:a16="http://schemas.microsoft.com/office/drawing/2014/main" id="{A3D00697-8DED-11F8-2CD8-A5E71DD10B2B}"/>
              </a:ext>
            </a:extLst>
          </p:cNvPr>
          <p:cNvSpPr/>
          <p:nvPr/>
        </p:nvSpPr>
        <p:spPr>
          <a:xfrm>
            <a:off x="9550400" y="2540000"/>
            <a:ext cx="234950" cy="3048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4D879F7E-0769-7E0D-C184-08E4A832EA1B}"/>
              </a:ext>
            </a:extLst>
          </p:cNvPr>
          <p:cNvSpPr/>
          <p:nvPr/>
        </p:nvSpPr>
        <p:spPr>
          <a:xfrm>
            <a:off x="9810750" y="2540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8" name="矩形: 圆角 107">
            <a:extLst>
              <a:ext uri="{FF2B5EF4-FFF2-40B4-BE49-F238E27FC236}">
                <a16:creationId xmlns:a16="http://schemas.microsoft.com/office/drawing/2014/main" id="{D28B221E-213E-B870-685F-A8244EFF1751}"/>
              </a:ext>
            </a:extLst>
          </p:cNvPr>
          <p:cNvSpPr/>
          <p:nvPr/>
        </p:nvSpPr>
        <p:spPr>
          <a:xfrm>
            <a:off x="10071100" y="2540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9" name="矩形: 圆角 108">
            <a:extLst>
              <a:ext uri="{FF2B5EF4-FFF2-40B4-BE49-F238E27FC236}">
                <a16:creationId xmlns:a16="http://schemas.microsoft.com/office/drawing/2014/main" id="{653F9F85-60A6-B890-983E-72C81B5B9F15}"/>
              </a:ext>
            </a:extLst>
          </p:cNvPr>
          <p:cNvSpPr/>
          <p:nvPr/>
        </p:nvSpPr>
        <p:spPr>
          <a:xfrm>
            <a:off x="10331450" y="2540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0" name="矩形: 圆角 109">
            <a:extLst>
              <a:ext uri="{FF2B5EF4-FFF2-40B4-BE49-F238E27FC236}">
                <a16:creationId xmlns:a16="http://schemas.microsoft.com/office/drawing/2014/main" id="{E09FEC33-E76B-F4C9-4188-83A333BF2074}"/>
              </a:ext>
            </a:extLst>
          </p:cNvPr>
          <p:cNvSpPr/>
          <p:nvPr/>
        </p:nvSpPr>
        <p:spPr>
          <a:xfrm>
            <a:off x="10591800" y="2540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1" name="矩形: 圆角 110">
            <a:extLst>
              <a:ext uri="{FF2B5EF4-FFF2-40B4-BE49-F238E27FC236}">
                <a16:creationId xmlns:a16="http://schemas.microsoft.com/office/drawing/2014/main" id="{CBB625F6-9DC5-03F7-35E4-5E10E85FC2B8}"/>
              </a:ext>
            </a:extLst>
          </p:cNvPr>
          <p:cNvSpPr/>
          <p:nvPr/>
        </p:nvSpPr>
        <p:spPr>
          <a:xfrm>
            <a:off x="10852150" y="2540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2" name="矩形: 圆角 111">
            <a:extLst>
              <a:ext uri="{FF2B5EF4-FFF2-40B4-BE49-F238E27FC236}">
                <a16:creationId xmlns:a16="http://schemas.microsoft.com/office/drawing/2014/main" id="{A30CCEAC-37AD-E20E-F69F-623A4F42E289}"/>
              </a:ext>
            </a:extLst>
          </p:cNvPr>
          <p:cNvSpPr/>
          <p:nvPr/>
        </p:nvSpPr>
        <p:spPr>
          <a:xfrm>
            <a:off x="11112500" y="2540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1A86A5A6-43C4-9492-735B-9AA9258770C1}"/>
              </a:ext>
            </a:extLst>
          </p:cNvPr>
          <p:cNvSpPr txBox="1"/>
          <p:nvPr/>
        </p:nvSpPr>
        <p:spPr>
          <a:xfrm>
            <a:off x="533400" y="3111500"/>
            <a:ext cx="160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SaLEM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4" name="矩形: 圆角 113">
            <a:extLst>
              <a:ext uri="{FF2B5EF4-FFF2-40B4-BE49-F238E27FC236}">
                <a16:creationId xmlns:a16="http://schemas.microsoft.com/office/drawing/2014/main" id="{D66BD541-EC42-7415-DC16-DE898688BD63}"/>
              </a:ext>
            </a:extLst>
          </p:cNvPr>
          <p:cNvSpPr/>
          <p:nvPr/>
        </p:nvSpPr>
        <p:spPr>
          <a:xfrm>
            <a:off x="2260600" y="30226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5" name="矩形: 圆角 114">
            <a:extLst>
              <a:ext uri="{FF2B5EF4-FFF2-40B4-BE49-F238E27FC236}">
                <a16:creationId xmlns:a16="http://schemas.microsoft.com/office/drawing/2014/main" id="{9013FF7E-46F6-A6C3-ACE5-EB5C80D09C67}"/>
              </a:ext>
            </a:extLst>
          </p:cNvPr>
          <p:cNvSpPr/>
          <p:nvPr/>
        </p:nvSpPr>
        <p:spPr>
          <a:xfrm>
            <a:off x="2520950" y="30226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6" name="矩形: 圆角 115">
            <a:extLst>
              <a:ext uri="{FF2B5EF4-FFF2-40B4-BE49-F238E27FC236}">
                <a16:creationId xmlns:a16="http://schemas.microsoft.com/office/drawing/2014/main" id="{F9B8E1AD-69C0-C875-AA1B-F6749943FCCB}"/>
              </a:ext>
            </a:extLst>
          </p:cNvPr>
          <p:cNvSpPr/>
          <p:nvPr/>
        </p:nvSpPr>
        <p:spPr>
          <a:xfrm>
            <a:off x="2781300" y="30226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7" name="矩形: 圆角 116">
            <a:extLst>
              <a:ext uri="{FF2B5EF4-FFF2-40B4-BE49-F238E27FC236}">
                <a16:creationId xmlns:a16="http://schemas.microsoft.com/office/drawing/2014/main" id="{18CEBABA-206C-002E-13F6-45F290532680}"/>
              </a:ext>
            </a:extLst>
          </p:cNvPr>
          <p:cNvSpPr/>
          <p:nvPr/>
        </p:nvSpPr>
        <p:spPr>
          <a:xfrm>
            <a:off x="3041650" y="30226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8" name="矩形: 圆角 117">
            <a:extLst>
              <a:ext uri="{FF2B5EF4-FFF2-40B4-BE49-F238E27FC236}">
                <a16:creationId xmlns:a16="http://schemas.microsoft.com/office/drawing/2014/main" id="{9F8773EA-2DA5-ED0D-6C6D-CA39B6CEB5A5}"/>
              </a:ext>
            </a:extLst>
          </p:cNvPr>
          <p:cNvSpPr/>
          <p:nvPr/>
        </p:nvSpPr>
        <p:spPr>
          <a:xfrm>
            <a:off x="3302000" y="30226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9" name="矩形: 圆角 118">
            <a:extLst>
              <a:ext uri="{FF2B5EF4-FFF2-40B4-BE49-F238E27FC236}">
                <a16:creationId xmlns:a16="http://schemas.microsoft.com/office/drawing/2014/main" id="{47BCC513-1B3E-9BA9-188A-8F0E1498C3AA}"/>
              </a:ext>
            </a:extLst>
          </p:cNvPr>
          <p:cNvSpPr/>
          <p:nvPr/>
        </p:nvSpPr>
        <p:spPr>
          <a:xfrm>
            <a:off x="3562350" y="30226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0" name="矩形: 圆角 119">
            <a:extLst>
              <a:ext uri="{FF2B5EF4-FFF2-40B4-BE49-F238E27FC236}">
                <a16:creationId xmlns:a16="http://schemas.microsoft.com/office/drawing/2014/main" id="{037F3645-7B67-0830-BA62-1BA714AA5697}"/>
              </a:ext>
            </a:extLst>
          </p:cNvPr>
          <p:cNvSpPr/>
          <p:nvPr/>
        </p:nvSpPr>
        <p:spPr>
          <a:xfrm>
            <a:off x="3822700" y="30226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1" name="矩形: 圆角 120">
            <a:extLst>
              <a:ext uri="{FF2B5EF4-FFF2-40B4-BE49-F238E27FC236}">
                <a16:creationId xmlns:a16="http://schemas.microsoft.com/office/drawing/2014/main" id="{75A37699-8C83-D0F7-9882-59C8F81CB79C}"/>
              </a:ext>
            </a:extLst>
          </p:cNvPr>
          <p:cNvSpPr/>
          <p:nvPr/>
        </p:nvSpPr>
        <p:spPr>
          <a:xfrm>
            <a:off x="4083050" y="30226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2" name="矩形: 圆角 121">
            <a:extLst>
              <a:ext uri="{FF2B5EF4-FFF2-40B4-BE49-F238E27FC236}">
                <a16:creationId xmlns:a16="http://schemas.microsoft.com/office/drawing/2014/main" id="{EEB8E39E-9548-8407-55DD-94351BF4F806}"/>
              </a:ext>
            </a:extLst>
          </p:cNvPr>
          <p:cNvSpPr/>
          <p:nvPr/>
        </p:nvSpPr>
        <p:spPr>
          <a:xfrm>
            <a:off x="4343400" y="30226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3" name="矩形: 圆角 122">
            <a:extLst>
              <a:ext uri="{FF2B5EF4-FFF2-40B4-BE49-F238E27FC236}">
                <a16:creationId xmlns:a16="http://schemas.microsoft.com/office/drawing/2014/main" id="{8BD20821-7DD4-C616-F237-B86F97EA16C8}"/>
              </a:ext>
            </a:extLst>
          </p:cNvPr>
          <p:cNvSpPr/>
          <p:nvPr/>
        </p:nvSpPr>
        <p:spPr>
          <a:xfrm>
            <a:off x="4603750" y="30226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4" name="矩形: 圆角 123">
            <a:extLst>
              <a:ext uri="{FF2B5EF4-FFF2-40B4-BE49-F238E27FC236}">
                <a16:creationId xmlns:a16="http://schemas.microsoft.com/office/drawing/2014/main" id="{6BDA6C8C-D277-6EBE-7F0E-16A8A858AC51}"/>
              </a:ext>
            </a:extLst>
          </p:cNvPr>
          <p:cNvSpPr/>
          <p:nvPr/>
        </p:nvSpPr>
        <p:spPr>
          <a:xfrm>
            <a:off x="4864100" y="30226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5" name="矩形: 圆角 124">
            <a:extLst>
              <a:ext uri="{FF2B5EF4-FFF2-40B4-BE49-F238E27FC236}">
                <a16:creationId xmlns:a16="http://schemas.microsoft.com/office/drawing/2014/main" id="{31BBF701-494F-57A2-2AEE-45E2CA91ECEC}"/>
              </a:ext>
            </a:extLst>
          </p:cNvPr>
          <p:cNvSpPr/>
          <p:nvPr/>
        </p:nvSpPr>
        <p:spPr>
          <a:xfrm>
            <a:off x="5124450" y="3022600"/>
            <a:ext cx="234950" cy="304800"/>
          </a:xfrm>
          <a:prstGeom prst="roundRect">
            <a:avLst/>
          </a:prstGeom>
          <a:solidFill>
            <a:srgbClr val="60A5FA"/>
          </a:solidFill>
          <a:ln w="12700">
            <a:solidFill>
              <a:srgbClr val="60A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6" name="矩形: 圆角 125">
            <a:extLst>
              <a:ext uri="{FF2B5EF4-FFF2-40B4-BE49-F238E27FC236}">
                <a16:creationId xmlns:a16="http://schemas.microsoft.com/office/drawing/2014/main" id="{C3B8E2D3-9F32-CE6C-3CAC-15D61DDE8B50}"/>
              </a:ext>
            </a:extLst>
          </p:cNvPr>
          <p:cNvSpPr/>
          <p:nvPr/>
        </p:nvSpPr>
        <p:spPr>
          <a:xfrm>
            <a:off x="5384800" y="3022600"/>
            <a:ext cx="234950" cy="3048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7" name="矩形: 圆角 126">
            <a:extLst>
              <a:ext uri="{FF2B5EF4-FFF2-40B4-BE49-F238E27FC236}">
                <a16:creationId xmlns:a16="http://schemas.microsoft.com/office/drawing/2014/main" id="{7754040F-318C-E051-FFCB-D542CDD08B30}"/>
              </a:ext>
            </a:extLst>
          </p:cNvPr>
          <p:cNvSpPr/>
          <p:nvPr/>
        </p:nvSpPr>
        <p:spPr>
          <a:xfrm>
            <a:off x="5645150" y="30226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8" name="矩形: 圆角 127">
            <a:extLst>
              <a:ext uri="{FF2B5EF4-FFF2-40B4-BE49-F238E27FC236}">
                <a16:creationId xmlns:a16="http://schemas.microsoft.com/office/drawing/2014/main" id="{F1C7CFF0-0768-0867-FF83-CD8C6BEF333B}"/>
              </a:ext>
            </a:extLst>
          </p:cNvPr>
          <p:cNvSpPr/>
          <p:nvPr/>
        </p:nvSpPr>
        <p:spPr>
          <a:xfrm>
            <a:off x="5905500" y="3022600"/>
            <a:ext cx="234950" cy="304800"/>
          </a:xfrm>
          <a:prstGeom prst="roundRect">
            <a:avLst/>
          </a:prstGeom>
          <a:solidFill>
            <a:srgbClr val="BFDBFE"/>
          </a:solidFill>
          <a:ln w="1270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9" name="矩形: 圆角 128">
            <a:extLst>
              <a:ext uri="{FF2B5EF4-FFF2-40B4-BE49-F238E27FC236}">
                <a16:creationId xmlns:a16="http://schemas.microsoft.com/office/drawing/2014/main" id="{00DA424D-1E1C-DC23-CA5E-65CB56423237}"/>
              </a:ext>
            </a:extLst>
          </p:cNvPr>
          <p:cNvSpPr/>
          <p:nvPr/>
        </p:nvSpPr>
        <p:spPr>
          <a:xfrm>
            <a:off x="6165850" y="30226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0" name="矩形: 圆角 129">
            <a:extLst>
              <a:ext uri="{FF2B5EF4-FFF2-40B4-BE49-F238E27FC236}">
                <a16:creationId xmlns:a16="http://schemas.microsoft.com/office/drawing/2014/main" id="{CAC54CD6-0C14-D271-F816-B84D4E7B5049}"/>
              </a:ext>
            </a:extLst>
          </p:cNvPr>
          <p:cNvSpPr/>
          <p:nvPr/>
        </p:nvSpPr>
        <p:spPr>
          <a:xfrm>
            <a:off x="6426200" y="30226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1" name="矩形: 圆角 130">
            <a:extLst>
              <a:ext uri="{FF2B5EF4-FFF2-40B4-BE49-F238E27FC236}">
                <a16:creationId xmlns:a16="http://schemas.microsoft.com/office/drawing/2014/main" id="{ADE1A2C7-471B-3F89-7204-7B17A98F971C}"/>
              </a:ext>
            </a:extLst>
          </p:cNvPr>
          <p:cNvSpPr/>
          <p:nvPr/>
        </p:nvSpPr>
        <p:spPr>
          <a:xfrm>
            <a:off x="6686550" y="30226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2" name="矩形: 圆角 131">
            <a:extLst>
              <a:ext uri="{FF2B5EF4-FFF2-40B4-BE49-F238E27FC236}">
                <a16:creationId xmlns:a16="http://schemas.microsoft.com/office/drawing/2014/main" id="{31201F80-58FD-ECBA-F289-C99AA2BFFA8B}"/>
              </a:ext>
            </a:extLst>
          </p:cNvPr>
          <p:cNvSpPr/>
          <p:nvPr/>
        </p:nvSpPr>
        <p:spPr>
          <a:xfrm>
            <a:off x="6946900" y="30226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3" name="矩形: 圆角 132">
            <a:extLst>
              <a:ext uri="{FF2B5EF4-FFF2-40B4-BE49-F238E27FC236}">
                <a16:creationId xmlns:a16="http://schemas.microsoft.com/office/drawing/2014/main" id="{57F6FA33-629E-1B79-C0E6-9F236DE86A83}"/>
              </a:ext>
            </a:extLst>
          </p:cNvPr>
          <p:cNvSpPr/>
          <p:nvPr/>
        </p:nvSpPr>
        <p:spPr>
          <a:xfrm>
            <a:off x="7207250" y="30226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4" name="矩形: 圆角 133">
            <a:extLst>
              <a:ext uri="{FF2B5EF4-FFF2-40B4-BE49-F238E27FC236}">
                <a16:creationId xmlns:a16="http://schemas.microsoft.com/office/drawing/2014/main" id="{CD43A3BF-030D-5A59-2E06-14B8A3291655}"/>
              </a:ext>
            </a:extLst>
          </p:cNvPr>
          <p:cNvSpPr/>
          <p:nvPr/>
        </p:nvSpPr>
        <p:spPr>
          <a:xfrm>
            <a:off x="7467600" y="30226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5" name="矩形: 圆角 134">
            <a:extLst>
              <a:ext uri="{FF2B5EF4-FFF2-40B4-BE49-F238E27FC236}">
                <a16:creationId xmlns:a16="http://schemas.microsoft.com/office/drawing/2014/main" id="{98ABED39-424E-0DD5-8341-74B73D43671D}"/>
              </a:ext>
            </a:extLst>
          </p:cNvPr>
          <p:cNvSpPr/>
          <p:nvPr/>
        </p:nvSpPr>
        <p:spPr>
          <a:xfrm>
            <a:off x="7727950" y="30226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6" name="矩形: 圆角 135">
            <a:extLst>
              <a:ext uri="{FF2B5EF4-FFF2-40B4-BE49-F238E27FC236}">
                <a16:creationId xmlns:a16="http://schemas.microsoft.com/office/drawing/2014/main" id="{508FB953-4F16-4704-3F12-2D2E0BE2CB04}"/>
              </a:ext>
            </a:extLst>
          </p:cNvPr>
          <p:cNvSpPr/>
          <p:nvPr/>
        </p:nvSpPr>
        <p:spPr>
          <a:xfrm>
            <a:off x="7988300" y="30226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7" name="矩形: 圆角 136">
            <a:extLst>
              <a:ext uri="{FF2B5EF4-FFF2-40B4-BE49-F238E27FC236}">
                <a16:creationId xmlns:a16="http://schemas.microsoft.com/office/drawing/2014/main" id="{A70CDFA7-3A96-CFF4-39D6-C57C492C1211}"/>
              </a:ext>
            </a:extLst>
          </p:cNvPr>
          <p:cNvSpPr/>
          <p:nvPr/>
        </p:nvSpPr>
        <p:spPr>
          <a:xfrm>
            <a:off x="8248650" y="30226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8" name="矩形: 圆角 137">
            <a:extLst>
              <a:ext uri="{FF2B5EF4-FFF2-40B4-BE49-F238E27FC236}">
                <a16:creationId xmlns:a16="http://schemas.microsoft.com/office/drawing/2014/main" id="{99D48FB2-5F48-8F95-4E10-992D1A9F6E4B}"/>
              </a:ext>
            </a:extLst>
          </p:cNvPr>
          <p:cNvSpPr/>
          <p:nvPr/>
        </p:nvSpPr>
        <p:spPr>
          <a:xfrm>
            <a:off x="8509000" y="30226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44FCC6F3-5FAF-595B-CA13-6181053930F7}"/>
              </a:ext>
            </a:extLst>
          </p:cNvPr>
          <p:cNvSpPr/>
          <p:nvPr/>
        </p:nvSpPr>
        <p:spPr>
          <a:xfrm>
            <a:off x="8769350" y="30226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0" name="矩形: 圆角 139">
            <a:extLst>
              <a:ext uri="{FF2B5EF4-FFF2-40B4-BE49-F238E27FC236}">
                <a16:creationId xmlns:a16="http://schemas.microsoft.com/office/drawing/2014/main" id="{5CA44C93-413C-8D34-59BA-46CC7F488E50}"/>
              </a:ext>
            </a:extLst>
          </p:cNvPr>
          <p:cNvSpPr/>
          <p:nvPr/>
        </p:nvSpPr>
        <p:spPr>
          <a:xfrm>
            <a:off x="9029700" y="30226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1" name="矩形: 圆角 140">
            <a:extLst>
              <a:ext uri="{FF2B5EF4-FFF2-40B4-BE49-F238E27FC236}">
                <a16:creationId xmlns:a16="http://schemas.microsoft.com/office/drawing/2014/main" id="{30017AF2-585E-8744-B742-C06060FE60D0}"/>
              </a:ext>
            </a:extLst>
          </p:cNvPr>
          <p:cNvSpPr/>
          <p:nvPr/>
        </p:nvSpPr>
        <p:spPr>
          <a:xfrm>
            <a:off x="9290050" y="30226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2" name="矩形: 圆角 141">
            <a:extLst>
              <a:ext uri="{FF2B5EF4-FFF2-40B4-BE49-F238E27FC236}">
                <a16:creationId xmlns:a16="http://schemas.microsoft.com/office/drawing/2014/main" id="{82BC924D-5189-E5AC-8EE6-779E75A41179}"/>
              </a:ext>
            </a:extLst>
          </p:cNvPr>
          <p:cNvSpPr/>
          <p:nvPr/>
        </p:nvSpPr>
        <p:spPr>
          <a:xfrm>
            <a:off x="9550400" y="30226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3" name="矩形: 圆角 142">
            <a:extLst>
              <a:ext uri="{FF2B5EF4-FFF2-40B4-BE49-F238E27FC236}">
                <a16:creationId xmlns:a16="http://schemas.microsoft.com/office/drawing/2014/main" id="{6B3E4FBA-9CF0-3F0C-B0C7-B135CC84075D}"/>
              </a:ext>
            </a:extLst>
          </p:cNvPr>
          <p:cNvSpPr/>
          <p:nvPr/>
        </p:nvSpPr>
        <p:spPr>
          <a:xfrm>
            <a:off x="9810750" y="30226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4" name="矩形: 圆角 143">
            <a:extLst>
              <a:ext uri="{FF2B5EF4-FFF2-40B4-BE49-F238E27FC236}">
                <a16:creationId xmlns:a16="http://schemas.microsoft.com/office/drawing/2014/main" id="{A9C8AE19-29C0-3B40-3617-16CD0C4A93AE}"/>
              </a:ext>
            </a:extLst>
          </p:cNvPr>
          <p:cNvSpPr/>
          <p:nvPr/>
        </p:nvSpPr>
        <p:spPr>
          <a:xfrm>
            <a:off x="10071100" y="30226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5" name="矩形: 圆角 144">
            <a:extLst>
              <a:ext uri="{FF2B5EF4-FFF2-40B4-BE49-F238E27FC236}">
                <a16:creationId xmlns:a16="http://schemas.microsoft.com/office/drawing/2014/main" id="{2402FFF9-DEBD-F723-1E02-E1BB609C4F13}"/>
              </a:ext>
            </a:extLst>
          </p:cNvPr>
          <p:cNvSpPr/>
          <p:nvPr/>
        </p:nvSpPr>
        <p:spPr>
          <a:xfrm>
            <a:off x="10331450" y="30226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6" name="矩形: 圆角 145">
            <a:extLst>
              <a:ext uri="{FF2B5EF4-FFF2-40B4-BE49-F238E27FC236}">
                <a16:creationId xmlns:a16="http://schemas.microsoft.com/office/drawing/2014/main" id="{3DFD8FE5-EA5D-F685-7C90-0E7DFA1716AC}"/>
              </a:ext>
            </a:extLst>
          </p:cNvPr>
          <p:cNvSpPr/>
          <p:nvPr/>
        </p:nvSpPr>
        <p:spPr>
          <a:xfrm>
            <a:off x="10591800" y="30226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7" name="矩形: 圆角 146">
            <a:extLst>
              <a:ext uri="{FF2B5EF4-FFF2-40B4-BE49-F238E27FC236}">
                <a16:creationId xmlns:a16="http://schemas.microsoft.com/office/drawing/2014/main" id="{E1549F03-BF2F-9EB9-A263-3569BA8D546C}"/>
              </a:ext>
            </a:extLst>
          </p:cNvPr>
          <p:cNvSpPr/>
          <p:nvPr/>
        </p:nvSpPr>
        <p:spPr>
          <a:xfrm>
            <a:off x="10852150" y="30226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D3997048-3C9F-FD31-E33C-691E18D94D5D}"/>
              </a:ext>
            </a:extLst>
          </p:cNvPr>
          <p:cNvSpPr/>
          <p:nvPr/>
        </p:nvSpPr>
        <p:spPr>
          <a:xfrm>
            <a:off x="11112500" y="30226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4C1272D6-DED4-EE8F-673C-31859BF11152}"/>
              </a:ext>
            </a:extLst>
          </p:cNvPr>
          <p:cNvSpPr txBox="1"/>
          <p:nvPr/>
        </p:nvSpPr>
        <p:spPr>
          <a:xfrm>
            <a:off x="533400" y="3594100"/>
            <a:ext cx="160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LGA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0" name="矩形: 圆角 149">
            <a:extLst>
              <a:ext uri="{FF2B5EF4-FFF2-40B4-BE49-F238E27FC236}">
                <a16:creationId xmlns:a16="http://schemas.microsoft.com/office/drawing/2014/main" id="{EDAD34CA-5329-64DF-5231-3AD61A17A11B}"/>
              </a:ext>
            </a:extLst>
          </p:cNvPr>
          <p:cNvSpPr/>
          <p:nvPr/>
        </p:nvSpPr>
        <p:spPr>
          <a:xfrm>
            <a:off x="2260600" y="35052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1" name="矩形: 圆角 150">
            <a:extLst>
              <a:ext uri="{FF2B5EF4-FFF2-40B4-BE49-F238E27FC236}">
                <a16:creationId xmlns:a16="http://schemas.microsoft.com/office/drawing/2014/main" id="{C0B6284E-D26B-2CBD-0E62-F8594C73F824}"/>
              </a:ext>
            </a:extLst>
          </p:cNvPr>
          <p:cNvSpPr/>
          <p:nvPr/>
        </p:nvSpPr>
        <p:spPr>
          <a:xfrm>
            <a:off x="2520950" y="3505200"/>
            <a:ext cx="234950" cy="304800"/>
          </a:xfrm>
          <a:prstGeom prst="roundRect">
            <a:avLst/>
          </a:prstGeom>
          <a:solidFill>
            <a:srgbClr val="BFDBFE"/>
          </a:solidFill>
          <a:ln w="1270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2" name="矩形: 圆角 151">
            <a:extLst>
              <a:ext uri="{FF2B5EF4-FFF2-40B4-BE49-F238E27FC236}">
                <a16:creationId xmlns:a16="http://schemas.microsoft.com/office/drawing/2014/main" id="{DDF197BC-AC61-6B95-B19D-3D6E3E3E0AF4}"/>
              </a:ext>
            </a:extLst>
          </p:cNvPr>
          <p:cNvSpPr/>
          <p:nvPr/>
        </p:nvSpPr>
        <p:spPr>
          <a:xfrm>
            <a:off x="2781300" y="3505200"/>
            <a:ext cx="234950" cy="3048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3" name="矩形: 圆角 152">
            <a:extLst>
              <a:ext uri="{FF2B5EF4-FFF2-40B4-BE49-F238E27FC236}">
                <a16:creationId xmlns:a16="http://schemas.microsoft.com/office/drawing/2014/main" id="{DF7D7D1A-17A3-296C-D7E2-752D3282045B}"/>
              </a:ext>
            </a:extLst>
          </p:cNvPr>
          <p:cNvSpPr/>
          <p:nvPr/>
        </p:nvSpPr>
        <p:spPr>
          <a:xfrm>
            <a:off x="3041650" y="35052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4" name="矩形: 圆角 153">
            <a:extLst>
              <a:ext uri="{FF2B5EF4-FFF2-40B4-BE49-F238E27FC236}">
                <a16:creationId xmlns:a16="http://schemas.microsoft.com/office/drawing/2014/main" id="{5D8C674A-F5EF-A186-C67C-0D9B0F46BB66}"/>
              </a:ext>
            </a:extLst>
          </p:cNvPr>
          <p:cNvSpPr/>
          <p:nvPr/>
        </p:nvSpPr>
        <p:spPr>
          <a:xfrm>
            <a:off x="3302000" y="35052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5" name="矩形: 圆角 154">
            <a:extLst>
              <a:ext uri="{FF2B5EF4-FFF2-40B4-BE49-F238E27FC236}">
                <a16:creationId xmlns:a16="http://schemas.microsoft.com/office/drawing/2014/main" id="{FFB79542-173D-7161-F142-5BA268B2A417}"/>
              </a:ext>
            </a:extLst>
          </p:cNvPr>
          <p:cNvSpPr/>
          <p:nvPr/>
        </p:nvSpPr>
        <p:spPr>
          <a:xfrm>
            <a:off x="3562350" y="35052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6" name="矩形: 圆角 155">
            <a:extLst>
              <a:ext uri="{FF2B5EF4-FFF2-40B4-BE49-F238E27FC236}">
                <a16:creationId xmlns:a16="http://schemas.microsoft.com/office/drawing/2014/main" id="{4E6099D1-E297-76C4-99B4-68306D4363EE}"/>
              </a:ext>
            </a:extLst>
          </p:cNvPr>
          <p:cNvSpPr/>
          <p:nvPr/>
        </p:nvSpPr>
        <p:spPr>
          <a:xfrm>
            <a:off x="3822700" y="35052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7" name="矩形: 圆角 156">
            <a:extLst>
              <a:ext uri="{FF2B5EF4-FFF2-40B4-BE49-F238E27FC236}">
                <a16:creationId xmlns:a16="http://schemas.microsoft.com/office/drawing/2014/main" id="{AC09E12F-E34A-44A1-B56D-EB956CD225B8}"/>
              </a:ext>
            </a:extLst>
          </p:cNvPr>
          <p:cNvSpPr/>
          <p:nvPr/>
        </p:nvSpPr>
        <p:spPr>
          <a:xfrm>
            <a:off x="4083050" y="35052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8" name="矩形: 圆角 157">
            <a:extLst>
              <a:ext uri="{FF2B5EF4-FFF2-40B4-BE49-F238E27FC236}">
                <a16:creationId xmlns:a16="http://schemas.microsoft.com/office/drawing/2014/main" id="{C74F246D-AD95-7CB7-9097-6FAA98AE6276}"/>
              </a:ext>
            </a:extLst>
          </p:cNvPr>
          <p:cNvSpPr/>
          <p:nvPr/>
        </p:nvSpPr>
        <p:spPr>
          <a:xfrm>
            <a:off x="4343400" y="35052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9" name="矩形: 圆角 158">
            <a:extLst>
              <a:ext uri="{FF2B5EF4-FFF2-40B4-BE49-F238E27FC236}">
                <a16:creationId xmlns:a16="http://schemas.microsoft.com/office/drawing/2014/main" id="{D99D1AF2-EACE-05ED-0681-17CBF1C42420}"/>
              </a:ext>
            </a:extLst>
          </p:cNvPr>
          <p:cNvSpPr/>
          <p:nvPr/>
        </p:nvSpPr>
        <p:spPr>
          <a:xfrm>
            <a:off x="4603750" y="35052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0" name="矩形: 圆角 159">
            <a:extLst>
              <a:ext uri="{FF2B5EF4-FFF2-40B4-BE49-F238E27FC236}">
                <a16:creationId xmlns:a16="http://schemas.microsoft.com/office/drawing/2014/main" id="{F2B784AF-F1E0-5021-4B34-C8DC6ED10437}"/>
              </a:ext>
            </a:extLst>
          </p:cNvPr>
          <p:cNvSpPr/>
          <p:nvPr/>
        </p:nvSpPr>
        <p:spPr>
          <a:xfrm>
            <a:off x="4864100" y="35052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1" name="矩形: 圆角 160">
            <a:extLst>
              <a:ext uri="{FF2B5EF4-FFF2-40B4-BE49-F238E27FC236}">
                <a16:creationId xmlns:a16="http://schemas.microsoft.com/office/drawing/2014/main" id="{727A2754-FFFE-DF14-FBDC-285D9E70EAE8}"/>
              </a:ext>
            </a:extLst>
          </p:cNvPr>
          <p:cNvSpPr/>
          <p:nvPr/>
        </p:nvSpPr>
        <p:spPr>
          <a:xfrm>
            <a:off x="5124450" y="35052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2" name="矩形: 圆角 161">
            <a:extLst>
              <a:ext uri="{FF2B5EF4-FFF2-40B4-BE49-F238E27FC236}">
                <a16:creationId xmlns:a16="http://schemas.microsoft.com/office/drawing/2014/main" id="{850945C4-0755-6689-2C65-F316CC4FFE29}"/>
              </a:ext>
            </a:extLst>
          </p:cNvPr>
          <p:cNvSpPr/>
          <p:nvPr/>
        </p:nvSpPr>
        <p:spPr>
          <a:xfrm>
            <a:off x="5384800" y="35052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3" name="矩形: 圆角 162">
            <a:extLst>
              <a:ext uri="{FF2B5EF4-FFF2-40B4-BE49-F238E27FC236}">
                <a16:creationId xmlns:a16="http://schemas.microsoft.com/office/drawing/2014/main" id="{D05A143A-CC4B-66E7-0AA9-E5BF202A6D59}"/>
              </a:ext>
            </a:extLst>
          </p:cNvPr>
          <p:cNvSpPr/>
          <p:nvPr/>
        </p:nvSpPr>
        <p:spPr>
          <a:xfrm>
            <a:off x="5645150" y="35052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4" name="矩形: 圆角 163">
            <a:extLst>
              <a:ext uri="{FF2B5EF4-FFF2-40B4-BE49-F238E27FC236}">
                <a16:creationId xmlns:a16="http://schemas.microsoft.com/office/drawing/2014/main" id="{FA1455CB-F896-8E97-136A-AC71D510709E}"/>
              </a:ext>
            </a:extLst>
          </p:cNvPr>
          <p:cNvSpPr/>
          <p:nvPr/>
        </p:nvSpPr>
        <p:spPr>
          <a:xfrm>
            <a:off x="5905500" y="35052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5" name="矩形: 圆角 164">
            <a:extLst>
              <a:ext uri="{FF2B5EF4-FFF2-40B4-BE49-F238E27FC236}">
                <a16:creationId xmlns:a16="http://schemas.microsoft.com/office/drawing/2014/main" id="{69C705C7-3288-03B3-F667-8EF27D50BB0C}"/>
              </a:ext>
            </a:extLst>
          </p:cNvPr>
          <p:cNvSpPr/>
          <p:nvPr/>
        </p:nvSpPr>
        <p:spPr>
          <a:xfrm>
            <a:off x="6165850" y="35052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6" name="矩形: 圆角 165">
            <a:extLst>
              <a:ext uri="{FF2B5EF4-FFF2-40B4-BE49-F238E27FC236}">
                <a16:creationId xmlns:a16="http://schemas.microsoft.com/office/drawing/2014/main" id="{FCDD48C3-06DC-E615-5711-0420F5466305}"/>
              </a:ext>
            </a:extLst>
          </p:cNvPr>
          <p:cNvSpPr/>
          <p:nvPr/>
        </p:nvSpPr>
        <p:spPr>
          <a:xfrm>
            <a:off x="6426200" y="35052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7" name="矩形: 圆角 166">
            <a:extLst>
              <a:ext uri="{FF2B5EF4-FFF2-40B4-BE49-F238E27FC236}">
                <a16:creationId xmlns:a16="http://schemas.microsoft.com/office/drawing/2014/main" id="{39A86EAD-B239-567D-FB2A-694B5BA36456}"/>
              </a:ext>
            </a:extLst>
          </p:cNvPr>
          <p:cNvSpPr/>
          <p:nvPr/>
        </p:nvSpPr>
        <p:spPr>
          <a:xfrm>
            <a:off x="6686550" y="35052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8" name="矩形: 圆角 167">
            <a:extLst>
              <a:ext uri="{FF2B5EF4-FFF2-40B4-BE49-F238E27FC236}">
                <a16:creationId xmlns:a16="http://schemas.microsoft.com/office/drawing/2014/main" id="{322E563B-D660-C27A-52AB-002AE89B3893}"/>
              </a:ext>
            </a:extLst>
          </p:cNvPr>
          <p:cNvSpPr/>
          <p:nvPr/>
        </p:nvSpPr>
        <p:spPr>
          <a:xfrm>
            <a:off x="6946900" y="35052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9" name="矩形: 圆角 168">
            <a:extLst>
              <a:ext uri="{FF2B5EF4-FFF2-40B4-BE49-F238E27FC236}">
                <a16:creationId xmlns:a16="http://schemas.microsoft.com/office/drawing/2014/main" id="{C1206084-EF44-063F-D159-38858664782B}"/>
              </a:ext>
            </a:extLst>
          </p:cNvPr>
          <p:cNvSpPr/>
          <p:nvPr/>
        </p:nvSpPr>
        <p:spPr>
          <a:xfrm>
            <a:off x="7207250" y="35052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0" name="矩形: 圆角 169">
            <a:extLst>
              <a:ext uri="{FF2B5EF4-FFF2-40B4-BE49-F238E27FC236}">
                <a16:creationId xmlns:a16="http://schemas.microsoft.com/office/drawing/2014/main" id="{2FC803FF-41D4-2BFC-7CA6-794BBA59E3D3}"/>
              </a:ext>
            </a:extLst>
          </p:cNvPr>
          <p:cNvSpPr/>
          <p:nvPr/>
        </p:nvSpPr>
        <p:spPr>
          <a:xfrm>
            <a:off x="7467600" y="35052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1" name="矩形: 圆角 170">
            <a:extLst>
              <a:ext uri="{FF2B5EF4-FFF2-40B4-BE49-F238E27FC236}">
                <a16:creationId xmlns:a16="http://schemas.microsoft.com/office/drawing/2014/main" id="{FC9DC1DF-871C-D088-67A0-EB6A9A24B924}"/>
              </a:ext>
            </a:extLst>
          </p:cNvPr>
          <p:cNvSpPr/>
          <p:nvPr/>
        </p:nvSpPr>
        <p:spPr>
          <a:xfrm>
            <a:off x="7727950" y="35052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2" name="矩形: 圆角 171">
            <a:extLst>
              <a:ext uri="{FF2B5EF4-FFF2-40B4-BE49-F238E27FC236}">
                <a16:creationId xmlns:a16="http://schemas.microsoft.com/office/drawing/2014/main" id="{AD0AC36E-08D0-495E-6F75-60477878C396}"/>
              </a:ext>
            </a:extLst>
          </p:cNvPr>
          <p:cNvSpPr/>
          <p:nvPr/>
        </p:nvSpPr>
        <p:spPr>
          <a:xfrm>
            <a:off x="7988300" y="35052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3" name="矩形: 圆角 172">
            <a:extLst>
              <a:ext uri="{FF2B5EF4-FFF2-40B4-BE49-F238E27FC236}">
                <a16:creationId xmlns:a16="http://schemas.microsoft.com/office/drawing/2014/main" id="{719334D7-AE6C-886F-FE3F-72DFDB8E542E}"/>
              </a:ext>
            </a:extLst>
          </p:cNvPr>
          <p:cNvSpPr/>
          <p:nvPr/>
        </p:nvSpPr>
        <p:spPr>
          <a:xfrm>
            <a:off x="8248650" y="35052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4" name="矩形: 圆角 173">
            <a:extLst>
              <a:ext uri="{FF2B5EF4-FFF2-40B4-BE49-F238E27FC236}">
                <a16:creationId xmlns:a16="http://schemas.microsoft.com/office/drawing/2014/main" id="{0286BFFF-C01F-3B7F-E58F-55C343EA3D93}"/>
              </a:ext>
            </a:extLst>
          </p:cNvPr>
          <p:cNvSpPr/>
          <p:nvPr/>
        </p:nvSpPr>
        <p:spPr>
          <a:xfrm>
            <a:off x="8509000" y="35052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5" name="矩形: 圆角 174">
            <a:extLst>
              <a:ext uri="{FF2B5EF4-FFF2-40B4-BE49-F238E27FC236}">
                <a16:creationId xmlns:a16="http://schemas.microsoft.com/office/drawing/2014/main" id="{51BD2571-3240-AF48-2E69-13B0D3E5BF24}"/>
              </a:ext>
            </a:extLst>
          </p:cNvPr>
          <p:cNvSpPr/>
          <p:nvPr/>
        </p:nvSpPr>
        <p:spPr>
          <a:xfrm>
            <a:off x="8769350" y="35052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6" name="矩形: 圆角 175">
            <a:extLst>
              <a:ext uri="{FF2B5EF4-FFF2-40B4-BE49-F238E27FC236}">
                <a16:creationId xmlns:a16="http://schemas.microsoft.com/office/drawing/2014/main" id="{DE640486-285E-3185-ED5B-5D5F06E91BA6}"/>
              </a:ext>
            </a:extLst>
          </p:cNvPr>
          <p:cNvSpPr/>
          <p:nvPr/>
        </p:nvSpPr>
        <p:spPr>
          <a:xfrm>
            <a:off x="9029700" y="35052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7" name="矩形: 圆角 176">
            <a:extLst>
              <a:ext uri="{FF2B5EF4-FFF2-40B4-BE49-F238E27FC236}">
                <a16:creationId xmlns:a16="http://schemas.microsoft.com/office/drawing/2014/main" id="{A32F5324-426B-B101-78DB-F3D09D136638}"/>
              </a:ext>
            </a:extLst>
          </p:cNvPr>
          <p:cNvSpPr/>
          <p:nvPr/>
        </p:nvSpPr>
        <p:spPr>
          <a:xfrm>
            <a:off x="9290050" y="35052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8" name="矩形: 圆角 177">
            <a:extLst>
              <a:ext uri="{FF2B5EF4-FFF2-40B4-BE49-F238E27FC236}">
                <a16:creationId xmlns:a16="http://schemas.microsoft.com/office/drawing/2014/main" id="{E4121784-1A63-E39E-E818-EA2735EFC773}"/>
              </a:ext>
            </a:extLst>
          </p:cNvPr>
          <p:cNvSpPr/>
          <p:nvPr/>
        </p:nvSpPr>
        <p:spPr>
          <a:xfrm>
            <a:off x="9550400" y="35052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9" name="矩形: 圆角 178">
            <a:extLst>
              <a:ext uri="{FF2B5EF4-FFF2-40B4-BE49-F238E27FC236}">
                <a16:creationId xmlns:a16="http://schemas.microsoft.com/office/drawing/2014/main" id="{91AB9C8F-3B70-599F-EFAD-0C31EE07D7EF}"/>
              </a:ext>
            </a:extLst>
          </p:cNvPr>
          <p:cNvSpPr/>
          <p:nvPr/>
        </p:nvSpPr>
        <p:spPr>
          <a:xfrm>
            <a:off x="9810750" y="35052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0" name="矩形: 圆角 179">
            <a:extLst>
              <a:ext uri="{FF2B5EF4-FFF2-40B4-BE49-F238E27FC236}">
                <a16:creationId xmlns:a16="http://schemas.microsoft.com/office/drawing/2014/main" id="{6F959655-CE34-27ED-B772-A936BB45863C}"/>
              </a:ext>
            </a:extLst>
          </p:cNvPr>
          <p:cNvSpPr/>
          <p:nvPr/>
        </p:nvSpPr>
        <p:spPr>
          <a:xfrm>
            <a:off x="10071100" y="3505200"/>
            <a:ext cx="234950" cy="304800"/>
          </a:xfrm>
          <a:prstGeom prst="roundRect">
            <a:avLst/>
          </a:prstGeom>
          <a:solidFill>
            <a:srgbClr val="60A5FA"/>
          </a:solidFill>
          <a:ln w="12700">
            <a:solidFill>
              <a:srgbClr val="60A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1" name="矩形: 圆角 180">
            <a:extLst>
              <a:ext uri="{FF2B5EF4-FFF2-40B4-BE49-F238E27FC236}">
                <a16:creationId xmlns:a16="http://schemas.microsoft.com/office/drawing/2014/main" id="{9C528271-B721-13DE-361F-296B405466CF}"/>
              </a:ext>
            </a:extLst>
          </p:cNvPr>
          <p:cNvSpPr/>
          <p:nvPr/>
        </p:nvSpPr>
        <p:spPr>
          <a:xfrm>
            <a:off x="10331450" y="35052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2" name="矩形: 圆角 181">
            <a:extLst>
              <a:ext uri="{FF2B5EF4-FFF2-40B4-BE49-F238E27FC236}">
                <a16:creationId xmlns:a16="http://schemas.microsoft.com/office/drawing/2014/main" id="{DF52FE44-E238-A025-65B1-D9CDAD5AD075}"/>
              </a:ext>
            </a:extLst>
          </p:cNvPr>
          <p:cNvSpPr/>
          <p:nvPr/>
        </p:nvSpPr>
        <p:spPr>
          <a:xfrm>
            <a:off x="10591800" y="35052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3" name="矩形: 圆角 182">
            <a:extLst>
              <a:ext uri="{FF2B5EF4-FFF2-40B4-BE49-F238E27FC236}">
                <a16:creationId xmlns:a16="http://schemas.microsoft.com/office/drawing/2014/main" id="{6A389E04-30BD-C1E7-2BB6-598A0F7EA5C4}"/>
              </a:ext>
            </a:extLst>
          </p:cNvPr>
          <p:cNvSpPr/>
          <p:nvPr/>
        </p:nvSpPr>
        <p:spPr>
          <a:xfrm>
            <a:off x="10852150" y="35052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4" name="矩形: 圆角 183">
            <a:extLst>
              <a:ext uri="{FF2B5EF4-FFF2-40B4-BE49-F238E27FC236}">
                <a16:creationId xmlns:a16="http://schemas.microsoft.com/office/drawing/2014/main" id="{AFD6B845-AFD9-7C6F-5A4A-2F3EB7FEA1A7}"/>
              </a:ext>
            </a:extLst>
          </p:cNvPr>
          <p:cNvSpPr/>
          <p:nvPr/>
        </p:nvSpPr>
        <p:spPr>
          <a:xfrm>
            <a:off x="11112500" y="35052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2E146A0E-43C0-1C2F-09C5-83D1B94AD254}"/>
              </a:ext>
            </a:extLst>
          </p:cNvPr>
          <p:cNvSpPr txBox="1"/>
          <p:nvPr/>
        </p:nvSpPr>
        <p:spPr>
          <a:xfrm>
            <a:off x="533400" y="4076700"/>
            <a:ext cx="160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Perturb-KL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6" name="矩形: 圆角 185">
            <a:extLst>
              <a:ext uri="{FF2B5EF4-FFF2-40B4-BE49-F238E27FC236}">
                <a16:creationId xmlns:a16="http://schemas.microsoft.com/office/drawing/2014/main" id="{3015ECF4-DE67-A575-ADEE-323C825DB144}"/>
              </a:ext>
            </a:extLst>
          </p:cNvPr>
          <p:cNvSpPr/>
          <p:nvPr/>
        </p:nvSpPr>
        <p:spPr>
          <a:xfrm>
            <a:off x="2260600" y="3987800"/>
            <a:ext cx="234950" cy="3048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7" name="矩形: 圆角 186">
            <a:extLst>
              <a:ext uri="{FF2B5EF4-FFF2-40B4-BE49-F238E27FC236}">
                <a16:creationId xmlns:a16="http://schemas.microsoft.com/office/drawing/2014/main" id="{5BAF4DB3-A9C9-FDC4-1B99-8D071BBEA6C1}"/>
              </a:ext>
            </a:extLst>
          </p:cNvPr>
          <p:cNvSpPr/>
          <p:nvPr/>
        </p:nvSpPr>
        <p:spPr>
          <a:xfrm>
            <a:off x="2520950" y="39878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8" name="矩形: 圆角 187">
            <a:extLst>
              <a:ext uri="{FF2B5EF4-FFF2-40B4-BE49-F238E27FC236}">
                <a16:creationId xmlns:a16="http://schemas.microsoft.com/office/drawing/2014/main" id="{B87390C7-8CB5-13A0-1E9D-52BC39E607F6}"/>
              </a:ext>
            </a:extLst>
          </p:cNvPr>
          <p:cNvSpPr/>
          <p:nvPr/>
        </p:nvSpPr>
        <p:spPr>
          <a:xfrm>
            <a:off x="2781300" y="39878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9" name="矩形: 圆角 188">
            <a:extLst>
              <a:ext uri="{FF2B5EF4-FFF2-40B4-BE49-F238E27FC236}">
                <a16:creationId xmlns:a16="http://schemas.microsoft.com/office/drawing/2014/main" id="{03C9BADB-2998-3790-551B-BF5A64E72FC1}"/>
              </a:ext>
            </a:extLst>
          </p:cNvPr>
          <p:cNvSpPr/>
          <p:nvPr/>
        </p:nvSpPr>
        <p:spPr>
          <a:xfrm>
            <a:off x="3041650" y="39878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0" name="矩形: 圆角 189">
            <a:extLst>
              <a:ext uri="{FF2B5EF4-FFF2-40B4-BE49-F238E27FC236}">
                <a16:creationId xmlns:a16="http://schemas.microsoft.com/office/drawing/2014/main" id="{A51BDE5F-ECB0-F791-1C01-147B447C5A85}"/>
              </a:ext>
            </a:extLst>
          </p:cNvPr>
          <p:cNvSpPr/>
          <p:nvPr/>
        </p:nvSpPr>
        <p:spPr>
          <a:xfrm>
            <a:off x="3302000" y="39878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1" name="矩形: 圆角 190">
            <a:extLst>
              <a:ext uri="{FF2B5EF4-FFF2-40B4-BE49-F238E27FC236}">
                <a16:creationId xmlns:a16="http://schemas.microsoft.com/office/drawing/2014/main" id="{269B8528-D3BB-7442-C195-F8B601810148}"/>
              </a:ext>
            </a:extLst>
          </p:cNvPr>
          <p:cNvSpPr/>
          <p:nvPr/>
        </p:nvSpPr>
        <p:spPr>
          <a:xfrm>
            <a:off x="3562350" y="39878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2" name="矩形: 圆角 191">
            <a:extLst>
              <a:ext uri="{FF2B5EF4-FFF2-40B4-BE49-F238E27FC236}">
                <a16:creationId xmlns:a16="http://schemas.microsoft.com/office/drawing/2014/main" id="{281A6074-5A0F-B987-5FBB-4986B4298AE5}"/>
              </a:ext>
            </a:extLst>
          </p:cNvPr>
          <p:cNvSpPr/>
          <p:nvPr/>
        </p:nvSpPr>
        <p:spPr>
          <a:xfrm>
            <a:off x="3822700" y="39878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3" name="矩形: 圆角 192">
            <a:extLst>
              <a:ext uri="{FF2B5EF4-FFF2-40B4-BE49-F238E27FC236}">
                <a16:creationId xmlns:a16="http://schemas.microsoft.com/office/drawing/2014/main" id="{AA13E475-EE45-9FB5-9D17-99FEEAB14B11}"/>
              </a:ext>
            </a:extLst>
          </p:cNvPr>
          <p:cNvSpPr/>
          <p:nvPr/>
        </p:nvSpPr>
        <p:spPr>
          <a:xfrm>
            <a:off x="4083050" y="39878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4" name="矩形: 圆角 193">
            <a:extLst>
              <a:ext uri="{FF2B5EF4-FFF2-40B4-BE49-F238E27FC236}">
                <a16:creationId xmlns:a16="http://schemas.microsoft.com/office/drawing/2014/main" id="{2328A0E0-52CA-BC3C-D2D1-4FB4A9235CD6}"/>
              </a:ext>
            </a:extLst>
          </p:cNvPr>
          <p:cNvSpPr/>
          <p:nvPr/>
        </p:nvSpPr>
        <p:spPr>
          <a:xfrm>
            <a:off x="4343400" y="39878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5" name="矩形: 圆角 194">
            <a:extLst>
              <a:ext uri="{FF2B5EF4-FFF2-40B4-BE49-F238E27FC236}">
                <a16:creationId xmlns:a16="http://schemas.microsoft.com/office/drawing/2014/main" id="{E23DAFA6-D908-89D4-DC68-D1995F1BCB34}"/>
              </a:ext>
            </a:extLst>
          </p:cNvPr>
          <p:cNvSpPr/>
          <p:nvPr/>
        </p:nvSpPr>
        <p:spPr>
          <a:xfrm>
            <a:off x="4603750" y="39878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6" name="矩形: 圆角 195">
            <a:extLst>
              <a:ext uri="{FF2B5EF4-FFF2-40B4-BE49-F238E27FC236}">
                <a16:creationId xmlns:a16="http://schemas.microsoft.com/office/drawing/2014/main" id="{1B0904B8-9ACE-3E06-7099-2155F92AA26D}"/>
              </a:ext>
            </a:extLst>
          </p:cNvPr>
          <p:cNvSpPr/>
          <p:nvPr/>
        </p:nvSpPr>
        <p:spPr>
          <a:xfrm>
            <a:off x="4864100" y="39878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7" name="矩形: 圆角 196">
            <a:extLst>
              <a:ext uri="{FF2B5EF4-FFF2-40B4-BE49-F238E27FC236}">
                <a16:creationId xmlns:a16="http://schemas.microsoft.com/office/drawing/2014/main" id="{7C64E324-1337-01B6-A750-8149D4913634}"/>
              </a:ext>
            </a:extLst>
          </p:cNvPr>
          <p:cNvSpPr/>
          <p:nvPr/>
        </p:nvSpPr>
        <p:spPr>
          <a:xfrm>
            <a:off x="5124450" y="39878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8" name="矩形: 圆角 197">
            <a:extLst>
              <a:ext uri="{FF2B5EF4-FFF2-40B4-BE49-F238E27FC236}">
                <a16:creationId xmlns:a16="http://schemas.microsoft.com/office/drawing/2014/main" id="{675A77B8-805A-7B0F-3768-46B59E0F2E63}"/>
              </a:ext>
            </a:extLst>
          </p:cNvPr>
          <p:cNvSpPr/>
          <p:nvPr/>
        </p:nvSpPr>
        <p:spPr>
          <a:xfrm>
            <a:off x="5384800" y="39878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9" name="矩形: 圆角 198">
            <a:extLst>
              <a:ext uri="{FF2B5EF4-FFF2-40B4-BE49-F238E27FC236}">
                <a16:creationId xmlns:a16="http://schemas.microsoft.com/office/drawing/2014/main" id="{5D85F3C7-A603-F266-4CE0-A5F5B605EF30}"/>
              </a:ext>
            </a:extLst>
          </p:cNvPr>
          <p:cNvSpPr/>
          <p:nvPr/>
        </p:nvSpPr>
        <p:spPr>
          <a:xfrm>
            <a:off x="5645150" y="3987800"/>
            <a:ext cx="234950" cy="304800"/>
          </a:xfrm>
          <a:prstGeom prst="roundRect">
            <a:avLst/>
          </a:prstGeom>
          <a:solidFill>
            <a:srgbClr val="60A5FA"/>
          </a:solidFill>
          <a:ln w="12700">
            <a:solidFill>
              <a:srgbClr val="60A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0" name="矩形: 圆角 199">
            <a:extLst>
              <a:ext uri="{FF2B5EF4-FFF2-40B4-BE49-F238E27FC236}">
                <a16:creationId xmlns:a16="http://schemas.microsoft.com/office/drawing/2014/main" id="{437E7316-78B1-F477-1C54-585AD5B58E74}"/>
              </a:ext>
            </a:extLst>
          </p:cNvPr>
          <p:cNvSpPr/>
          <p:nvPr/>
        </p:nvSpPr>
        <p:spPr>
          <a:xfrm>
            <a:off x="5905500" y="3987800"/>
            <a:ext cx="234950" cy="304800"/>
          </a:xfrm>
          <a:prstGeom prst="roundRect">
            <a:avLst/>
          </a:prstGeom>
          <a:solidFill>
            <a:srgbClr val="BFDBFE"/>
          </a:solidFill>
          <a:ln w="1270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1" name="矩形: 圆角 200">
            <a:extLst>
              <a:ext uri="{FF2B5EF4-FFF2-40B4-BE49-F238E27FC236}">
                <a16:creationId xmlns:a16="http://schemas.microsoft.com/office/drawing/2014/main" id="{232743C8-2FB0-5A25-2181-CCBA06D33418}"/>
              </a:ext>
            </a:extLst>
          </p:cNvPr>
          <p:cNvSpPr/>
          <p:nvPr/>
        </p:nvSpPr>
        <p:spPr>
          <a:xfrm>
            <a:off x="6165850" y="39878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2" name="矩形: 圆角 201">
            <a:extLst>
              <a:ext uri="{FF2B5EF4-FFF2-40B4-BE49-F238E27FC236}">
                <a16:creationId xmlns:a16="http://schemas.microsoft.com/office/drawing/2014/main" id="{4E9B76ED-37A7-A4E8-1E22-D3DAF51318D3}"/>
              </a:ext>
            </a:extLst>
          </p:cNvPr>
          <p:cNvSpPr/>
          <p:nvPr/>
        </p:nvSpPr>
        <p:spPr>
          <a:xfrm>
            <a:off x="6426200" y="39878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3" name="矩形: 圆角 202">
            <a:extLst>
              <a:ext uri="{FF2B5EF4-FFF2-40B4-BE49-F238E27FC236}">
                <a16:creationId xmlns:a16="http://schemas.microsoft.com/office/drawing/2014/main" id="{E9A440C2-A0A5-C7A4-DEFB-EF83BCB5DEE7}"/>
              </a:ext>
            </a:extLst>
          </p:cNvPr>
          <p:cNvSpPr/>
          <p:nvPr/>
        </p:nvSpPr>
        <p:spPr>
          <a:xfrm>
            <a:off x="6686550" y="39878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4" name="矩形: 圆角 203">
            <a:extLst>
              <a:ext uri="{FF2B5EF4-FFF2-40B4-BE49-F238E27FC236}">
                <a16:creationId xmlns:a16="http://schemas.microsoft.com/office/drawing/2014/main" id="{F36F8EC1-232B-B5BE-2861-325C0980333F}"/>
              </a:ext>
            </a:extLst>
          </p:cNvPr>
          <p:cNvSpPr/>
          <p:nvPr/>
        </p:nvSpPr>
        <p:spPr>
          <a:xfrm>
            <a:off x="6946900" y="39878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5" name="矩形: 圆角 204">
            <a:extLst>
              <a:ext uri="{FF2B5EF4-FFF2-40B4-BE49-F238E27FC236}">
                <a16:creationId xmlns:a16="http://schemas.microsoft.com/office/drawing/2014/main" id="{D51220C8-F478-46C0-BDA8-B30EF232FF26}"/>
              </a:ext>
            </a:extLst>
          </p:cNvPr>
          <p:cNvSpPr/>
          <p:nvPr/>
        </p:nvSpPr>
        <p:spPr>
          <a:xfrm>
            <a:off x="7207250" y="39878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6" name="矩形: 圆角 205">
            <a:extLst>
              <a:ext uri="{FF2B5EF4-FFF2-40B4-BE49-F238E27FC236}">
                <a16:creationId xmlns:a16="http://schemas.microsoft.com/office/drawing/2014/main" id="{13C77249-D331-B1B1-13DE-3C7B6A72CA2C}"/>
              </a:ext>
            </a:extLst>
          </p:cNvPr>
          <p:cNvSpPr/>
          <p:nvPr/>
        </p:nvSpPr>
        <p:spPr>
          <a:xfrm>
            <a:off x="7467600" y="39878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7" name="矩形: 圆角 206">
            <a:extLst>
              <a:ext uri="{FF2B5EF4-FFF2-40B4-BE49-F238E27FC236}">
                <a16:creationId xmlns:a16="http://schemas.microsoft.com/office/drawing/2014/main" id="{9C9481FC-2BFA-5151-7E1C-BEF76B10B64B}"/>
              </a:ext>
            </a:extLst>
          </p:cNvPr>
          <p:cNvSpPr/>
          <p:nvPr/>
        </p:nvSpPr>
        <p:spPr>
          <a:xfrm>
            <a:off x="7727950" y="39878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8" name="矩形: 圆角 207">
            <a:extLst>
              <a:ext uri="{FF2B5EF4-FFF2-40B4-BE49-F238E27FC236}">
                <a16:creationId xmlns:a16="http://schemas.microsoft.com/office/drawing/2014/main" id="{20C8D7F5-E2E6-CE4B-E016-CC39AB245E52}"/>
              </a:ext>
            </a:extLst>
          </p:cNvPr>
          <p:cNvSpPr/>
          <p:nvPr/>
        </p:nvSpPr>
        <p:spPr>
          <a:xfrm>
            <a:off x="7988300" y="39878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9" name="矩形: 圆角 208">
            <a:extLst>
              <a:ext uri="{FF2B5EF4-FFF2-40B4-BE49-F238E27FC236}">
                <a16:creationId xmlns:a16="http://schemas.microsoft.com/office/drawing/2014/main" id="{E4B5BB12-A63D-B414-E05A-11CE9E5F2DC2}"/>
              </a:ext>
            </a:extLst>
          </p:cNvPr>
          <p:cNvSpPr/>
          <p:nvPr/>
        </p:nvSpPr>
        <p:spPr>
          <a:xfrm>
            <a:off x="8248650" y="39878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0" name="矩形: 圆角 209">
            <a:extLst>
              <a:ext uri="{FF2B5EF4-FFF2-40B4-BE49-F238E27FC236}">
                <a16:creationId xmlns:a16="http://schemas.microsoft.com/office/drawing/2014/main" id="{950B30B7-5580-26BA-0BD7-383E67E2E83A}"/>
              </a:ext>
            </a:extLst>
          </p:cNvPr>
          <p:cNvSpPr/>
          <p:nvPr/>
        </p:nvSpPr>
        <p:spPr>
          <a:xfrm>
            <a:off x="8509000" y="39878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1" name="矩形: 圆角 210">
            <a:extLst>
              <a:ext uri="{FF2B5EF4-FFF2-40B4-BE49-F238E27FC236}">
                <a16:creationId xmlns:a16="http://schemas.microsoft.com/office/drawing/2014/main" id="{0967B7AF-54A4-12A5-0946-82D86CC49D6C}"/>
              </a:ext>
            </a:extLst>
          </p:cNvPr>
          <p:cNvSpPr/>
          <p:nvPr/>
        </p:nvSpPr>
        <p:spPr>
          <a:xfrm>
            <a:off x="8769350" y="39878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2" name="矩形: 圆角 211">
            <a:extLst>
              <a:ext uri="{FF2B5EF4-FFF2-40B4-BE49-F238E27FC236}">
                <a16:creationId xmlns:a16="http://schemas.microsoft.com/office/drawing/2014/main" id="{07FE869A-BFE4-6614-9655-13AA158AFA25}"/>
              </a:ext>
            </a:extLst>
          </p:cNvPr>
          <p:cNvSpPr/>
          <p:nvPr/>
        </p:nvSpPr>
        <p:spPr>
          <a:xfrm>
            <a:off x="9029700" y="39878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3" name="矩形: 圆角 212">
            <a:extLst>
              <a:ext uri="{FF2B5EF4-FFF2-40B4-BE49-F238E27FC236}">
                <a16:creationId xmlns:a16="http://schemas.microsoft.com/office/drawing/2014/main" id="{D9784A99-0AD6-3E3E-2D78-741C3D14B576}"/>
              </a:ext>
            </a:extLst>
          </p:cNvPr>
          <p:cNvSpPr/>
          <p:nvPr/>
        </p:nvSpPr>
        <p:spPr>
          <a:xfrm>
            <a:off x="9290050" y="39878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4" name="矩形: 圆角 213">
            <a:extLst>
              <a:ext uri="{FF2B5EF4-FFF2-40B4-BE49-F238E27FC236}">
                <a16:creationId xmlns:a16="http://schemas.microsoft.com/office/drawing/2014/main" id="{3C201CB7-0A48-7105-4307-2FE8D0ACCC58}"/>
              </a:ext>
            </a:extLst>
          </p:cNvPr>
          <p:cNvSpPr/>
          <p:nvPr/>
        </p:nvSpPr>
        <p:spPr>
          <a:xfrm>
            <a:off x="9550400" y="39878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5" name="矩形: 圆角 214">
            <a:extLst>
              <a:ext uri="{FF2B5EF4-FFF2-40B4-BE49-F238E27FC236}">
                <a16:creationId xmlns:a16="http://schemas.microsoft.com/office/drawing/2014/main" id="{72613224-3248-B0FE-691B-536F8B736692}"/>
              </a:ext>
            </a:extLst>
          </p:cNvPr>
          <p:cNvSpPr/>
          <p:nvPr/>
        </p:nvSpPr>
        <p:spPr>
          <a:xfrm>
            <a:off x="9810750" y="39878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6" name="矩形: 圆角 215">
            <a:extLst>
              <a:ext uri="{FF2B5EF4-FFF2-40B4-BE49-F238E27FC236}">
                <a16:creationId xmlns:a16="http://schemas.microsoft.com/office/drawing/2014/main" id="{6537906D-C335-C53E-D04A-43936B054E4F}"/>
              </a:ext>
            </a:extLst>
          </p:cNvPr>
          <p:cNvSpPr/>
          <p:nvPr/>
        </p:nvSpPr>
        <p:spPr>
          <a:xfrm>
            <a:off x="10071100" y="39878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7" name="矩形: 圆角 216">
            <a:extLst>
              <a:ext uri="{FF2B5EF4-FFF2-40B4-BE49-F238E27FC236}">
                <a16:creationId xmlns:a16="http://schemas.microsoft.com/office/drawing/2014/main" id="{B2139880-9C7C-E19A-7142-B6251C1B1AB1}"/>
              </a:ext>
            </a:extLst>
          </p:cNvPr>
          <p:cNvSpPr/>
          <p:nvPr/>
        </p:nvSpPr>
        <p:spPr>
          <a:xfrm>
            <a:off x="10331450" y="39878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8" name="矩形: 圆角 217">
            <a:extLst>
              <a:ext uri="{FF2B5EF4-FFF2-40B4-BE49-F238E27FC236}">
                <a16:creationId xmlns:a16="http://schemas.microsoft.com/office/drawing/2014/main" id="{57B83745-6DE3-46AB-FA89-D87A2E7DAD73}"/>
              </a:ext>
            </a:extLst>
          </p:cNvPr>
          <p:cNvSpPr/>
          <p:nvPr/>
        </p:nvSpPr>
        <p:spPr>
          <a:xfrm>
            <a:off x="10591800" y="39878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9" name="矩形: 圆角 218">
            <a:extLst>
              <a:ext uri="{FF2B5EF4-FFF2-40B4-BE49-F238E27FC236}">
                <a16:creationId xmlns:a16="http://schemas.microsoft.com/office/drawing/2014/main" id="{0655D072-7124-C3EE-776A-B44D2EDBEE3B}"/>
              </a:ext>
            </a:extLst>
          </p:cNvPr>
          <p:cNvSpPr/>
          <p:nvPr/>
        </p:nvSpPr>
        <p:spPr>
          <a:xfrm>
            <a:off x="10852150" y="39878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0" name="矩形: 圆角 219">
            <a:extLst>
              <a:ext uri="{FF2B5EF4-FFF2-40B4-BE49-F238E27FC236}">
                <a16:creationId xmlns:a16="http://schemas.microsoft.com/office/drawing/2014/main" id="{03BB3CB3-4C5D-7B4A-DEA2-8DEEF0F79E44}"/>
              </a:ext>
            </a:extLst>
          </p:cNvPr>
          <p:cNvSpPr/>
          <p:nvPr/>
        </p:nvSpPr>
        <p:spPr>
          <a:xfrm>
            <a:off x="11112500" y="39878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1" name="文本框 220">
            <a:extLst>
              <a:ext uri="{FF2B5EF4-FFF2-40B4-BE49-F238E27FC236}">
                <a16:creationId xmlns:a16="http://schemas.microsoft.com/office/drawing/2014/main" id="{141F31C6-0CE7-1CCB-7BB8-A9AAA741D51F}"/>
              </a:ext>
            </a:extLst>
          </p:cNvPr>
          <p:cNvSpPr txBox="1"/>
          <p:nvPr/>
        </p:nvSpPr>
        <p:spPr>
          <a:xfrm>
            <a:off x="533400" y="4559300"/>
            <a:ext cx="160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CMA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2" name="矩形: 圆角 221">
            <a:extLst>
              <a:ext uri="{FF2B5EF4-FFF2-40B4-BE49-F238E27FC236}">
                <a16:creationId xmlns:a16="http://schemas.microsoft.com/office/drawing/2014/main" id="{3ACA388C-C07B-E2BE-753A-74C703AFCEED}"/>
              </a:ext>
            </a:extLst>
          </p:cNvPr>
          <p:cNvSpPr/>
          <p:nvPr/>
        </p:nvSpPr>
        <p:spPr>
          <a:xfrm>
            <a:off x="2260600" y="4470400"/>
            <a:ext cx="234950" cy="304800"/>
          </a:xfrm>
          <a:prstGeom prst="roundRect">
            <a:avLst/>
          </a:prstGeom>
          <a:solidFill>
            <a:srgbClr val="60A5FA"/>
          </a:solidFill>
          <a:ln w="12700">
            <a:solidFill>
              <a:srgbClr val="60A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3" name="矩形: 圆角 222">
            <a:extLst>
              <a:ext uri="{FF2B5EF4-FFF2-40B4-BE49-F238E27FC236}">
                <a16:creationId xmlns:a16="http://schemas.microsoft.com/office/drawing/2014/main" id="{72BF7B88-9A21-C872-C520-7A58C5149A3C}"/>
              </a:ext>
            </a:extLst>
          </p:cNvPr>
          <p:cNvSpPr/>
          <p:nvPr/>
        </p:nvSpPr>
        <p:spPr>
          <a:xfrm>
            <a:off x="2520950" y="4470400"/>
            <a:ext cx="234950" cy="3048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4" name="矩形: 圆角 223">
            <a:extLst>
              <a:ext uri="{FF2B5EF4-FFF2-40B4-BE49-F238E27FC236}">
                <a16:creationId xmlns:a16="http://schemas.microsoft.com/office/drawing/2014/main" id="{C0624E28-479D-91AA-5880-374950701F10}"/>
              </a:ext>
            </a:extLst>
          </p:cNvPr>
          <p:cNvSpPr/>
          <p:nvPr/>
        </p:nvSpPr>
        <p:spPr>
          <a:xfrm>
            <a:off x="2781300" y="4470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5" name="矩形: 圆角 224">
            <a:extLst>
              <a:ext uri="{FF2B5EF4-FFF2-40B4-BE49-F238E27FC236}">
                <a16:creationId xmlns:a16="http://schemas.microsoft.com/office/drawing/2014/main" id="{6F443E57-097A-0782-DED8-A21DD7012824}"/>
              </a:ext>
            </a:extLst>
          </p:cNvPr>
          <p:cNvSpPr/>
          <p:nvPr/>
        </p:nvSpPr>
        <p:spPr>
          <a:xfrm>
            <a:off x="3041650" y="4470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6" name="矩形: 圆角 225">
            <a:extLst>
              <a:ext uri="{FF2B5EF4-FFF2-40B4-BE49-F238E27FC236}">
                <a16:creationId xmlns:a16="http://schemas.microsoft.com/office/drawing/2014/main" id="{4E4AFA2B-6D90-2542-D8B1-397BCE678692}"/>
              </a:ext>
            </a:extLst>
          </p:cNvPr>
          <p:cNvSpPr/>
          <p:nvPr/>
        </p:nvSpPr>
        <p:spPr>
          <a:xfrm>
            <a:off x="3302000" y="4470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7" name="矩形: 圆角 226">
            <a:extLst>
              <a:ext uri="{FF2B5EF4-FFF2-40B4-BE49-F238E27FC236}">
                <a16:creationId xmlns:a16="http://schemas.microsoft.com/office/drawing/2014/main" id="{8E4C5ED1-F96F-333A-36B2-8F6453A12D8A}"/>
              </a:ext>
            </a:extLst>
          </p:cNvPr>
          <p:cNvSpPr/>
          <p:nvPr/>
        </p:nvSpPr>
        <p:spPr>
          <a:xfrm>
            <a:off x="3562350" y="4470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8" name="矩形: 圆角 227">
            <a:extLst>
              <a:ext uri="{FF2B5EF4-FFF2-40B4-BE49-F238E27FC236}">
                <a16:creationId xmlns:a16="http://schemas.microsoft.com/office/drawing/2014/main" id="{D9A1AC86-EBB6-0A0F-78CF-A9357D4DEE07}"/>
              </a:ext>
            </a:extLst>
          </p:cNvPr>
          <p:cNvSpPr/>
          <p:nvPr/>
        </p:nvSpPr>
        <p:spPr>
          <a:xfrm>
            <a:off x="3822700" y="4470400"/>
            <a:ext cx="234950" cy="304800"/>
          </a:xfrm>
          <a:prstGeom prst="roundRect">
            <a:avLst/>
          </a:prstGeom>
          <a:solidFill>
            <a:srgbClr val="BFDBFE"/>
          </a:solidFill>
          <a:ln w="1270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9" name="矩形: 圆角 228">
            <a:extLst>
              <a:ext uri="{FF2B5EF4-FFF2-40B4-BE49-F238E27FC236}">
                <a16:creationId xmlns:a16="http://schemas.microsoft.com/office/drawing/2014/main" id="{8171ADCD-7984-DECE-66C1-9769199D7137}"/>
              </a:ext>
            </a:extLst>
          </p:cNvPr>
          <p:cNvSpPr/>
          <p:nvPr/>
        </p:nvSpPr>
        <p:spPr>
          <a:xfrm>
            <a:off x="4083050" y="4470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0" name="矩形: 圆角 229">
            <a:extLst>
              <a:ext uri="{FF2B5EF4-FFF2-40B4-BE49-F238E27FC236}">
                <a16:creationId xmlns:a16="http://schemas.microsoft.com/office/drawing/2014/main" id="{57C96405-62F4-E1B3-4A4C-D09EC51CAF9C}"/>
              </a:ext>
            </a:extLst>
          </p:cNvPr>
          <p:cNvSpPr/>
          <p:nvPr/>
        </p:nvSpPr>
        <p:spPr>
          <a:xfrm>
            <a:off x="4343400" y="4470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1" name="矩形: 圆角 230">
            <a:extLst>
              <a:ext uri="{FF2B5EF4-FFF2-40B4-BE49-F238E27FC236}">
                <a16:creationId xmlns:a16="http://schemas.microsoft.com/office/drawing/2014/main" id="{309532B4-6BD7-62CB-0F77-30FFF5EEC4C2}"/>
              </a:ext>
            </a:extLst>
          </p:cNvPr>
          <p:cNvSpPr/>
          <p:nvPr/>
        </p:nvSpPr>
        <p:spPr>
          <a:xfrm>
            <a:off x="4603750" y="4470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2" name="矩形: 圆角 231">
            <a:extLst>
              <a:ext uri="{FF2B5EF4-FFF2-40B4-BE49-F238E27FC236}">
                <a16:creationId xmlns:a16="http://schemas.microsoft.com/office/drawing/2014/main" id="{A5C797FC-4231-BC92-B446-3E1595493457}"/>
              </a:ext>
            </a:extLst>
          </p:cNvPr>
          <p:cNvSpPr/>
          <p:nvPr/>
        </p:nvSpPr>
        <p:spPr>
          <a:xfrm>
            <a:off x="4864100" y="4470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3" name="矩形: 圆角 232">
            <a:extLst>
              <a:ext uri="{FF2B5EF4-FFF2-40B4-BE49-F238E27FC236}">
                <a16:creationId xmlns:a16="http://schemas.microsoft.com/office/drawing/2014/main" id="{CFD76424-89C4-CE1C-B419-D2242ACC8782}"/>
              </a:ext>
            </a:extLst>
          </p:cNvPr>
          <p:cNvSpPr/>
          <p:nvPr/>
        </p:nvSpPr>
        <p:spPr>
          <a:xfrm>
            <a:off x="5124450" y="4470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4" name="矩形: 圆角 233">
            <a:extLst>
              <a:ext uri="{FF2B5EF4-FFF2-40B4-BE49-F238E27FC236}">
                <a16:creationId xmlns:a16="http://schemas.microsoft.com/office/drawing/2014/main" id="{C6ECD6CD-B2F5-70AC-E7EA-3FC16AF58F7C}"/>
              </a:ext>
            </a:extLst>
          </p:cNvPr>
          <p:cNvSpPr/>
          <p:nvPr/>
        </p:nvSpPr>
        <p:spPr>
          <a:xfrm>
            <a:off x="5384800" y="4470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5" name="矩形: 圆角 234">
            <a:extLst>
              <a:ext uri="{FF2B5EF4-FFF2-40B4-BE49-F238E27FC236}">
                <a16:creationId xmlns:a16="http://schemas.microsoft.com/office/drawing/2014/main" id="{626ACD9F-A7AE-F449-2B55-E088D673347E}"/>
              </a:ext>
            </a:extLst>
          </p:cNvPr>
          <p:cNvSpPr/>
          <p:nvPr/>
        </p:nvSpPr>
        <p:spPr>
          <a:xfrm>
            <a:off x="5645150" y="4470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6" name="矩形: 圆角 235">
            <a:extLst>
              <a:ext uri="{FF2B5EF4-FFF2-40B4-BE49-F238E27FC236}">
                <a16:creationId xmlns:a16="http://schemas.microsoft.com/office/drawing/2014/main" id="{D45EEF8C-601B-3958-7544-F2E95D2B0238}"/>
              </a:ext>
            </a:extLst>
          </p:cNvPr>
          <p:cNvSpPr/>
          <p:nvPr/>
        </p:nvSpPr>
        <p:spPr>
          <a:xfrm>
            <a:off x="5905500" y="4470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7" name="矩形: 圆角 236">
            <a:extLst>
              <a:ext uri="{FF2B5EF4-FFF2-40B4-BE49-F238E27FC236}">
                <a16:creationId xmlns:a16="http://schemas.microsoft.com/office/drawing/2014/main" id="{FCF178DA-7C1C-9CC9-31D9-225A000C290E}"/>
              </a:ext>
            </a:extLst>
          </p:cNvPr>
          <p:cNvSpPr/>
          <p:nvPr/>
        </p:nvSpPr>
        <p:spPr>
          <a:xfrm>
            <a:off x="6165850" y="4470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8" name="矩形: 圆角 237">
            <a:extLst>
              <a:ext uri="{FF2B5EF4-FFF2-40B4-BE49-F238E27FC236}">
                <a16:creationId xmlns:a16="http://schemas.microsoft.com/office/drawing/2014/main" id="{215090A0-C5AA-E059-9EAB-8D6C89146D6B}"/>
              </a:ext>
            </a:extLst>
          </p:cNvPr>
          <p:cNvSpPr/>
          <p:nvPr/>
        </p:nvSpPr>
        <p:spPr>
          <a:xfrm>
            <a:off x="6426200" y="4470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9" name="矩形: 圆角 238">
            <a:extLst>
              <a:ext uri="{FF2B5EF4-FFF2-40B4-BE49-F238E27FC236}">
                <a16:creationId xmlns:a16="http://schemas.microsoft.com/office/drawing/2014/main" id="{B2D70834-290B-1DE3-55CE-4CB5C3C1FBDF}"/>
              </a:ext>
            </a:extLst>
          </p:cNvPr>
          <p:cNvSpPr/>
          <p:nvPr/>
        </p:nvSpPr>
        <p:spPr>
          <a:xfrm>
            <a:off x="6686550" y="4470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0" name="矩形: 圆角 239">
            <a:extLst>
              <a:ext uri="{FF2B5EF4-FFF2-40B4-BE49-F238E27FC236}">
                <a16:creationId xmlns:a16="http://schemas.microsoft.com/office/drawing/2014/main" id="{C2F10683-3BFC-471C-D5F6-89C542299D0C}"/>
              </a:ext>
            </a:extLst>
          </p:cNvPr>
          <p:cNvSpPr/>
          <p:nvPr/>
        </p:nvSpPr>
        <p:spPr>
          <a:xfrm>
            <a:off x="6946900" y="4470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1" name="矩形: 圆角 240">
            <a:extLst>
              <a:ext uri="{FF2B5EF4-FFF2-40B4-BE49-F238E27FC236}">
                <a16:creationId xmlns:a16="http://schemas.microsoft.com/office/drawing/2014/main" id="{9AB5A3FD-A2CD-2A5A-D3D2-3BD41A25AADD}"/>
              </a:ext>
            </a:extLst>
          </p:cNvPr>
          <p:cNvSpPr/>
          <p:nvPr/>
        </p:nvSpPr>
        <p:spPr>
          <a:xfrm>
            <a:off x="7207250" y="4470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2" name="矩形: 圆角 241">
            <a:extLst>
              <a:ext uri="{FF2B5EF4-FFF2-40B4-BE49-F238E27FC236}">
                <a16:creationId xmlns:a16="http://schemas.microsoft.com/office/drawing/2014/main" id="{9A028975-3FA7-C67A-9CD4-FFAD5BD7AFB9}"/>
              </a:ext>
            </a:extLst>
          </p:cNvPr>
          <p:cNvSpPr/>
          <p:nvPr/>
        </p:nvSpPr>
        <p:spPr>
          <a:xfrm>
            <a:off x="7467600" y="4470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3" name="矩形: 圆角 242">
            <a:extLst>
              <a:ext uri="{FF2B5EF4-FFF2-40B4-BE49-F238E27FC236}">
                <a16:creationId xmlns:a16="http://schemas.microsoft.com/office/drawing/2014/main" id="{F1BF40F0-EF7D-6ACB-4BBC-4769901B8325}"/>
              </a:ext>
            </a:extLst>
          </p:cNvPr>
          <p:cNvSpPr/>
          <p:nvPr/>
        </p:nvSpPr>
        <p:spPr>
          <a:xfrm>
            <a:off x="7727950" y="4470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4" name="矩形: 圆角 243">
            <a:extLst>
              <a:ext uri="{FF2B5EF4-FFF2-40B4-BE49-F238E27FC236}">
                <a16:creationId xmlns:a16="http://schemas.microsoft.com/office/drawing/2014/main" id="{ECECC77D-B333-EB63-2203-2D1578F6C284}"/>
              </a:ext>
            </a:extLst>
          </p:cNvPr>
          <p:cNvSpPr/>
          <p:nvPr/>
        </p:nvSpPr>
        <p:spPr>
          <a:xfrm>
            <a:off x="7988300" y="4470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5" name="矩形: 圆角 244">
            <a:extLst>
              <a:ext uri="{FF2B5EF4-FFF2-40B4-BE49-F238E27FC236}">
                <a16:creationId xmlns:a16="http://schemas.microsoft.com/office/drawing/2014/main" id="{9C072AC8-F52D-5266-9927-FD86ACF41C3E}"/>
              </a:ext>
            </a:extLst>
          </p:cNvPr>
          <p:cNvSpPr/>
          <p:nvPr/>
        </p:nvSpPr>
        <p:spPr>
          <a:xfrm>
            <a:off x="8248650" y="4470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6" name="矩形: 圆角 245">
            <a:extLst>
              <a:ext uri="{FF2B5EF4-FFF2-40B4-BE49-F238E27FC236}">
                <a16:creationId xmlns:a16="http://schemas.microsoft.com/office/drawing/2014/main" id="{4FA5F1A2-C267-A8B2-EFB5-D147F97E1415}"/>
              </a:ext>
            </a:extLst>
          </p:cNvPr>
          <p:cNvSpPr/>
          <p:nvPr/>
        </p:nvSpPr>
        <p:spPr>
          <a:xfrm>
            <a:off x="8509000" y="4470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7" name="矩形: 圆角 246">
            <a:extLst>
              <a:ext uri="{FF2B5EF4-FFF2-40B4-BE49-F238E27FC236}">
                <a16:creationId xmlns:a16="http://schemas.microsoft.com/office/drawing/2014/main" id="{ED484989-AE4C-245B-E41D-DB7E5D5040B9}"/>
              </a:ext>
            </a:extLst>
          </p:cNvPr>
          <p:cNvSpPr/>
          <p:nvPr/>
        </p:nvSpPr>
        <p:spPr>
          <a:xfrm>
            <a:off x="8769350" y="4470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8" name="矩形: 圆角 247">
            <a:extLst>
              <a:ext uri="{FF2B5EF4-FFF2-40B4-BE49-F238E27FC236}">
                <a16:creationId xmlns:a16="http://schemas.microsoft.com/office/drawing/2014/main" id="{5AF3B02D-0BF6-D79A-EC29-4C1D0B95AC1B}"/>
              </a:ext>
            </a:extLst>
          </p:cNvPr>
          <p:cNvSpPr/>
          <p:nvPr/>
        </p:nvSpPr>
        <p:spPr>
          <a:xfrm>
            <a:off x="9029700" y="4470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9" name="矩形: 圆角 248">
            <a:extLst>
              <a:ext uri="{FF2B5EF4-FFF2-40B4-BE49-F238E27FC236}">
                <a16:creationId xmlns:a16="http://schemas.microsoft.com/office/drawing/2014/main" id="{83833438-C270-0C95-DBE3-66A52C1B4E26}"/>
              </a:ext>
            </a:extLst>
          </p:cNvPr>
          <p:cNvSpPr/>
          <p:nvPr/>
        </p:nvSpPr>
        <p:spPr>
          <a:xfrm>
            <a:off x="9290050" y="4470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0" name="矩形: 圆角 249">
            <a:extLst>
              <a:ext uri="{FF2B5EF4-FFF2-40B4-BE49-F238E27FC236}">
                <a16:creationId xmlns:a16="http://schemas.microsoft.com/office/drawing/2014/main" id="{44CDA5A0-BCAB-536F-B700-5FEC1ACF0C40}"/>
              </a:ext>
            </a:extLst>
          </p:cNvPr>
          <p:cNvSpPr/>
          <p:nvPr/>
        </p:nvSpPr>
        <p:spPr>
          <a:xfrm>
            <a:off x="9550400" y="4470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1" name="矩形: 圆角 250">
            <a:extLst>
              <a:ext uri="{FF2B5EF4-FFF2-40B4-BE49-F238E27FC236}">
                <a16:creationId xmlns:a16="http://schemas.microsoft.com/office/drawing/2014/main" id="{1D5776EF-F614-54BE-E50C-0C0382AFE813}"/>
              </a:ext>
            </a:extLst>
          </p:cNvPr>
          <p:cNvSpPr/>
          <p:nvPr/>
        </p:nvSpPr>
        <p:spPr>
          <a:xfrm>
            <a:off x="9810750" y="4470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2" name="矩形: 圆角 251">
            <a:extLst>
              <a:ext uri="{FF2B5EF4-FFF2-40B4-BE49-F238E27FC236}">
                <a16:creationId xmlns:a16="http://schemas.microsoft.com/office/drawing/2014/main" id="{365767B8-04BF-DBEC-0911-5F5472B65E43}"/>
              </a:ext>
            </a:extLst>
          </p:cNvPr>
          <p:cNvSpPr/>
          <p:nvPr/>
        </p:nvSpPr>
        <p:spPr>
          <a:xfrm>
            <a:off x="10071100" y="4470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3" name="矩形: 圆角 252">
            <a:extLst>
              <a:ext uri="{FF2B5EF4-FFF2-40B4-BE49-F238E27FC236}">
                <a16:creationId xmlns:a16="http://schemas.microsoft.com/office/drawing/2014/main" id="{EC3515A7-7B30-FEB9-E1A9-64416716D019}"/>
              </a:ext>
            </a:extLst>
          </p:cNvPr>
          <p:cNvSpPr/>
          <p:nvPr/>
        </p:nvSpPr>
        <p:spPr>
          <a:xfrm>
            <a:off x="10331450" y="4470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4" name="矩形: 圆角 253">
            <a:extLst>
              <a:ext uri="{FF2B5EF4-FFF2-40B4-BE49-F238E27FC236}">
                <a16:creationId xmlns:a16="http://schemas.microsoft.com/office/drawing/2014/main" id="{4B46FD23-ABFE-1B82-CF16-6C7A2693DB50}"/>
              </a:ext>
            </a:extLst>
          </p:cNvPr>
          <p:cNvSpPr/>
          <p:nvPr/>
        </p:nvSpPr>
        <p:spPr>
          <a:xfrm>
            <a:off x="10591800" y="4470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5" name="矩形: 圆角 254">
            <a:extLst>
              <a:ext uri="{FF2B5EF4-FFF2-40B4-BE49-F238E27FC236}">
                <a16:creationId xmlns:a16="http://schemas.microsoft.com/office/drawing/2014/main" id="{8D0E2424-3F87-F735-092C-31BDEFA059CE}"/>
              </a:ext>
            </a:extLst>
          </p:cNvPr>
          <p:cNvSpPr/>
          <p:nvPr/>
        </p:nvSpPr>
        <p:spPr>
          <a:xfrm>
            <a:off x="10852150" y="4470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6" name="矩形: 圆角 255">
            <a:extLst>
              <a:ext uri="{FF2B5EF4-FFF2-40B4-BE49-F238E27FC236}">
                <a16:creationId xmlns:a16="http://schemas.microsoft.com/office/drawing/2014/main" id="{32A76FBC-4684-9E8B-9F61-1B4468A6120B}"/>
              </a:ext>
            </a:extLst>
          </p:cNvPr>
          <p:cNvSpPr/>
          <p:nvPr/>
        </p:nvSpPr>
        <p:spPr>
          <a:xfrm>
            <a:off x="11112500" y="44704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7" name="文本框 256">
            <a:extLst>
              <a:ext uri="{FF2B5EF4-FFF2-40B4-BE49-F238E27FC236}">
                <a16:creationId xmlns:a16="http://schemas.microsoft.com/office/drawing/2014/main" id="{6E02EDF3-5689-13BA-FCDD-475182E7EEFA}"/>
              </a:ext>
            </a:extLst>
          </p:cNvPr>
          <p:cNvSpPr txBox="1"/>
          <p:nvPr/>
        </p:nvSpPr>
        <p:spPr>
          <a:xfrm>
            <a:off x="533400" y="5041900"/>
            <a:ext cx="160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Ours</a:t>
            </a:r>
            <a:endParaRPr lang="zh-CN" altLang="en-US" sz="1600" b="1">
              <a:solidFill>
                <a:srgbClr val="2563E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8" name="矩形: 圆角 257">
            <a:extLst>
              <a:ext uri="{FF2B5EF4-FFF2-40B4-BE49-F238E27FC236}">
                <a16:creationId xmlns:a16="http://schemas.microsoft.com/office/drawing/2014/main" id="{A0C68388-AB67-FA0D-2F5B-B8DD68FC3C59}"/>
              </a:ext>
            </a:extLst>
          </p:cNvPr>
          <p:cNvSpPr/>
          <p:nvPr/>
        </p:nvSpPr>
        <p:spPr>
          <a:xfrm>
            <a:off x="2260600" y="4953000"/>
            <a:ext cx="234950" cy="3048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9" name="矩形: 圆角 258">
            <a:extLst>
              <a:ext uri="{FF2B5EF4-FFF2-40B4-BE49-F238E27FC236}">
                <a16:creationId xmlns:a16="http://schemas.microsoft.com/office/drawing/2014/main" id="{CD08D20A-50C1-A74D-B825-200AEF8C4C4F}"/>
              </a:ext>
            </a:extLst>
          </p:cNvPr>
          <p:cNvSpPr/>
          <p:nvPr/>
        </p:nvSpPr>
        <p:spPr>
          <a:xfrm>
            <a:off x="2520950" y="4953000"/>
            <a:ext cx="234950" cy="304800"/>
          </a:xfrm>
          <a:prstGeom prst="roundRect">
            <a:avLst/>
          </a:prstGeom>
          <a:solidFill>
            <a:srgbClr val="60A5FA"/>
          </a:solidFill>
          <a:ln w="12700">
            <a:solidFill>
              <a:srgbClr val="60A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0" name="矩形: 圆角 259">
            <a:extLst>
              <a:ext uri="{FF2B5EF4-FFF2-40B4-BE49-F238E27FC236}">
                <a16:creationId xmlns:a16="http://schemas.microsoft.com/office/drawing/2014/main" id="{1FB088C2-3B84-1189-0989-C5925F0207FD}"/>
              </a:ext>
            </a:extLst>
          </p:cNvPr>
          <p:cNvSpPr/>
          <p:nvPr/>
        </p:nvSpPr>
        <p:spPr>
          <a:xfrm>
            <a:off x="2781300" y="4953000"/>
            <a:ext cx="234950" cy="304800"/>
          </a:xfrm>
          <a:prstGeom prst="roundRect">
            <a:avLst/>
          </a:prstGeom>
          <a:solidFill>
            <a:srgbClr val="BFDBFE"/>
          </a:solidFill>
          <a:ln w="1270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1" name="矩形: 圆角 260">
            <a:extLst>
              <a:ext uri="{FF2B5EF4-FFF2-40B4-BE49-F238E27FC236}">
                <a16:creationId xmlns:a16="http://schemas.microsoft.com/office/drawing/2014/main" id="{566C88C7-226E-1796-2916-26CA42687DF0}"/>
              </a:ext>
            </a:extLst>
          </p:cNvPr>
          <p:cNvSpPr/>
          <p:nvPr/>
        </p:nvSpPr>
        <p:spPr>
          <a:xfrm>
            <a:off x="3041650" y="4953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2" name="矩形: 圆角 261">
            <a:extLst>
              <a:ext uri="{FF2B5EF4-FFF2-40B4-BE49-F238E27FC236}">
                <a16:creationId xmlns:a16="http://schemas.microsoft.com/office/drawing/2014/main" id="{7B61AA02-A819-37C8-38DE-AA4A3F35FEB7}"/>
              </a:ext>
            </a:extLst>
          </p:cNvPr>
          <p:cNvSpPr/>
          <p:nvPr/>
        </p:nvSpPr>
        <p:spPr>
          <a:xfrm>
            <a:off x="3302000" y="4953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3" name="矩形: 圆角 262">
            <a:extLst>
              <a:ext uri="{FF2B5EF4-FFF2-40B4-BE49-F238E27FC236}">
                <a16:creationId xmlns:a16="http://schemas.microsoft.com/office/drawing/2014/main" id="{0696DD75-E92F-6A5C-158D-675DBC56FADD}"/>
              </a:ext>
            </a:extLst>
          </p:cNvPr>
          <p:cNvSpPr/>
          <p:nvPr/>
        </p:nvSpPr>
        <p:spPr>
          <a:xfrm>
            <a:off x="3562350" y="4953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4" name="矩形: 圆角 263">
            <a:extLst>
              <a:ext uri="{FF2B5EF4-FFF2-40B4-BE49-F238E27FC236}">
                <a16:creationId xmlns:a16="http://schemas.microsoft.com/office/drawing/2014/main" id="{71DD4743-C828-E4CA-825A-FD3D0160A971}"/>
              </a:ext>
            </a:extLst>
          </p:cNvPr>
          <p:cNvSpPr/>
          <p:nvPr/>
        </p:nvSpPr>
        <p:spPr>
          <a:xfrm>
            <a:off x="3822700" y="4953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5" name="矩形: 圆角 264">
            <a:extLst>
              <a:ext uri="{FF2B5EF4-FFF2-40B4-BE49-F238E27FC236}">
                <a16:creationId xmlns:a16="http://schemas.microsoft.com/office/drawing/2014/main" id="{0F02EECA-DBA2-717A-A8B6-396479876F5A}"/>
              </a:ext>
            </a:extLst>
          </p:cNvPr>
          <p:cNvSpPr/>
          <p:nvPr/>
        </p:nvSpPr>
        <p:spPr>
          <a:xfrm>
            <a:off x="4083050" y="4953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6" name="矩形: 圆角 265">
            <a:extLst>
              <a:ext uri="{FF2B5EF4-FFF2-40B4-BE49-F238E27FC236}">
                <a16:creationId xmlns:a16="http://schemas.microsoft.com/office/drawing/2014/main" id="{6FB6F502-82F9-5015-1253-276EC7D76EB6}"/>
              </a:ext>
            </a:extLst>
          </p:cNvPr>
          <p:cNvSpPr/>
          <p:nvPr/>
        </p:nvSpPr>
        <p:spPr>
          <a:xfrm>
            <a:off x="4343400" y="4953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7" name="矩形: 圆角 266">
            <a:extLst>
              <a:ext uri="{FF2B5EF4-FFF2-40B4-BE49-F238E27FC236}">
                <a16:creationId xmlns:a16="http://schemas.microsoft.com/office/drawing/2014/main" id="{DC665E03-D2EF-DA62-C575-40F99C6002D7}"/>
              </a:ext>
            </a:extLst>
          </p:cNvPr>
          <p:cNvSpPr/>
          <p:nvPr/>
        </p:nvSpPr>
        <p:spPr>
          <a:xfrm>
            <a:off x="4603750" y="4953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8" name="矩形: 圆角 267">
            <a:extLst>
              <a:ext uri="{FF2B5EF4-FFF2-40B4-BE49-F238E27FC236}">
                <a16:creationId xmlns:a16="http://schemas.microsoft.com/office/drawing/2014/main" id="{34C69640-DBEF-BE41-D2A3-85412C2C5FE6}"/>
              </a:ext>
            </a:extLst>
          </p:cNvPr>
          <p:cNvSpPr/>
          <p:nvPr/>
        </p:nvSpPr>
        <p:spPr>
          <a:xfrm>
            <a:off x="4864100" y="4953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9" name="矩形: 圆角 268">
            <a:extLst>
              <a:ext uri="{FF2B5EF4-FFF2-40B4-BE49-F238E27FC236}">
                <a16:creationId xmlns:a16="http://schemas.microsoft.com/office/drawing/2014/main" id="{FF8D20E7-433F-565C-FECC-1FA0018DB36D}"/>
              </a:ext>
            </a:extLst>
          </p:cNvPr>
          <p:cNvSpPr/>
          <p:nvPr/>
        </p:nvSpPr>
        <p:spPr>
          <a:xfrm>
            <a:off x="5124450" y="4953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0" name="矩形: 圆角 269">
            <a:extLst>
              <a:ext uri="{FF2B5EF4-FFF2-40B4-BE49-F238E27FC236}">
                <a16:creationId xmlns:a16="http://schemas.microsoft.com/office/drawing/2014/main" id="{A0B4B9CE-F6C7-7B47-11EA-81BA57DB92BE}"/>
              </a:ext>
            </a:extLst>
          </p:cNvPr>
          <p:cNvSpPr/>
          <p:nvPr/>
        </p:nvSpPr>
        <p:spPr>
          <a:xfrm>
            <a:off x="5384800" y="4953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1" name="矩形: 圆角 270">
            <a:extLst>
              <a:ext uri="{FF2B5EF4-FFF2-40B4-BE49-F238E27FC236}">
                <a16:creationId xmlns:a16="http://schemas.microsoft.com/office/drawing/2014/main" id="{97601DBD-0530-4645-ACE3-A533C885DB37}"/>
              </a:ext>
            </a:extLst>
          </p:cNvPr>
          <p:cNvSpPr/>
          <p:nvPr/>
        </p:nvSpPr>
        <p:spPr>
          <a:xfrm>
            <a:off x="5645150" y="4953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2" name="矩形: 圆角 271">
            <a:extLst>
              <a:ext uri="{FF2B5EF4-FFF2-40B4-BE49-F238E27FC236}">
                <a16:creationId xmlns:a16="http://schemas.microsoft.com/office/drawing/2014/main" id="{63D6A4A1-ADDD-8B03-B779-CA78B3749A01}"/>
              </a:ext>
            </a:extLst>
          </p:cNvPr>
          <p:cNvSpPr/>
          <p:nvPr/>
        </p:nvSpPr>
        <p:spPr>
          <a:xfrm>
            <a:off x="5905500" y="4953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3" name="矩形: 圆角 272">
            <a:extLst>
              <a:ext uri="{FF2B5EF4-FFF2-40B4-BE49-F238E27FC236}">
                <a16:creationId xmlns:a16="http://schemas.microsoft.com/office/drawing/2014/main" id="{1D319679-3283-B7C9-25F6-A7DF9AAD5D2F}"/>
              </a:ext>
            </a:extLst>
          </p:cNvPr>
          <p:cNvSpPr/>
          <p:nvPr/>
        </p:nvSpPr>
        <p:spPr>
          <a:xfrm>
            <a:off x="6165850" y="4953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4" name="矩形: 圆角 273">
            <a:extLst>
              <a:ext uri="{FF2B5EF4-FFF2-40B4-BE49-F238E27FC236}">
                <a16:creationId xmlns:a16="http://schemas.microsoft.com/office/drawing/2014/main" id="{A0CD6BFE-77CA-FFF9-7A5C-A8727D69F3D2}"/>
              </a:ext>
            </a:extLst>
          </p:cNvPr>
          <p:cNvSpPr/>
          <p:nvPr/>
        </p:nvSpPr>
        <p:spPr>
          <a:xfrm>
            <a:off x="6426200" y="4953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5" name="矩形: 圆角 274">
            <a:extLst>
              <a:ext uri="{FF2B5EF4-FFF2-40B4-BE49-F238E27FC236}">
                <a16:creationId xmlns:a16="http://schemas.microsoft.com/office/drawing/2014/main" id="{D3AD6666-7C13-B63E-7304-611B669F384B}"/>
              </a:ext>
            </a:extLst>
          </p:cNvPr>
          <p:cNvSpPr/>
          <p:nvPr/>
        </p:nvSpPr>
        <p:spPr>
          <a:xfrm>
            <a:off x="6686550" y="4953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6" name="矩形: 圆角 275">
            <a:extLst>
              <a:ext uri="{FF2B5EF4-FFF2-40B4-BE49-F238E27FC236}">
                <a16:creationId xmlns:a16="http://schemas.microsoft.com/office/drawing/2014/main" id="{A9C98F0C-1835-C4FC-EBA2-2D011E7AA9A8}"/>
              </a:ext>
            </a:extLst>
          </p:cNvPr>
          <p:cNvSpPr/>
          <p:nvPr/>
        </p:nvSpPr>
        <p:spPr>
          <a:xfrm>
            <a:off x="6946900" y="4953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7" name="矩形: 圆角 276">
            <a:extLst>
              <a:ext uri="{FF2B5EF4-FFF2-40B4-BE49-F238E27FC236}">
                <a16:creationId xmlns:a16="http://schemas.microsoft.com/office/drawing/2014/main" id="{77CBADC1-6744-23AD-8551-9F06A1C15FB9}"/>
              </a:ext>
            </a:extLst>
          </p:cNvPr>
          <p:cNvSpPr/>
          <p:nvPr/>
        </p:nvSpPr>
        <p:spPr>
          <a:xfrm>
            <a:off x="7207250" y="4953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8" name="矩形: 圆角 277">
            <a:extLst>
              <a:ext uri="{FF2B5EF4-FFF2-40B4-BE49-F238E27FC236}">
                <a16:creationId xmlns:a16="http://schemas.microsoft.com/office/drawing/2014/main" id="{C1145416-299C-5E44-63E2-D299EBE63256}"/>
              </a:ext>
            </a:extLst>
          </p:cNvPr>
          <p:cNvSpPr/>
          <p:nvPr/>
        </p:nvSpPr>
        <p:spPr>
          <a:xfrm>
            <a:off x="7467600" y="4953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9" name="矩形: 圆角 278">
            <a:extLst>
              <a:ext uri="{FF2B5EF4-FFF2-40B4-BE49-F238E27FC236}">
                <a16:creationId xmlns:a16="http://schemas.microsoft.com/office/drawing/2014/main" id="{BE3FC597-179E-F8BF-3623-B28608691210}"/>
              </a:ext>
            </a:extLst>
          </p:cNvPr>
          <p:cNvSpPr/>
          <p:nvPr/>
        </p:nvSpPr>
        <p:spPr>
          <a:xfrm>
            <a:off x="7727950" y="4953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0" name="矩形: 圆角 279">
            <a:extLst>
              <a:ext uri="{FF2B5EF4-FFF2-40B4-BE49-F238E27FC236}">
                <a16:creationId xmlns:a16="http://schemas.microsoft.com/office/drawing/2014/main" id="{5BDCEA1F-8051-6D7B-6BDC-D6379DBACE93}"/>
              </a:ext>
            </a:extLst>
          </p:cNvPr>
          <p:cNvSpPr/>
          <p:nvPr/>
        </p:nvSpPr>
        <p:spPr>
          <a:xfrm>
            <a:off x="7988300" y="4953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1" name="矩形: 圆角 280">
            <a:extLst>
              <a:ext uri="{FF2B5EF4-FFF2-40B4-BE49-F238E27FC236}">
                <a16:creationId xmlns:a16="http://schemas.microsoft.com/office/drawing/2014/main" id="{CD40D767-7161-23F4-3C51-FE71A5CE5FA4}"/>
              </a:ext>
            </a:extLst>
          </p:cNvPr>
          <p:cNvSpPr/>
          <p:nvPr/>
        </p:nvSpPr>
        <p:spPr>
          <a:xfrm>
            <a:off x="8248650" y="4953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2" name="矩形: 圆角 281">
            <a:extLst>
              <a:ext uri="{FF2B5EF4-FFF2-40B4-BE49-F238E27FC236}">
                <a16:creationId xmlns:a16="http://schemas.microsoft.com/office/drawing/2014/main" id="{6A962897-1884-81FA-8E55-2F8FEF7E5321}"/>
              </a:ext>
            </a:extLst>
          </p:cNvPr>
          <p:cNvSpPr/>
          <p:nvPr/>
        </p:nvSpPr>
        <p:spPr>
          <a:xfrm>
            <a:off x="8509000" y="4953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3" name="矩形: 圆角 282">
            <a:extLst>
              <a:ext uri="{FF2B5EF4-FFF2-40B4-BE49-F238E27FC236}">
                <a16:creationId xmlns:a16="http://schemas.microsoft.com/office/drawing/2014/main" id="{212FF9CD-F1C8-0847-6C44-B5A6384D0D16}"/>
              </a:ext>
            </a:extLst>
          </p:cNvPr>
          <p:cNvSpPr/>
          <p:nvPr/>
        </p:nvSpPr>
        <p:spPr>
          <a:xfrm>
            <a:off x="8769350" y="4953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4" name="矩形: 圆角 283">
            <a:extLst>
              <a:ext uri="{FF2B5EF4-FFF2-40B4-BE49-F238E27FC236}">
                <a16:creationId xmlns:a16="http://schemas.microsoft.com/office/drawing/2014/main" id="{0C3276F4-0EC9-205E-9F30-59F770ACBCC1}"/>
              </a:ext>
            </a:extLst>
          </p:cNvPr>
          <p:cNvSpPr/>
          <p:nvPr/>
        </p:nvSpPr>
        <p:spPr>
          <a:xfrm>
            <a:off x="9029700" y="4953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5" name="矩形: 圆角 284">
            <a:extLst>
              <a:ext uri="{FF2B5EF4-FFF2-40B4-BE49-F238E27FC236}">
                <a16:creationId xmlns:a16="http://schemas.microsoft.com/office/drawing/2014/main" id="{D95492A0-61EF-B54C-60A5-5B495BF27122}"/>
              </a:ext>
            </a:extLst>
          </p:cNvPr>
          <p:cNvSpPr/>
          <p:nvPr/>
        </p:nvSpPr>
        <p:spPr>
          <a:xfrm>
            <a:off x="9290050" y="4953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6" name="矩形: 圆角 285">
            <a:extLst>
              <a:ext uri="{FF2B5EF4-FFF2-40B4-BE49-F238E27FC236}">
                <a16:creationId xmlns:a16="http://schemas.microsoft.com/office/drawing/2014/main" id="{46EA37E5-8670-EBF1-41CB-CFB914739B74}"/>
              </a:ext>
            </a:extLst>
          </p:cNvPr>
          <p:cNvSpPr/>
          <p:nvPr/>
        </p:nvSpPr>
        <p:spPr>
          <a:xfrm>
            <a:off x="9550400" y="4953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7" name="矩形: 圆角 286">
            <a:extLst>
              <a:ext uri="{FF2B5EF4-FFF2-40B4-BE49-F238E27FC236}">
                <a16:creationId xmlns:a16="http://schemas.microsoft.com/office/drawing/2014/main" id="{8FE6C4DF-55CB-97CB-7E8D-205D7996B294}"/>
              </a:ext>
            </a:extLst>
          </p:cNvPr>
          <p:cNvSpPr/>
          <p:nvPr/>
        </p:nvSpPr>
        <p:spPr>
          <a:xfrm>
            <a:off x="9810750" y="4953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8" name="矩形: 圆角 287">
            <a:extLst>
              <a:ext uri="{FF2B5EF4-FFF2-40B4-BE49-F238E27FC236}">
                <a16:creationId xmlns:a16="http://schemas.microsoft.com/office/drawing/2014/main" id="{63A9F920-9665-330A-C2FC-4E0FCE475D94}"/>
              </a:ext>
            </a:extLst>
          </p:cNvPr>
          <p:cNvSpPr/>
          <p:nvPr/>
        </p:nvSpPr>
        <p:spPr>
          <a:xfrm>
            <a:off x="10071100" y="4953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9" name="矩形: 圆角 288">
            <a:extLst>
              <a:ext uri="{FF2B5EF4-FFF2-40B4-BE49-F238E27FC236}">
                <a16:creationId xmlns:a16="http://schemas.microsoft.com/office/drawing/2014/main" id="{5BE091BD-5593-EE3C-C981-B68E9FEB6826}"/>
              </a:ext>
            </a:extLst>
          </p:cNvPr>
          <p:cNvSpPr/>
          <p:nvPr/>
        </p:nvSpPr>
        <p:spPr>
          <a:xfrm>
            <a:off x="10331450" y="4953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0" name="矩形: 圆角 289">
            <a:extLst>
              <a:ext uri="{FF2B5EF4-FFF2-40B4-BE49-F238E27FC236}">
                <a16:creationId xmlns:a16="http://schemas.microsoft.com/office/drawing/2014/main" id="{9A841F1A-5B6A-5EB2-60AD-62C7F0303549}"/>
              </a:ext>
            </a:extLst>
          </p:cNvPr>
          <p:cNvSpPr/>
          <p:nvPr/>
        </p:nvSpPr>
        <p:spPr>
          <a:xfrm>
            <a:off x="10591800" y="4953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1" name="矩形: 圆角 290">
            <a:extLst>
              <a:ext uri="{FF2B5EF4-FFF2-40B4-BE49-F238E27FC236}">
                <a16:creationId xmlns:a16="http://schemas.microsoft.com/office/drawing/2014/main" id="{D53D8FC6-5318-DF18-6080-7E5027CBC7AD}"/>
              </a:ext>
            </a:extLst>
          </p:cNvPr>
          <p:cNvSpPr/>
          <p:nvPr/>
        </p:nvSpPr>
        <p:spPr>
          <a:xfrm>
            <a:off x="10852150" y="4953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2" name="矩形: 圆角 291">
            <a:extLst>
              <a:ext uri="{FF2B5EF4-FFF2-40B4-BE49-F238E27FC236}">
                <a16:creationId xmlns:a16="http://schemas.microsoft.com/office/drawing/2014/main" id="{2EEA2BED-C8D1-020E-7DB9-2E9EDDB4F52B}"/>
              </a:ext>
            </a:extLst>
          </p:cNvPr>
          <p:cNvSpPr/>
          <p:nvPr/>
        </p:nvSpPr>
        <p:spPr>
          <a:xfrm>
            <a:off x="11112500" y="4953000"/>
            <a:ext cx="234950" cy="30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10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3" name="文本框 292">
            <a:extLst>
              <a:ext uri="{FF2B5EF4-FFF2-40B4-BE49-F238E27FC236}">
                <a16:creationId xmlns:a16="http://schemas.microsoft.com/office/drawing/2014/main" id="{10E4B43E-5C5E-E0F8-39AD-D4F7307ABE16}"/>
              </a:ext>
            </a:extLst>
          </p:cNvPr>
          <p:cNvSpPr txBox="1"/>
          <p:nvPr/>
        </p:nvSpPr>
        <p:spPr>
          <a:xfrm>
            <a:off x="2260600" y="5664200"/>
            <a:ext cx="9093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颜色表示 </a:t>
            </a:r>
            <a:r>
              <a:rPr lang="en-US" altLang="zh-CN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Top-1 / Top-2 / Top-3 </a:t>
            </a:r>
            <a:r>
              <a:rPr lang="zh-CN" altLang="en-US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排名；案例为 </a:t>
            </a:r>
            <a:r>
              <a:rPr lang="en-US" altLang="zh-CN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MMKE-visual × Qwen2.5-VL-3B</a:t>
            </a:r>
            <a:r>
              <a:rPr lang="zh-CN" altLang="en-US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294" name="文本框 293">
            <a:extLst>
              <a:ext uri="{FF2B5EF4-FFF2-40B4-BE49-F238E27FC236}">
                <a16:creationId xmlns:a16="http://schemas.microsoft.com/office/drawing/2014/main" id="{D9112699-6140-9522-D5DD-E5DF4A2A02A2}"/>
              </a:ext>
            </a:extLst>
          </p:cNvPr>
          <p:cNvSpPr txBox="1"/>
          <p:nvPr/>
        </p:nvSpPr>
        <p:spPr>
          <a:xfrm>
            <a:off x="533400" y="60706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7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含义：候选层并不由“模型深度”单独决定；不同信号捕捉的是结构先验、参数可塑性、扰动敏感性、因果恢复或视觉梯度关系。</a:t>
            </a:r>
          </a:p>
        </p:txBody>
      </p:sp>
    </p:spTree>
    <p:extLst>
      <p:ext uri="{BB962C8B-B14F-4D97-AF65-F5344CB8AC3E}">
        <p14:creationId xmlns:p14="http://schemas.microsoft.com/office/powerpoint/2010/main" val="2991575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>
            <a:extLst>
              <a:ext uri="{FF2B5EF4-FFF2-40B4-BE49-F238E27FC236}">
                <a16:creationId xmlns:a16="http://schemas.microsoft.com/office/drawing/2014/main" id="{225347A5-51AC-D59F-5E6E-86FE2DE69D5F}"/>
              </a:ext>
            </a:extLst>
          </p:cNvPr>
          <p:cNvSpPr txBox="1"/>
          <p:nvPr/>
        </p:nvSpPr>
        <p:spPr>
          <a:xfrm>
            <a:off x="457200" y="2794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Ours </a:t>
            </a:r>
            <a:r>
              <a:rPr lang="zh-CN" altLang="en-US" sz="12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公式消融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D57AB8B0-BC42-6B4D-D81D-6C72D0C97F38}"/>
              </a:ext>
            </a:extLst>
          </p:cNvPr>
          <p:cNvSpPr txBox="1"/>
          <p:nvPr/>
        </p:nvSpPr>
        <p:spPr>
          <a:xfrm>
            <a:off x="457200" y="609600"/>
            <a:ext cx="1130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5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 </a:t>
            </a:r>
            <a:r>
              <a:rPr lang="zh-CN" altLang="en-US" sz="35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公式消融：</a:t>
            </a:r>
            <a:r>
              <a:rPr lang="en-US" altLang="zh-CN" sz="35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|cos| × new_norm </a:t>
            </a:r>
            <a:r>
              <a:rPr lang="zh-CN" altLang="en-US" sz="35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的平均相关性最高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875ADD51-45F8-E7D0-410F-D259760EE289}"/>
              </a:ext>
            </a:extLst>
          </p:cNvPr>
          <p:cNvCxnSpPr/>
          <p:nvPr/>
        </p:nvCxnSpPr>
        <p:spPr>
          <a:xfrm>
            <a:off x="457200" y="1371600"/>
            <a:ext cx="11277600" cy="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age-number">
            <a:extLst>
              <a:ext uri="{FF2B5EF4-FFF2-40B4-BE49-F238E27FC236}">
                <a16:creationId xmlns:a16="http://schemas.microsoft.com/office/drawing/2014/main" id="{E1B4F923-4722-9B53-45D2-2844C3CCF6E6}"/>
              </a:ext>
            </a:extLst>
          </p:cNvPr>
          <p:cNvSpPr txBox="1"/>
          <p:nvPr/>
        </p:nvSpPr>
        <p:spPr>
          <a:xfrm>
            <a:off x="11303000" y="64135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1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14</a:t>
            </a:r>
            <a:endParaRPr lang="zh-CN" altLang="en-US" sz="110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8371E17-584E-8C61-8C27-1C367ADFDE7C}"/>
              </a:ext>
            </a:extLst>
          </p:cNvPr>
          <p:cNvSpPr/>
          <p:nvPr/>
        </p:nvSpPr>
        <p:spPr>
          <a:xfrm>
            <a:off x="533400" y="1625600"/>
            <a:ext cx="2209800" cy="355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公式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0FB2843-E3D2-4C09-A0F0-7DD9BE417A18}"/>
              </a:ext>
            </a:extLst>
          </p:cNvPr>
          <p:cNvSpPr/>
          <p:nvPr/>
        </p:nvSpPr>
        <p:spPr>
          <a:xfrm>
            <a:off x="2794000" y="1625600"/>
            <a:ext cx="787400" cy="355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族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547F56B-A30D-A5FC-63D2-1F15D15A8511}"/>
              </a:ext>
            </a:extLst>
          </p:cNvPr>
          <p:cNvSpPr/>
          <p:nvPr/>
        </p:nvSpPr>
        <p:spPr>
          <a:xfrm>
            <a:off x="3632200" y="1625600"/>
            <a:ext cx="1168400" cy="355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l-GR" altLang="zh-CN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ρ</a:t>
            </a:r>
            <a:endParaRPr lang="zh-CN" altLang="en-US" sz="16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FA12365-5716-1E14-6BD1-C5F143EB43A0}"/>
              </a:ext>
            </a:extLst>
          </p:cNvPr>
          <p:cNvSpPr/>
          <p:nvPr/>
        </p:nvSpPr>
        <p:spPr>
          <a:xfrm>
            <a:off x="4851400" y="1625600"/>
            <a:ext cx="1016000" cy="355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正相关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2CF29F5-014A-3E9D-D1A1-5471BE939F27}"/>
              </a:ext>
            </a:extLst>
          </p:cNvPr>
          <p:cNvSpPr/>
          <p:nvPr/>
        </p:nvSpPr>
        <p:spPr>
          <a:xfrm>
            <a:off x="5918200" y="1625600"/>
            <a:ext cx="1143000" cy="355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完整</a:t>
            </a:r>
            <a:r>
              <a:rPr lang="en-US" altLang="zh-CN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endParaRPr lang="zh-CN" altLang="en-US" sz="16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B62C2D0-40CB-7379-3C02-F415428AF73B}"/>
              </a:ext>
            </a:extLst>
          </p:cNvPr>
          <p:cNvSpPr/>
          <p:nvPr/>
        </p:nvSpPr>
        <p:spPr>
          <a:xfrm>
            <a:off x="7112000" y="1625600"/>
            <a:ext cx="1092200" cy="355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Best@3</a:t>
            </a:r>
            <a:endParaRPr lang="zh-CN" altLang="en-US" sz="16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FACDCAA-A8B7-FF21-2240-AEC50F0C4442}"/>
              </a:ext>
            </a:extLst>
          </p:cNvPr>
          <p:cNvSpPr/>
          <p:nvPr/>
        </p:nvSpPr>
        <p:spPr>
          <a:xfrm>
            <a:off x="8255000" y="1625600"/>
            <a:ext cx="1092200" cy="355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Mean@3</a:t>
            </a:r>
            <a:endParaRPr lang="zh-CN" altLang="en-US" sz="16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781B9A2E-4044-E2EF-6F2B-816EA6451DD2}"/>
              </a:ext>
            </a:extLst>
          </p:cNvPr>
          <p:cNvSpPr/>
          <p:nvPr/>
        </p:nvSpPr>
        <p:spPr>
          <a:xfrm>
            <a:off x="9398000" y="1625600"/>
            <a:ext cx="1168400" cy="355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Regret↓</a:t>
            </a:r>
            <a:endParaRPr lang="zh-CN" altLang="en-US" sz="16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0B007AB-B533-7DD8-5989-A6C05914A7E9}"/>
              </a:ext>
            </a:extLst>
          </p:cNvPr>
          <p:cNvSpPr/>
          <p:nvPr/>
        </p:nvSpPr>
        <p:spPr>
          <a:xfrm>
            <a:off x="533400" y="2032000"/>
            <a:ext cx="2209800" cy="3302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M_abscos_x_newn</a:t>
            </a:r>
            <a:endParaRPr lang="zh-CN" altLang="en-US" sz="1600" b="1">
              <a:solidFill>
                <a:srgbClr val="2563E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3CBCF68-B606-657C-875C-CD9162A579EB}"/>
              </a:ext>
            </a:extLst>
          </p:cNvPr>
          <p:cNvSpPr/>
          <p:nvPr/>
        </p:nvSpPr>
        <p:spPr>
          <a:xfrm>
            <a:off x="2794000" y="2032000"/>
            <a:ext cx="787400" cy="3302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B7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D1E74AC-26D5-6BA7-9179-1688ADE7FC72}"/>
              </a:ext>
            </a:extLst>
          </p:cNvPr>
          <p:cNvSpPr/>
          <p:nvPr/>
        </p:nvSpPr>
        <p:spPr>
          <a:xfrm>
            <a:off x="3632200" y="2032000"/>
            <a:ext cx="1168400" cy="330200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0.323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AE67CEB5-DAC9-136E-E68F-B71AB3CA2EB5}"/>
              </a:ext>
            </a:extLst>
          </p:cNvPr>
          <p:cNvSpPr/>
          <p:nvPr/>
        </p:nvSpPr>
        <p:spPr>
          <a:xfrm>
            <a:off x="4851400" y="2032000"/>
            <a:ext cx="1016000" cy="3302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15/18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1CB5A7C-617E-CD0B-5CE5-DF71EA54F386}"/>
              </a:ext>
            </a:extLst>
          </p:cNvPr>
          <p:cNvSpPr/>
          <p:nvPr/>
        </p:nvSpPr>
        <p:spPr>
          <a:xfrm>
            <a:off x="5918200" y="2032000"/>
            <a:ext cx="1143000" cy="330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25331F3E-6812-BA8A-49A6-A2F207C33A33}"/>
              </a:ext>
            </a:extLst>
          </p:cNvPr>
          <p:cNvSpPr/>
          <p:nvPr/>
        </p:nvSpPr>
        <p:spPr>
          <a:xfrm>
            <a:off x="7112000" y="2032000"/>
            <a:ext cx="1092200" cy="330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68.49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123FD37-D14B-D3FC-5162-538B7B5F1967}"/>
              </a:ext>
            </a:extLst>
          </p:cNvPr>
          <p:cNvSpPr/>
          <p:nvPr/>
        </p:nvSpPr>
        <p:spPr>
          <a:xfrm>
            <a:off x="8255000" y="2032000"/>
            <a:ext cx="1092200" cy="330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65.58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DB77E3D-9A55-9401-47EB-E35EBA5CE41F}"/>
              </a:ext>
            </a:extLst>
          </p:cNvPr>
          <p:cNvSpPr/>
          <p:nvPr/>
        </p:nvSpPr>
        <p:spPr>
          <a:xfrm>
            <a:off x="9398000" y="2032000"/>
            <a:ext cx="1168400" cy="330200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2.29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B7197495-B9BA-CEA2-0831-C96A864654AA}"/>
              </a:ext>
            </a:extLst>
          </p:cNvPr>
          <p:cNvSpPr/>
          <p:nvPr/>
        </p:nvSpPr>
        <p:spPr>
          <a:xfrm>
            <a:off x="533400" y="2400300"/>
            <a:ext cx="2209800" cy="33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M_new_norm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83F112A-ED96-D4D9-A382-06597757D830}"/>
              </a:ext>
            </a:extLst>
          </p:cNvPr>
          <p:cNvSpPr/>
          <p:nvPr/>
        </p:nvSpPr>
        <p:spPr>
          <a:xfrm>
            <a:off x="2794000" y="2400300"/>
            <a:ext cx="787400" cy="33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B7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4A3AFD90-9070-1764-B75B-9FD27E620135}"/>
              </a:ext>
            </a:extLst>
          </p:cNvPr>
          <p:cNvSpPr/>
          <p:nvPr/>
        </p:nvSpPr>
        <p:spPr>
          <a:xfrm>
            <a:off x="3632200" y="2400300"/>
            <a:ext cx="1168400" cy="330200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0.320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27BC61F3-737C-7369-399C-2C33F8A4E244}"/>
              </a:ext>
            </a:extLst>
          </p:cNvPr>
          <p:cNvSpPr/>
          <p:nvPr/>
        </p:nvSpPr>
        <p:spPr>
          <a:xfrm>
            <a:off x="4851400" y="2400300"/>
            <a:ext cx="1016000" cy="33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13/18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93CD6BEE-BC2F-091D-0BEA-2ED16C2425EC}"/>
              </a:ext>
            </a:extLst>
          </p:cNvPr>
          <p:cNvSpPr/>
          <p:nvPr/>
        </p:nvSpPr>
        <p:spPr>
          <a:xfrm>
            <a:off x="5918200" y="2400300"/>
            <a:ext cx="1143000" cy="330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6C4D5272-1156-CA7E-83D7-91605C7DB6B9}"/>
              </a:ext>
            </a:extLst>
          </p:cNvPr>
          <p:cNvSpPr/>
          <p:nvPr/>
        </p:nvSpPr>
        <p:spPr>
          <a:xfrm>
            <a:off x="7112000" y="2400300"/>
            <a:ext cx="1092200" cy="330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69.16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7ED63E06-82C9-F7CD-5715-8FE15B8BAA9E}"/>
              </a:ext>
            </a:extLst>
          </p:cNvPr>
          <p:cNvSpPr/>
          <p:nvPr/>
        </p:nvSpPr>
        <p:spPr>
          <a:xfrm>
            <a:off x="8255000" y="2400300"/>
            <a:ext cx="1092200" cy="330200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66.51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73EBEFC5-E7E7-F384-E4BE-2C7382EDFC0C}"/>
              </a:ext>
            </a:extLst>
          </p:cNvPr>
          <p:cNvSpPr/>
          <p:nvPr/>
        </p:nvSpPr>
        <p:spPr>
          <a:xfrm>
            <a:off x="9398000" y="2400300"/>
            <a:ext cx="1168400" cy="330200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2.24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C4FDC729-DBBC-2E7C-6E42-223BE35B9A6C}"/>
              </a:ext>
            </a:extLst>
          </p:cNvPr>
          <p:cNvSpPr/>
          <p:nvPr/>
        </p:nvSpPr>
        <p:spPr>
          <a:xfrm>
            <a:off x="533400" y="2768600"/>
            <a:ext cx="2209800" cy="33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M_newn_x_1mcos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1EDE2381-FC2D-7908-36CC-06C277A77D96}"/>
              </a:ext>
            </a:extLst>
          </p:cNvPr>
          <p:cNvSpPr/>
          <p:nvPr/>
        </p:nvSpPr>
        <p:spPr>
          <a:xfrm>
            <a:off x="2794000" y="2768600"/>
            <a:ext cx="787400" cy="33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B7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3C200EAD-A2D0-6BEB-47DE-18CBB001F346}"/>
              </a:ext>
            </a:extLst>
          </p:cNvPr>
          <p:cNvSpPr/>
          <p:nvPr/>
        </p:nvSpPr>
        <p:spPr>
          <a:xfrm>
            <a:off x="3632200" y="2768600"/>
            <a:ext cx="1168400" cy="330200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0.308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E6257D94-563F-6931-BBB4-3006945F509C}"/>
              </a:ext>
            </a:extLst>
          </p:cNvPr>
          <p:cNvSpPr/>
          <p:nvPr/>
        </p:nvSpPr>
        <p:spPr>
          <a:xfrm>
            <a:off x="4851400" y="2768600"/>
            <a:ext cx="1016000" cy="33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13/18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BD361D0B-9493-C266-4279-D8A2D3B4DDE8}"/>
              </a:ext>
            </a:extLst>
          </p:cNvPr>
          <p:cNvSpPr/>
          <p:nvPr/>
        </p:nvSpPr>
        <p:spPr>
          <a:xfrm>
            <a:off x="5918200" y="2768600"/>
            <a:ext cx="1143000" cy="330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2CEA72FA-A0B0-90A5-BDE6-478324B74ADA}"/>
              </a:ext>
            </a:extLst>
          </p:cNvPr>
          <p:cNvSpPr/>
          <p:nvPr/>
        </p:nvSpPr>
        <p:spPr>
          <a:xfrm>
            <a:off x="7112000" y="2768600"/>
            <a:ext cx="1092200" cy="3302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65.23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5D477670-B45A-ABCC-316D-418895359858}"/>
              </a:ext>
            </a:extLst>
          </p:cNvPr>
          <p:cNvSpPr/>
          <p:nvPr/>
        </p:nvSpPr>
        <p:spPr>
          <a:xfrm>
            <a:off x="8255000" y="2768600"/>
            <a:ext cx="1092200" cy="330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63.80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9E1AD926-066F-4355-1361-6C5ACE0327B1}"/>
              </a:ext>
            </a:extLst>
          </p:cNvPr>
          <p:cNvSpPr/>
          <p:nvPr/>
        </p:nvSpPr>
        <p:spPr>
          <a:xfrm>
            <a:off x="9398000" y="2768600"/>
            <a:ext cx="1168400" cy="330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6.17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E3007A0C-B996-562E-AF4F-32E96C411BE5}"/>
              </a:ext>
            </a:extLst>
          </p:cNvPr>
          <p:cNvSpPr/>
          <p:nvPr/>
        </p:nvSpPr>
        <p:spPr>
          <a:xfrm>
            <a:off x="533400" y="3136900"/>
            <a:ext cx="2209800" cy="33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M_pos_ratio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12869877-C938-76BB-33B4-312E44E106D9}"/>
              </a:ext>
            </a:extLst>
          </p:cNvPr>
          <p:cNvSpPr/>
          <p:nvPr/>
        </p:nvSpPr>
        <p:spPr>
          <a:xfrm>
            <a:off x="2794000" y="3136900"/>
            <a:ext cx="787400" cy="33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B7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6B259315-41EA-CD84-2AAE-DAC58322770F}"/>
              </a:ext>
            </a:extLst>
          </p:cNvPr>
          <p:cNvSpPr/>
          <p:nvPr/>
        </p:nvSpPr>
        <p:spPr>
          <a:xfrm>
            <a:off x="3632200" y="3136900"/>
            <a:ext cx="1168400" cy="330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0.145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7F18992B-8712-6DEC-262D-37583A849B0A}"/>
              </a:ext>
            </a:extLst>
          </p:cNvPr>
          <p:cNvSpPr/>
          <p:nvPr/>
        </p:nvSpPr>
        <p:spPr>
          <a:xfrm>
            <a:off x="4851400" y="3136900"/>
            <a:ext cx="1016000" cy="33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12/18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869AEC57-7B06-7642-599A-83EAF7EAB1C0}"/>
              </a:ext>
            </a:extLst>
          </p:cNvPr>
          <p:cNvSpPr/>
          <p:nvPr/>
        </p:nvSpPr>
        <p:spPr>
          <a:xfrm>
            <a:off x="5918200" y="3136900"/>
            <a:ext cx="1143000" cy="3302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BC6ED536-39F6-FBCA-594B-9ECBF5E3B459}"/>
              </a:ext>
            </a:extLst>
          </p:cNvPr>
          <p:cNvSpPr/>
          <p:nvPr/>
        </p:nvSpPr>
        <p:spPr>
          <a:xfrm>
            <a:off x="7112000" y="3136900"/>
            <a:ext cx="1092200" cy="330200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74.00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3E99B4FB-162F-A55E-A0E2-9371F33C7828}"/>
              </a:ext>
            </a:extLst>
          </p:cNvPr>
          <p:cNvSpPr/>
          <p:nvPr/>
        </p:nvSpPr>
        <p:spPr>
          <a:xfrm>
            <a:off x="8255000" y="3136900"/>
            <a:ext cx="1092200" cy="330200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67.34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91431D8D-F94A-7F92-9713-22E256C9CE6A}"/>
              </a:ext>
            </a:extLst>
          </p:cNvPr>
          <p:cNvSpPr/>
          <p:nvPr/>
        </p:nvSpPr>
        <p:spPr>
          <a:xfrm>
            <a:off x="9398000" y="3136900"/>
            <a:ext cx="1168400" cy="330200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2.88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595E250E-7226-2EB8-2DE7-740582E647C8}"/>
              </a:ext>
            </a:extLst>
          </p:cNvPr>
          <p:cNvSpPr/>
          <p:nvPr/>
        </p:nvSpPr>
        <p:spPr>
          <a:xfrm>
            <a:off x="533400" y="3505200"/>
            <a:ext cx="2209800" cy="33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Ours-AbsDirection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DBB2A75A-0F1D-C6C4-3511-A76CD48B90AA}"/>
              </a:ext>
            </a:extLst>
          </p:cNvPr>
          <p:cNvSpPr/>
          <p:nvPr/>
        </p:nvSpPr>
        <p:spPr>
          <a:xfrm>
            <a:off x="2794000" y="3505200"/>
            <a:ext cx="787400" cy="33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O4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2AAA45CF-B939-4BF3-D5DD-BA350666225C}"/>
              </a:ext>
            </a:extLst>
          </p:cNvPr>
          <p:cNvSpPr/>
          <p:nvPr/>
        </p:nvSpPr>
        <p:spPr>
          <a:xfrm>
            <a:off x="3632200" y="3505200"/>
            <a:ext cx="1168400" cy="3302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0.090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681517F1-7103-C2A7-1D8A-27BE256BB3C3}"/>
              </a:ext>
            </a:extLst>
          </p:cNvPr>
          <p:cNvSpPr/>
          <p:nvPr/>
        </p:nvSpPr>
        <p:spPr>
          <a:xfrm>
            <a:off x="4851400" y="3505200"/>
            <a:ext cx="1016000" cy="33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12/18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B1927CDE-C55A-947E-B76F-1C79643D001A}"/>
              </a:ext>
            </a:extLst>
          </p:cNvPr>
          <p:cNvSpPr/>
          <p:nvPr/>
        </p:nvSpPr>
        <p:spPr>
          <a:xfrm>
            <a:off x="5918200" y="3505200"/>
            <a:ext cx="1143000" cy="330200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C7737E78-B244-1CE1-2D07-0F67529B5B75}"/>
              </a:ext>
            </a:extLst>
          </p:cNvPr>
          <p:cNvSpPr/>
          <p:nvPr/>
        </p:nvSpPr>
        <p:spPr>
          <a:xfrm>
            <a:off x="7112000" y="3505200"/>
            <a:ext cx="1092200" cy="330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70.22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297C7365-9F6F-AF5F-0DFA-CBBAE803AA02}"/>
              </a:ext>
            </a:extLst>
          </p:cNvPr>
          <p:cNvSpPr/>
          <p:nvPr/>
        </p:nvSpPr>
        <p:spPr>
          <a:xfrm>
            <a:off x="8255000" y="3505200"/>
            <a:ext cx="1092200" cy="330200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68.56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A781508A-FAB0-62A4-9A82-A7EAFC758E60}"/>
              </a:ext>
            </a:extLst>
          </p:cNvPr>
          <p:cNvSpPr/>
          <p:nvPr/>
        </p:nvSpPr>
        <p:spPr>
          <a:xfrm>
            <a:off x="9398000" y="3505200"/>
            <a:ext cx="1168400" cy="330200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3.88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13F7D325-FF03-EBF1-84A5-7318FAAFE1AB}"/>
              </a:ext>
            </a:extLst>
          </p:cNvPr>
          <p:cNvSpPr/>
          <p:nvPr/>
        </p:nvSpPr>
        <p:spPr>
          <a:xfrm>
            <a:off x="533400" y="3873500"/>
            <a:ext cx="2209800" cy="33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Ours-Direct-Conflict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B594444E-26B0-B6B3-D710-45D64262C8E0}"/>
              </a:ext>
            </a:extLst>
          </p:cNvPr>
          <p:cNvSpPr/>
          <p:nvPr/>
        </p:nvSpPr>
        <p:spPr>
          <a:xfrm>
            <a:off x="2794000" y="3873500"/>
            <a:ext cx="787400" cy="33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O4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B8262E24-E16F-AAFC-5961-D972BCD4CD8E}"/>
              </a:ext>
            </a:extLst>
          </p:cNvPr>
          <p:cNvSpPr/>
          <p:nvPr/>
        </p:nvSpPr>
        <p:spPr>
          <a:xfrm>
            <a:off x="3632200" y="3873500"/>
            <a:ext cx="1168400" cy="3302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0.088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A1CF46E4-D357-D4B1-2A20-BE6405A6FEC8}"/>
              </a:ext>
            </a:extLst>
          </p:cNvPr>
          <p:cNvSpPr/>
          <p:nvPr/>
        </p:nvSpPr>
        <p:spPr>
          <a:xfrm>
            <a:off x="4851400" y="3873500"/>
            <a:ext cx="1016000" cy="33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3/5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664C436D-BB57-9F46-D2E8-B5933D5B1D81}"/>
              </a:ext>
            </a:extLst>
          </p:cNvPr>
          <p:cNvSpPr/>
          <p:nvPr/>
        </p:nvSpPr>
        <p:spPr>
          <a:xfrm>
            <a:off x="5918200" y="3873500"/>
            <a:ext cx="1143000" cy="3302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EEC7775D-DC9A-820A-17B6-344DC5748FE1}"/>
              </a:ext>
            </a:extLst>
          </p:cNvPr>
          <p:cNvSpPr/>
          <p:nvPr/>
        </p:nvSpPr>
        <p:spPr>
          <a:xfrm>
            <a:off x="7112000" y="3873500"/>
            <a:ext cx="1092200" cy="330200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71.33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F1B1B420-E9DE-6C5C-5ED2-895597C3DBDD}"/>
              </a:ext>
            </a:extLst>
          </p:cNvPr>
          <p:cNvSpPr/>
          <p:nvPr/>
        </p:nvSpPr>
        <p:spPr>
          <a:xfrm>
            <a:off x="8255000" y="3873500"/>
            <a:ext cx="1092200" cy="330200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68.58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5D995976-05AF-6D5B-1E92-E6E4E630FA64}"/>
              </a:ext>
            </a:extLst>
          </p:cNvPr>
          <p:cNvSpPr/>
          <p:nvPr/>
        </p:nvSpPr>
        <p:spPr>
          <a:xfrm>
            <a:off x="9398000" y="3873500"/>
            <a:ext cx="1168400" cy="330200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2.13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F1866164-665C-8D6B-143B-5C7930E90EE2}"/>
              </a:ext>
            </a:extLst>
          </p:cNvPr>
          <p:cNvSpPr/>
          <p:nvPr/>
        </p:nvSpPr>
        <p:spPr>
          <a:xfrm>
            <a:off x="533400" y="4241800"/>
            <a:ext cx="2209800" cy="33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M_cos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E8F50D76-3936-C72C-B434-E68A5EFE4434}"/>
              </a:ext>
            </a:extLst>
          </p:cNvPr>
          <p:cNvSpPr/>
          <p:nvPr/>
        </p:nvSpPr>
        <p:spPr>
          <a:xfrm>
            <a:off x="2794000" y="4241800"/>
            <a:ext cx="787400" cy="33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B7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C2CCCF46-66D9-EEAE-226E-C2F2814AF44C}"/>
              </a:ext>
            </a:extLst>
          </p:cNvPr>
          <p:cNvSpPr/>
          <p:nvPr/>
        </p:nvSpPr>
        <p:spPr>
          <a:xfrm>
            <a:off x="3632200" y="4241800"/>
            <a:ext cx="1168400" cy="3302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0.072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84CC6B34-9FF8-057E-027A-CEEE52DF2746}"/>
              </a:ext>
            </a:extLst>
          </p:cNvPr>
          <p:cNvSpPr/>
          <p:nvPr/>
        </p:nvSpPr>
        <p:spPr>
          <a:xfrm>
            <a:off x="4851400" y="4241800"/>
            <a:ext cx="1016000" cy="33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12/18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B5A0FE8E-D4E2-6652-8827-956EF8D1AAD2}"/>
              </a:ext>
            </a:extLst>
          </p:cNvPr>
          <p:cNvSpPr/>
          <p:nvPr/>
        </p:nvSpPr>
        <p:spPr>
          <a:xfrm>
            <a:off x="5918200" y="4241800"/>
            <a:ext cx="1143000" cy="3302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5B3451A9-4A7F-618A-6C34-1E32E3B17621}"/>
              </a:ext>
            </a:extLst>
          </p:cNvPr>
          <p:cNvSpPr/>
          <p:nvPr/>
        </p:nvSpPr>
        <p:spPr>
          <a:xfrm>
            <a:off x="7112000" y="4241800"/>
            <a:ext cx="1092200" cy="3302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59.67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A1E32B98-5C2F-18DB-9269-350877C3FCF8}"/>
              </a:ext>
            </a:extLst>
          </p:cNvPr>
          <p:cNvSpPr/>
          <p:nvPr/>
        </p:nvSpPr>
        <p:spPr>
          <a:xfrm>
            <a:off x="8255000" y="4241800"/>
            <a:ext cx="1092200" cy="3302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58.67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D2DF24A4-1302-5874-F75C-30357C35050A}"/>
              </a:ext>
            </a:extLst>
          </p:cNvPr>
          <p:cNvSpPr/>
          <p:nvPr/>
        </p:nvSpPr>
        <p:spPr>
          <a:xfrm>
            <a:off x="9398000" y="4241800"/>
            <a:ext cx="1168400" cy="3302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13.26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93C49267-261A-59FD-B311-D85A772E8FD4}"/>
              </a:ext>
            </a:extLst>
          </p:cNvPr>
          <p:cNvSpPr/>
          <p:nvPr/>
        </p:nvSpPr>
        <p:spPr>
          <a:xfrm>
            <a:off x="533400" y="4610100"/>
            <a:ext cx="2209800" cy="33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M_dot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CEF08647-80F1-C49D-750B-7AFBCB6A6663}"/>
              </a:ext>
            </a:extLst>
          </p:cNvPr>
          <p:cNvSpPr/>
          <p:nvPr/>
        </p:nvSpPr>
        <p:spPr>
          <a:xfrm>
            <a:off x="2794000" y="4610100"/>
            <a:ext cx="787400" cy="33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B7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747274D4-48D5-F6C1-8414-FF61DA6D56F9}"/>
              </a:ext>
            </a:extLst>
          </p:cNvPr>
          <p:cNvSpPr/>
          <p:nvPr/>
        </p:nvSpPr>
        <p:spPr>
          <a:xfrm>
            <a:off x="3632200" y="4610100"/>
            <a:ext cx="1168400" cy="3302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0.068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0434EE76-6B23-15F6-B17D-B5769466F31F}"/>
              </a:ext>
            </a:extLst>
          </p:cNvPr>
          <p:cNvSpPr/>
          <p:nvPr/>
        </p:nvSpPr>
        <p:spPr>
          <a:xfrm>
            <a:off x="4851400" y="4610100"/>
            <a:ext cx="1016000" cy="33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12/18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D2A759EE-2420-0F95-E090-DD11D79FD257}"/>
              </a:ext>
            </a:extLst>
          </p:cNvPr>
          <p:cNvSpPr/>
          <p:nvPr/>
        </p:nvSpPr>
        <p:spPr>
          <a:xfrm>
            <a:off x="5918200" y="4610100"/>
            <a:ext cx="1143000" cy="330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CD6784E5-2E23-317F-9609-3C5073311B0B}"/>
              </a:ext>
            </a:extLst>
          </p:cNvPr>
          <p:cNvSpPr/>
          <p:nvPr/>
        </p:nvSpPr>
        <p:spPr>
          <a:xfrm>
            <a:off x="7112000" y="4610100"/>
            <a:ext cx="1092200" cy="330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67.48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C163FE4C-11F3-B42F-5E3E-1431700C4057}"/>
              </a:ext>
            </a:extLst>
          </p:cNvPr>
          <p:cNvSpPr/>
          <p:nvPr/>
        </p:nvSpPr>
        <p:spPr>
          <a:xfrm>
            <a:off x="8255000" y="4610100"/>
            <a:ext cx="1092200" cy="330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65.14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57A7DBD2-2554-16D6-03FF-1F8648062E65}"/>
              </a:ext>
            </a:extLst>
          </p:cNvPr>
          <p:cNvSpPr/>
          <p:nvPr/>
        </p:nvSpPr>
        <p:spPr>
          <a:xfrm>
            <a:off x="9398000" y="4610100"/>
            <a:ext cx="1168400" cy="330200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4.18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C61B5AD3-03C4-8B71-639B-F7B7A1223D18}"/>
              </a:ext>
            </a:extLst>
          </p:cNvPr>
          <p:cNvSpPr/>
          <p:nvPr/>
        </p:nvSpPr>
        <p:spPr>
          <a:xfrm>
            <a:off x="533400" y="4978400"/>
            <a:ext cx="2209800" cy="33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Ours-NoDirection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83A473D7-19EC-6771-4691-D55D7212E917}"/>
              </a:ext>
            </a:extLst>
          </p:cNvPr>
          <p:cNvSpPr/>
          <p:nvPr/>
        </p:nvSpPr>
        <p:spPr>
          <a:xfrm>
            <a:off x="2794000" y="4978400"/>
            <a:ext cx="787400" cy="33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O4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A75E304C-A891-A9D7-83E6-5CACFCFD38E9}"/>
              </a:ext>
            </a:extLst>
          </p:cNvPr>
          <p:cNvSpPr/>
          <p:nvPr/>
        </p:nvSpPr>
        <p:spPr>
          <a:xfrm>
            <a:off x="3632200" y="4978400"/>
            <a:ext cx="1168400" cy="3302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0.032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1" name="矩形: 圆角 80">
            <a:extLst>
              <a:ext uri="{FF2B5EF4-FFF2-40B4-BE49-F238E27FC236}">
                <a16:creationId xmlns:a16="http://schemas.microsoft.com/office/drawing/2014/main" id="{831ED043-4AD8-DEF3-ADD5-CA449ACA3D9F}"/>
              </a:ext>
            </a:extLst>
          </p:cNvPr>
          <p:cNvSpPr/>
          <p:nvPr/>
        </p:nvSpPr>
        <p:spPr>
          <a:xfrm>
            <a:off x="4851400" y="4978400"/>
            <a:ext cx="1016000" cy="33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10/18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024E859F-86F2-D1C6-B3D2-458E8090AFAF}"/>
              </a:ext>
            </a:extLst>
          </p:cNvPr>
          <p:cNvSpPr/>
          <p:nvPr/>
        </p:nvSpPr>
        <p:spPr>
          <a:xfrm>
            <a:off x="5918200" y="4978400"/>
            <a:ext cx="1143000" cy="330200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3" name="矩形: 圆角 82">
            <a:extLst>
              <a:ext uri="{FF2B5EF4-FFF2-40B4-BE49-F238E27FC236}">
                <a16:creationId xmlns:a16="http://schemas.microsoft.com/office/drawing/2014/main" id="{35C1B4C6-DF68-47A1-5F94-9B77999B9B67}"/>
              </a:ext>
            </a:extLst>
          </p:cNvPr>
          <p:cNvSpPr/>
          <p:nvPr/>
        </p:nvSpPr>
        <p:spPr>
          <a:xfrm>
            <a:off x="7112000" y="4978400"/>
            <a:ext cx="1092200" cy="330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70.10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92DD17BB-2542-CFD4-6C0E-F69623D7F6E5}"/>
              </a:ext>
            </a:extLst>
          </p:cNvPr>
          <p:cNvSpPr/>
          <p:nvPr/>
        </p:nvSpPr>
        <p:spPr>
          <a:xfrm>
            <a:off x="8255000" y="4978400"/>
            <a:ext cx="1092200" cy="330200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67.90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68CEC3A3-95DF-CF83-0300-BDE5447A9F5B}"/>
              </a:ext>
            </a:extLst>
          </p:cNvPr>
          <p:cNvSpPr/>
          <p:nvPr/>
        </p:nvSpPr>
        <p:spPr>
          <a:xfrm>
            <a:off x="9398000" y="4978400"/>
            <a:ext cx="1168400" cy="330200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4.00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6" name="矩形: 圆角 85">
            <a:extLst>
              <a:ext uri="{FF2B5EF4-FFF2-40B4-BE49-F238E27FC236}">
                <a16:creationId xmlns:a16="http://schemas.microsoft.com/office/drawing/2014/main" id="{B1586E5D-92F6-3612-B6C9-084793933DB9}"/>
              </a:ext>
            </a:extLst>
          </p:cNvPr>
          <p:cNvSpPr/>
          <p:nvPr/>
        </p:nvSpPr>
        <p:spPr>
          <a:xfrm>
            <a:off x="533400" y="5346700"/>
            <a:ext cx="2209800" cy="33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Ours-1MinusCos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5B53715F-BF86-E548-FD4C-5E75DE957C65}"/>
              </a:ext>
            </a:extLst>
          </p:cNvPr>
          <p:cNvSpPr/>
          <p:nvPr/>
        </p:nvSpPr>
        <p:spPr>
          <a:xfrm>
            <a:off x="2794000" y="5346700"/>
            <a:ext cx="787400" cy="33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O4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45B7B417-CB55-43AC-689E-9BB2CB5BF0BA}"/>
              </a:ext>
            </a:extLst>
          </p:cNvPr>
          <p:cNvSpPr/>
          <p:nvPr/>
        </p:nvSpPr>
        <p:spPr>
          <a:xfrm>
            <a:off x="3632200" y="5346700"/>
            <a:ext cx="1168400" cy="3302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0.016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FFCDA237-1B4F-8086-DB77-94626AADD371}"/>
              </a:ext>
            </a:extLst>
          </p:cNvPr>
          <p:cNvSpPr/>
          <p:nvPr/>
        </p:nvSpPr>
        <p:spPr>
          <a:xfrm>
            <a:off x="4851400" y="5346700"/>
            <a:ext cx="1016000" cy="33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10/18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0" name="矩形: 圆角 89">
            <a:extLst>
              <a:ext uri="{FF2B5EF4-FFF2-40B4-BE49-F238E27FC236}">
                <a16:creationId xmlns:a16="http://schemas.microsoft.com/office/drawing/2014/main" id="{32AC569F-C7D9-B68A-9379-2993C159BFB5}"/>
              </a:ext>
            </a:extLst>
          </p:cNvPr>
          <p:cNvSpPr/>
          <p:nvPr/>
        </p:nvSpPr>
        <p:spPr>
          <a:xfrm>
            <a:off x="5918200" y="5346700"/>
            <a:ext cx="1143000" cy="330200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1" name="矩形: 圆角 90">
            <a:extLst>
              <a:ext uri="{FF2B5EF4-FFF2-40B4-BE49-F238E27FC236}">
                <a16:creationId xmlns:a16="http://schemas.microsoft.com/office/drawing/2014/main" id="{F7478B25-FDAE-2D7E-CE6A-37F36D17903E}"/>
              </a:ext>
            </a:extLst>
          </p:cNvPr>
          <p:cNvSpPr/>
          <p:nvPr/>
        </p:nvSpPr>
        <p:spPr>
          <a:xfrm>
            <a:off x="7112000" y="5346700"/>
            <a:ext cx="1092200" cy="330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70.08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2" name="矩形: 圆角 91">
            <a:extLst>
              <a:ext uri="{FF2B5EF4-FFF2-40B4-BE49-F238E27FC236}">
                <a16:creationId xmlns:a16="http://schemas.microsoft.com/office/drawing/2014/main" id="{0BAF15A5-FE3C-B137-731B-4787B8956759}"/>
              </a:ext>
            </a:extLst>
          </p:cNvPr>
          <p:cNvSpPr/>
          <p:nvPr/>
        </p:nvSpPr>
        <p:spPr>
          <a:xfrm>
            <a:off x="8255000" y="5346700"/>
            <a:ext cx="1092200" cy="330200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67.29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3" name="矩形: 圆角 92">
            <a:extLst>
              <a:ext uri="{FF2B5EF4-FFF2-40B4-BE49-F238E27FC236}">
                <a16:creationId xmlns:a16="http://schemas.microsoft.com/office/drawing/2014/main" id="{EFE1206B-E673-0659-04AA-798098A16764}"/>
              </a:ext>
            </a:extLst>
          </p:cNvPr>
          <p:cNvSpPr/>
          <p:nvPr/>
        </p:nvSpPr>
        <p:spPr>
          <a:xfrm>
            <a:off x="9398000" y="5346700"/>
            <a:ext cx="1168400" cy="330200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4.02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4" name="矩形: 圆角 93">
            <a:extLst>
              <a:ext uri="{FF2B5EF4-FFF2-40B4-BE49-F238E27FC236}">
                <a16:creationId xmlns:a16="http://schemas.microsoft.com/office/drawing/2014/main" id="{3B5F0888-80CC-437D-1B6B-E1AB948EC73E}"/>
              </a:ext>
            </a:extLst>
          </p:cNvPr>
          <p:cNvSpPr/>
          <p:nvPr/>
        </p:nvSpPr>
        <p:spPr>
          <a:xfrm>
            <a:off x="533400" y="5715000"/>
            <a:ext cx="2209800" cy="33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M_conflict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5" name="矩形: 圆角 94">
            <a:extLst>
              <a:ext uri="{FF2B5EF4-FFF2-40B4-BE49-F238E27FC236}">
                <a16:creationId xmlns:a16="http://schemas.microsoft.com/office/drawing/2014/main" id="{022ECA4C-1B55-AFFD-53AA-02C9417F236E}"/>
              </a:ext>
            </a:extLst>
          </p:cNvPr>
          <p:cNvSpPr/>
          <p:nvPr/>
        </p:nvSpPr>
        <p:spPr>
          <a:xfrm>
            <a:off x="2794000" y="5715000"/>
            <a:ext cx="787400" cy="33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B7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6" name="矩形: 圆角 95">
            <a:extLst>
              <a:ext uri="{FF2B5EF4-FFF2-40B4-BE49-F238E27FC236}">
                <a16:creationId xmlns:a16="http://schemas.microsoft.com/office/drawing/2014/main" id="{3F5579B5-77CE-A230-6F46-ECB2B2552CF0}"/>
              </a:ext>
            </a:extLst>
          </p:cNvPr>
          <p:cNvSpPr/>
          <p:nvPr/>
        </p:nvSpPr>
        <p:spPr>
          <a:xfrm>
            <a:off x="3632200" y="5715000"/>
            <a:ext cx="1168400" cy="3302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-0.068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7" name="矩形: 圆角 96">
            <a:extLst>
              <a:ext uri="{FF2B5EF4-FFF2-40B4-BE49-F238E27FC236}">
                <a16:creationId xmlns:a16="http://schemas.microsoft.com/office/drawing/2014/main" id="{86D6F3B7-3335-D6A4-B02D-E548E355EFBF}"/>
              </a:ext>
            </a:extLst>
          </p:cNvPr>
          <p:cNvSpPr/>
          <p:nvPr/>
        </p:nvSpPr>
        <p:spPr>
          <a:xfrm>
            <a:off x="4851400" y="5715000"/>
            <a:ext cx="1016000" cy="33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6/18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8" name="矩形: 圆角 97">
            <a:extLst>
              <a:ext uri="{FF2B5EF4-FFF2-40B4-BE49-F238E27FC236}">
                <a16:creationId xmlns:a16="http://schemas.microsoft.com/office/drawing/2014/main" id="{DE93E889-13DA-9C81-A93D-1DAB9FF6B729}"/>
              </a:ext>
            </a:extLst>
          </p:cNvPr>
          <p:cNvSpPr/>
          <p:nvPr/>
        </p:nvSpPr>
        <p:spPr>
          <a:xfrm>
            <a:off x="5918200" y="5715000"/>
            <a:ext cx="1143000" cy="3302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9" name="矩形: 圆角 98">
            <a:extLst>
              <a:ext uri="{FF2B5EF4-FFF2-40B4-BE49-F238E27FC236}">
                <a16:creationId xmlns:a16="http://schemas.microsoft.com/office/drawing/2014/main" id="{D1BFBCBE-ABC5-A673-765E-5A075669F7F8}"/>
              </a:ext>
            </a:extLst>
          </p:cNvPr>
          <p:cNvSpPr/>
          <p:nvPr/>
        </p:nvSpPr>
        <p:spPr>
          <a:xfrm>
            <a:off x="7112000" y="5715000"/>
            <a:ext cx="1092200" cy="3302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62.18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0" name="矩形: 圆角 99">
            <a:extLst>
              <a:ext uri="{FF2B5EF4-FFF2-40B4-BE49-F238E27FC236}">
                <a16:creationId xmlns:a16="http://schemas.microsoft.com/office/drawing/2014/main" id="{DE80D155-9C5E-8C8A-E40F-B662A78D0628}"/>
              </a:ext>
            </a:extLst>
          </p:cNvPr>
          <p:cNvSpPr/>
          <p:nvPr/>
        </p:nvSpPr>
        <p:spPr>
          <a:xfrm>
            <a:off x="8255000" y="5715000"/>
            <a:ext cx="1092200" cy="3302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59.00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1" name="矩形: 圆角 100">
            <a:extLst>
              <a:ext uri="{FF2B5EF4-FFF2-40B4-BE49-F238E27FC236}">
                <a16:creationId xmlns:a16="http://schemas.microsoft.com/office/drawing/2014/main" id="{4261734D-2D9D-3BFB-2226-78D1C243A82A}"/>
              </a:ext>
            </a:extLst>
          </p:cNvPr>
          <p:cNvSpPr/>
          <p:nvPr/>
        </p:nvSpPr>
        <p:spPr>
          <a:xfrm>
            <a:off x="9398000" y="5715000"/>
            <a:ext cx="1168400" cy="3302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8.25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D0762534-C17E-2475-D206-E2290F618410}"/>
              </a:ext>
            </a:extLst>
          </p:cNvPr>
          <p:cNvSpPr txBox="1"/>
          <p:nvPr/>
        </p:nvSpPr>
        <p:spPr>
          <a:xfrm>
            <a:off x="533400" y="6159500"/>
            <a:ext cx="1112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B7=7</a:t>
            </a:r>
            <a:r>
              <a:rPr lang="zh-CN" altLang="en-US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个基础公式，</a:t>
            </a:r>
            <a:r>
              <a:rPr lang="en-US" altLang="zh-CN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O4=4</a:t>
            </a:r>
            <a:r>
              <a:rPr lang="zh-CN" altLang="en-US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个深度加权指标。</a:t>
            </a:r>
            <a:r>
              <a:rPr lang="en-US" altLang="zh-CN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M_abscos </a:t>
            </a:r>
            <a:r>
              <a:rPr lang="zh-CN" altLang="en-US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 </a:t>
            </a:r>
            <a:r>
              <a:rPr lang="en-US" altLang="zh-CN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M_new_norm </a:t>
            </a:r>
            <a:r>
              <a:rPr lang="zh-CN" altLang="en-US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很接近；前者暂定为主公式，因为平均 </a:t>
            </a:r>
            <a:r>
              <a:rPr lang="en-US" altLang="zh-CN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Spearman </a:t>
            </a:r>
            <a:r>
              <a:rPr lang="zh-CN" altLang="en-US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最高（</a:t>
            </a:r>
            <a:r>
              <a:rPr lang="en-US" altLang="zh-CN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0.323</a:t>
            </a:r>
            <a:r>
              <a:rPr lang="zh-CN" altLang="en-US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15/18 </a:t>
            </a:r>
            <a:r>
              <a:rPr lang="zh-CN" altLang="en-US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为正）。</a:t>
            </a:r>
          </a:p>
        </p:txBody>
      </p:sp>
    </p:spTree>
    <p:extLst>
      <p:ext uri="{BB962C8B-B14F-4D97-AF65-F5344CB8AC3E}">
        <p14:creationId xmlns:p14="http://schemas.microsoft.com/office/powerpoint/2010/main" val="3508678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>
            <a:extLst>
              <a:ext uri="{FF2B5EF4-FFF2-40B4-BE49-F238E27FC236}">
                <a16:creationId xmlns:a16="http://schemas.microsoft.com/office/drawing/2014/main" id="{6772FA0D-589E-A82E-4AA5-6D05551B82A0}"/>
              </a:ext>
            </a:extLst>
          </p:cNvPr>
          <p:cNvSpPr txBox="1"/>
          <p:nvPr/>
        </p:nvSpPr>
        <p:spPr>
          <a:xfrm>
            <a:off x="457200" y="2794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 </a:t>
            </a:r>
            <a:r>
              <a:rPr lang="zh-CN" altLang="en-US" sz="12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方法综合比较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3AB3A86E-3228-50E8-C3FD-7E29E07303B6}"/>
              </a:ext>
            </a:extLst>
          </p:cNvPr>
          <p:cNvSpPr txBox="1"/>
          <p:nvPr/>
        </p:nvSpPr>
        <p:spPr>
          <a:xfrm>
            <a:off x="457200" y="609600"/>
            <a:ext cx="1130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5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Ours </a:t>
            </a:r>
            <a:r>
              <a:rPr lang="zh-CN" altLang="en-US" sz="35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平均优于 </a:t>
            </a:r>
            <a:r>
              <a:rPr lang="en-US" altLang="zh-CN" sz="35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 </a:t>
            </a:r>
            <a:r>
              <a:rPr lang="zh-CN" altLang="en-US" sz="35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个基线，但证据尚未达到统计显著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BDD994CA-C580-7384-6908-F0BCDABB5ECE}"/>
              </a:ext>
            </a:extLst>
          </p:cNvPr>
          <p:cNvCxnSpPr/>
          <p:nvPr/>
        </p:nvCxnSpPr>
        <p:spPr>
          <a:xfrm>
            <a:off x="457200" y="1371600"/>
            <a:ext cx="11277600" cy="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age-number">
            <a:extLst>
              <a:ext uri="{FF2B5EF4-FFF2-40B4-BE49-F238E27FC236}">
                <a16:creationId xmlns:a16="http://schemas.microsoft.com/office/drawing/2014/main" id="{F3576B96-433B-8FF5-9B12-E9D8EFBC6D5B}"/>
              </a:ext>
            </a:extLst>
          </p:cNvPr>
          <p:cNvSpPr txBox="1"/>
          <p:nvPr/>
        </p:nvSpPr>
        <p:spPr>
          <a:xfrm>
            <a:off x="11303000" y="64135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1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</a:t>
            </a:r>
            <a:endParaRPr lang="zh-CN" altLang="en-US" sz="110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1565B1C-38C6-3777-4E75-2E47C88BC67B}"/>
              </a:ext>
            </a:extLst>
          </p:cNvPr>
          <p:cNvSpPr/>
          <p:nvPr/>
        </p:nvSpPr>
        <p:spPr>
          <a:xfrm>
            <a:off x="533400" y="1778000"/>
            <a:ext cx="1828800" cy="482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38BAAF6-E5ED-C1C9-0863-5BAFDFEB205A}"/>
              </a:ext>
            </a:extLst>
          </p:cNvPr>
          <p:cNvSpPr/>
          <p:nvPr/>
        </p:nvSpPr>
        <p:spPr>
          <a:xfrm>
            <a:off x="2413000" y="1778000"/>
            <a:ext cx="2489200" cy="482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l-GR" altLang="zh-CN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Δ</a:t>
            </a:r>
            <a:r>
              <a:rPr lang="en-US" altLang="zh-CN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Best@3</a:t>
            </a:r>
            <a:endParaRPr lang="zh-CN" altLang="en-US" sz="16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07B435F-CFEF-DA8D-C0F9-5441EABC117B}"/>
              </a:ext>
            </a:extLst>
          </p:cNvPr>
          <p:cNvSpPr/>
          <p:nvPr/>
        </p:nvSpPr>
        <p:spPr>
          <a:xfrm>
            <a:off x="4953000" y="1778000"/>
            <a:ext cx="2489200" cy="482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l-GR" altLang="zh-CN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Δ</a:t>
            </a:r>
            <a:r>
              <a:rPr lang="en-US" altLang="zh-CN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Mean@3</a:t>
            </a:r>
            <a:endParaRPr lang="zh-CN" altLang="en-US" sz="16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C697A6A-D99B-0461-AC9A-ECA1163CFE76}"/>
              </a:ext>
            </a:extLst>
          </p:cNvPr>
          <p:cNvSpPr/>
          <p:nvPr/>
        </p:nvSpPr>
        <p:spPr>
          <a:xfrm>
            <a:off x="7493000" y="1778000"/>
            <a:ext cx="1397000" cy="482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W/T/L</a:t>
            </a:r>
            <a:endParaRPr lang="zh-CN" altLang="en-US" sz="16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BD954650-9B4D-1E71-3DDD-20B1653C5462}"/>
              </a:ext>
            </a:extLst>
          </p:cNvPr>
          <p:cNvSpPr/>
          <p:nvPr/>
        </p:nvSpPr>
        <p:spPr>
          <a:xfrm>
            <a:off x="8940800" y="1778000"/>
            <a:ext cx="1320800" cy="482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</a:t>
            </a:r>
            <a:endParaRPr lang="zh-CN" altLang="en-US" sz="16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CC5EB3D-E22C-9A98-EA39-6D91603B096C}"/>
              </a:ext>
            </a:extLst>
          </p:cNvPr>
          <p:cNvSpPr/>
          <p:nvPr/>
        </p:nvSpPr>
        <p:spPr>
          <a:xfrm>
            <a:off x="10312400" y="1778000"/>
            <a:ext cx="1346200" cy="482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严格 </a:t>
            </a:r>
            <a:r>
              <a:rPr lang="en-US" altLang="zh-CN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endParaRPr lang="zh-CN" altLang="en-US" sz="16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FFDDFEE-6ADE-AAE1-2099-4A2F70C51412}"/>
              </a:ext>
            </a:extLst>
          </p:cNvPr>
          <p:cNvSpPr/>
          <p:nvPr/>
        </p:nvSpPr>
        <p:spPr>
          <a:xfrm>
            <a:off x="533400" y="2311400"/>
            <a:ext cx="1828800" cy="50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Middle</a:t>
            </a:r>
            <a:endParaRPr lang="zh-CN" altLang="en-US" sz="1600" b="1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D77511DE-709F-0CC2-E4D4-D7184992A1BC}"/>
              </a:ext>
            </a:extLst>
          </p:cNvPr>
          <p:cNvSpPr/>
          <p:nvPr/>
        </p:nvSpPr>
        <p:spPr>
          <a:xfrm>
            <a:off x="2413000" y="2311400"/>
            <a:ext cx="2489200" cy="508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+2.662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C542FA7-4E79-1465-9F0B-B9CF6145592A}"/>
              </a:ext>
            </a:extLst>
          </p:cNvPr>
          <p:cNvSpPr/>
          <p:nvPr/>
        </p:nvSpPr>
        <p:spPr>
          <a:xfrm>
            <a:off x="4953000" y="2311400"/>
            <a:ext cx="2489200" cy="5080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+0.601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ACF76C7-8AC9-687B-6CB0-1F91383E4E20}"/>
              </a:ext>
            </a:extLst>
          </p:cNvPr>
          <p:cNvSpPr/>
          <p:nvPr/>
        </p:nvSpPr>
        <p:spPr>
          <a:xfrm>
            <a:off x="7493000" y="2311400"/>
            <a:ext cx="1397000" cy="50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6/0/3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EDCA9E1-863F-79F9-F3DD-AC1FE2AE00D3}"/>
              </a:ext>
            </a:extLst>
          </p:cNvPr>
          <p:cNvSpPr/>
          <p:nvPr/>
        </p:nvSpPr>
        <p:spPr>
          <a:xfrm>
            <a:off x="8940800" y="2311400"/>
            <a:ext cx="1320800" cy="5080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0.508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EC8B0CC-EF31-ECA6-7939-4A9E705D196C}"/>
              </a:ext>
            </a:extLst>
          </p:cNvPr>
          <p:cNvSpPr/>
          <p:nvPr/>
        </p:nvSpPr>
        <p:spPr>
          <a:xfrm>
            <a:off x="10312400" y="2311400"/>
            <a:ext cx="1346200" cy="50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C9E2774-32EC-AAEA-1476-BFEFE782F16A}"/>
              </a:ext>
            </a:extLst>
          </p:cNvPr>
          <p:cNvSpPr/>
          <p:nvPr/>
        </p:nvSpPr>
        <p:spPr>
          <a:xfrm>
            <a:off x="533400" y="2895600"/>
            <a:ext cx="1828800" cy="50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VisEdit</a:t>
            </a:r>
            <a:endParaRPr lang="zh-CN" altLang="en-US" sz="1600" b="1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6686EA6-AC2B-DA7C-6361-9C757DBC8006}"/>
              </a:ext>
            </a:extLst>
          </p:cNvPr>
          <p:cNvSpPr/>
          <p:nvPr/>
        </p:nvSpPr>
        <p:spPr>
          <a:xfrm>
            <a:off x="2413000" y="2895600"/>
            <a:ext cx="2489200" cy="508000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+4.133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3179EF6-6C4C-03CA-7C83-EEDB6896AA9E}"/>
              </a:ext>
            </a:extLst>
          </p:cNvPr>
          <p:cNvSpPr/>
          <p:nvPr/>
        </p:nvSpPr>
        <p:spPr>
          <a:xfrm>
            <a:off x="4953000" y="2895600"/>
            <a:ext cx="2489200" cy="508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+1.795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199B2115-6245-13DE-9B33-03F4B8679207}"/>
              </a:ext>
            </a:extLst>
          </p:cNvPr>
          <p:cNvSpPr/>
          <p:nvPr/>
        </p:nvSpPr>
        <p:spPr>
          <a:xfrm>
            <a:off x="7493000" y="2895600"/>
            <a:ext cx="1397000" cy="50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5/0/4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93A13B61-5224-2557-B9C4-925AE1C8AD5C}"/>
              </a:ext>
            </a:extLst>
          </p:cNvPr>
          <p:cNvSpPr/>
          <p:nvPr/>
        </p:nvSpPr>
        <p:spPr>
          <a:xfrm>
            <a:off x="8940800" y="2895600"/>
            <a:ext cx="1320800" cy="5080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1.000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AA314CAC-61EE-CE21-F62E-C3870775DE25}"/>
              </a:ext>
            </a:extLst>
          </p:cNvPr>
          <p:cNvSpPr/>
          <p:nvPr/>
        </p:nvSpPr>
        <p:spPr>
          <a:xfrm>
            <a:off x="10312400" y="2895600"/>
            <a:ext cx="1346200" cy="50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D7DAFFF4-C23B-65F3-8511-4A3C5F6A2E7C}"/>
              </a:ext>
            </a:extLst>
          </p:cNvPr>
          <p:cNvSpPr/>
          <p:nvPr/>
        </p:nvSpPr>
        <p:spPr>
          <a:xfrm>
            <a:off x="533400" y="3479800"/>
            <a:ext cx="1828800" cy="50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SaLEM</a:t>
            </a:r>
            <a:endParaRPr lang="zh-CN" altLang="en-US" sz="1600" b="1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669EF46C-1548-1310-E632-F1A9320D7967}"/>
              </a:ext>
            </a:extLst>
          </p:cNvPr>
          <p:cNvSpPr/>
          <p:nvPr/>
        </p:nvSpPr>
        <p:spPr>
          <a:xfrm>
            <a:off x="2413000" y="3479800"/>
            <a:ext cx="2489200" cy="508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+2.792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D2C16E59-9E9C-732A-7B67-5F22462EB529}"/>
              </a:ext>
            </a:extLst>
          </p:cNvPr>
          <p:cNvSpPr/>
          <p:nvPr/>
        </p:nvSpPr>
        <p:spPr>
          <a:xfrm>
            <a:off x="4953000" y="3479800"/>
            <a:ext cx="2489200" cy="508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+1.341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6C61F57F-EADF-438E-8604-891259C543B4}"/>
              </a:ext>
            </a:extLst>
          </p:cNvPr>
          <p:cNvSpPr/>
          <p:nvPr/>
        </p:nvSpPr>
        <p:spPr>
          <a:xfrm>
            <a:off x="7493000" y="3479800"/>
            <a:ext cx="1397000" cy="50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6/0/3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D923FE92-18C7-7C03-7900-1552AE94A27D}"/>
              </a:ext>
            </a:extLst>
          </p:cNvPr>
          <p:cNvSpPr/>
          <p:nvPr/>
        </p:nvSpPr>
        <p:spPr>
          <a:xfrm>
            <a:off x="8940800" y="3479800"/>
            <a:ext cx="1320800" cy="5080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0.508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7AE78436-B52F-FA24-DEC1-F203F75E2711}"/>
              </a:ext>
            </a:extLst>
          </p:cNvPr>
          <p:cNvSpPr/>
          <p:nvPr/>
        </p:nvSpPr>
        <p:spPr>
          <a:xfrm>
            <a:off x="10312400" y="3479800"/>
            <a:ext cx="1346200" cy="50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86B4ABEF-71F2-2E57-BA32-AAE5FE45A734}"/>
              </a:ext>
            </a:extLst>
          </p:cNvPr>
          <p:cNvSpPr/>
          <p:nvPr/>
        </p:nvSpPr>
        <p:spPr>
          <a:xfrm>
            <a:off x="533400" y="4064000"/>
            <a:ext cx="1828800" cy="50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LGA</a:t>
            </a:r>
            <a:endParaRPr lang="zh-CN" altLang="en-US" sz="1600" b="1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18DD4107-8F52-A059-8A76-5164B0BE9F32}"/>
              </a:ext>
            </a:extLst>
          </p:cNvPr>
          <p:cNvSpPr/>
          <p:nvPr/>
        </p:nvSpPr>
        <p:spPr>
          <a:xfrm>
            <a:off x="2413000" y="4064000"/>
            <a:ext cx="2489200" cy="5080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+1.284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F0EC15F2-4C15-9DE9-24A4-F501DDB44515}"/>
              </a:ext>
            </a:extLst>
          </p:cNvPr>
          <p:cNvSpPr/>
          <p:nvPr/>
        </p:nvSpPr>
        <p:spPr>
          <a:xfrm>
            <a:off x="4953000" y="4064000"/>
            <a:ext cx="2489200" cy="508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+2.345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B655F24E-68C7-D579-72FB-A95E11AB01B5}"/>
              </a:ext>
            </a:extLst>
          </p:cNvPr>
          <p:cNvSpPr/>
          <p:nvPr/>
        </p:nvSpPr>
        <p:spPr>
          <a:xfrm>
            <a:off x="7493000" y="4064000"/>
            <a:ext cx="1397000" cy="50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6/1/2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11243D9B-9035-83EB-ACF2-90D9A19B419B}"/>
              </a:ext>
            </a:extLst>
          </p:cNvPr>
          <p:cNvSpPr/>
          <p:nvPr/>
        </p:nvSpPr>
        <p:spPr>
          <a:xfrm>
            <a:off x="8940800" y="4064000"/>
            <a:ext cx="1320800" cy="5080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0.289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F975C74E-7602-5329-C752-3493C16002C4}"/>
              </a:ext>
            </a:extLst>
          </p:cNvPr>
          <p:cNvSpPr/>
          <p:nvPr/>
        </p:nvSpPr>
        <p:spPr>
          <a:xfrm>
            <a:off x="10312400" y="4064000"/>
            <a:ext cx="1346200" cy="50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B1AA6D33-23CC-471E-E76C-82810D700451}"/>
              </a:ext>
            </a:extLst>
          </p:cNvPr>
          <p:cNvSpPr/>
          <p:nvPr/>
        </p:nvSpPr>
        <p:spPr>
          <a:xfrm>
            <a:off x="533400" y="4648200"/>
            <a:ext cx="1828800" cy="50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Perturb-KL</a:t>
            </a:r>
            <a:endParaRPr lang="zh-CN" altLang="en-US" sz="1600" b="1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693E9D7C-31A8-B804-C8E6-4A957ADB37BF}"/>
              </a:ext>
            </a:extLst>
          </p:cNvPr>
          <p:cNvSpPr/>
          <p:nvPr/>
        </p:nvSpPr>
        <p:spPr>
          <a:xfrm>
            <a:off x="2413000" y="4648200"/>
            <a:ext cx="2489200" cy="508000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+4.021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694C1266-4B6C-A645-B936-B54C01B0A822}"/>
              </a:ext>
            </a:extLst>
          </p:cNvPr>
          <p:cNvSpPr/>
          <p:nvPr/>
        </p:nvSpPr>
        <p:spPr>
          <a:xfrm>
            <a:off x="4953000" y="4648200"/>
            <a:ext cx="2489200" cy="508000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+2.771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A05D9536-D999-16CB-066D-49274AEDD5E0}"/>
              </a:ext>
            </a:extLst>
          </p:cNvPr>
          <p:cNvSpPr/>
          <p:nvPr/>
        </p:nvSpPr>
        <p:spPr>
          <a:xfrm>
            <a:off x="7493000" y="4648200"/>
            <a:ext cx="1397000" cy="50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3/5/1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9D587D2E-EC3C-104D-329E-1650398E66A7}"/>
              </a:ext>
            </a:extLst>
          </p:cNvPr>
          <p:cNvSpPr/>
          <p:nvPr/>
        </p:nvSpPr>
        <p:spPr>
          <a:xfrm>
            <a:off x="8940800" y="4648200"/>
            <a:ext cx="1320800" cy="5080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0.625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2C57AA92-251A-A3EE-430C-A25AB76D49D6}"/>
              </a:ext>
            </a:extLst>
          </p:cNvPr>
          <p:cNvSpPr/>
          <p:nvPr/>
        </p:nvSpPr>
        <p:spPr>
          <a:xfrm>
            <a:off x="10312400" y="4648200"/>
            <a:ext cx="1346200" cy="50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4AA1BF03-C86A-8420-56AE-052A25DAA113}"/>
              </a:ext>
            </a:extLst>
          </p:cNvPr>
          <p:cNvSpPr/>
          <p:nvPr/>
        </p:nvSpPr>
        <p:spPr>
          <a:xfrm>
            <a:off x="533400" y="5232400"/>
            <a:ext cx="1828800" cy="50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CMA</a:t>
            </a:r>
            <a:endParaRPr lang="zh-CN" altLang="en-US" sz="1600" b="1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2AA0496D-5F44-8B6A-DDB3-3B8EEDEE3E12}"/>
              </a:ext>
            </a:extLst>
          </p:cNvPr>
          <p:cNvSpPr/>
          <p:nvPr/>
        </p:nvSpPr>
        <p:spPr>
          <a:xfrm>
            <a:off x="2413000" y="5232400"/>
            <a:ext cx="2489200" cy="508000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+3.538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47E6E362-CB56-0D41-619F-5106ABCCF446}"/>
              </a:ext>
            </a:extLst>
          </p:cNvPr>
          <p:cNvSpPr/>
          <p:nvPr/>
        </p:nvSpPr>
        <p:spPr>
          <a:xfrm>
            <a:off x="4953000" y="5232400"/>
            <a:ext cx="2489200" cy="508000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+2.960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EC2B4321-81A4-E8AC-800F-540B44CF3E71}"/>
              </a:ext>
            </a:extLst>
          </p:cNvPr>
          <p:cNvSpPr/>
          <p:nvPr/>
        </p:nvSpPr>
        <p:spPr>
          <a:xfrm>
            <a:off x="7493000" y="5232400"/>
            <a:ext cx="1397000" cy="50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4/3/2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66622C6F-277B-9BAC-3D86-44A748EC5C71}"/>
              </a:ext>
            </a:extLst>
          </p:cNvPr>
          <p:cNvSpPr/>
          <p:nvPr/>
        </p:nvSpPr>
        <p:spPr>
          <a:xfrm>
            <a:off x="8940800" y="5232400"/>
            <a:ext cx="1320800" cy="5080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0.688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654040D-6ED9-CFFA-B8F7-3737E6FD51CC}"/>
              </a:ext>
            </a:extLst>
          </p:cNvPr>
          <p:cNvSpPr/>
          <p:nvPr/>
        </p:nvSpPr>
        <p:spPr>
          <a:xfrm>
            <a:off x="10312400" y="5232400"/>
            <a:ext cx="1346200" cy="50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9D143A00-2C5C-CC28-0165-84A8A825D57A}"/>
              </a:ext>
            </a:extLst>
          </p:cNvPr>
          <p:cNvSpPr txBox="1"/>
          <p:nvPr/>
        </p:nvSpPr>
        <p:spPr>
          <a:xfrm>
            <a:off x="533400" y="5969000"/>
            <a:ext cx="1112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表中正值表示 </a:t>
            </a:r>
            <a:r>
              <a:rPr lang="en-US" altLang="zh-CN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Ours </a:t>
            </a:r>
            <a:r>
              <a:rPr lang="zh-CN" altLang="en-US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更好。</a:t>
            </a:r>
            <a:r>
              <a:rPr lang="en-US" altLang="zh-CN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 </a:t>
            </a:r>
            <a:r>
              <a:rPr lang="zh-CN" altLang="en-US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组比较的平均 </a:t>
            </a:r>
            <a:r>
              <a:rPr lang="en-US" altLang="zh-CN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ΔBest@3 </a:t>
            </a:r>
            <a:r>
              <a:rPr lang="zh-CN" altLang="en-US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 </a:t>
            </a:r>
            <a:r>
              <a:rPr lang="en-US" altLang="zh-CN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ΔMean@3 </a:t>
            </a:r>
            <a:r>
              <a:rPr lang="zh-CN" altLang="en-US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均为正；但所有双侧符号检验 </a:t>
            </a:r>
            <a:r>
              <a:rPr lang="en-US" altLang="zh-CN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p≥0.289</a:t>
            </a:r>
            <a:r>
              <a:rPr lang="zh-CN" altLang="en-US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，因此只能称为“描述性优势”，不能声称显著胜出。</a:t>
            </a:r>
          </a:p>
        </p:txBody>
      </p:sp>
    </p:spTree>
    <p:extLst>
      <p:ext uri="{BB962C8B-B14F-4D97-AF65-F5344CB8AC3E}">
        <p14:creationId xmlns:p14="http://schemas.microsoft.com/office/powerpoint/2010/main" val="38002141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>
            <a:extLst>
              <a:ext uri="{FF2B5EF4-FFF2-40B4-BE49-F238E27FC236}">
                <a16:creationId xmlns:a16="http://schemas.microsoft.com/office/drawing/2014/main" id="{A6C05C43-6A46-B433-0CB1-245B9804A948}"/>
              </a:ext>
            </a:extLst>
          </p:cNvPr>
          <p:cNvSpPr txBox="1"/>
          <p:nvPr/>
        </p:nvSpPr>
        <p:spPr>
          <a:xfrm>
            <a:off x="457200" y="2794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阶段结论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82545783-8608-A884-C2B7-267D0420FA47}"/>
              </a:ext>
            </a:extLst>
          </p:cNvPr>
          <p:cNvSpPr txBox="1"/>
          <p:nvPr/>
        </p:nvSpPr>
        <p:spPr>
          <a:xfrm>
            <a:off x="457200" y="609600"/>
            <a:ext cx="1130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35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当前证据支持“有潜力”，尚不足以证明“稳定胜出”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A1BE606-317E-7C87-E1B4-B07588C6F4FD}"/>
              </a:ext>
            </a:extLst>
          </p:cNvPr>
          <p:cNvCxnSpPr/>
          <p:nvPr/>
        </p:nvCxnSpPr>
        <p:spPr>
          <a:xfrm>
            <a:off x="457200" y="1371600"/>
            <a:ext cx="11277600" cy="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age-number">
            <a:extLst>
              <a:ext uri="{FF2B5EF4-FFF2-40B4-BE49-F238E27FC236}">
                <a16:creationId xmlns:a16="http://schemas.microsoft.com/office/drawing/2014/main" id="{9F0385E1-B05F-C0FD-9F09-820EFA4E3CBC}"/>
              </a:ext>
            </a:extLst>
          </p:cNvPr>
          <p:cNvSpPr txBox="1"/>
          <p:nvPr/>
        </p:nvSpPr>
        <p:spPr>
          <a:xfrm>
            <a:off x="11303000" y="64135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1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</a:t>
            </a:r>
            <a:endParaRPr lang="zh-CN" altLang="en-US" sz="110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BE06612-CC63-1D77-CFE8-723B607649DE}"/>
              </a:ext>
            </a:extLst>
          </p:cNvPr>
          <p:cNvSpPr txBox="1"/>
          <p:nvPr/>
        </p:nvSpPr>
        <p:spPr>
          <a:xfrm>
            <a:off x="533400" y="18034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300" b="1">
                <a:solidFill>
                  <a:srgbClr val="1580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已经得到的证据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3CB20DA-DB6D-3FC5-0016-9A049C06D823}"/>
              </a:ext>
            </a:extLst>
          </p:cNvPr>
          <p:cNvSpPr txBox="1"/>
          <p:nvPr/>
        </p:nvSpPr>
        <p:spPr>
          <a:xfrm>
            <a:off x="533400" y="23876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21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个数据集</a:t>
            </a: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×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模型组合均生成 </a:t>
            </a: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公式 </a:t>
            </a: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Top-K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  <a:p>
            <a:pPr>
              <a:spcAft>
                <a:spcPts val="800"/>
              </a:spcAft>
            </a:pP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M_abscos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平均 </a:t>
            </a: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Spearman=0.323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15/18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组合为正。</a:t>
            </a:r>
          </a:p>
          <a:p>
            <a:pPr>
              <a:spcAft>
                <a:spcPts val="800"/>
              </a:spcAft>
            </a:pP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 </a:t>
            </a: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个正式基线，平均 </a:t>
            </a: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Best@3/Mean@3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改善均为正。</a:t>
            </a:r>
          </a:p>
          <a:p>
            <a:pPr>
              <a:spcAft>
                <a:spcPts val="800"/>
              </a:spcAft>
            </a:pP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真实评测坚持 </a:t>
            </a: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selected checkpoint +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独立 </a:t>
            </a: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test/eval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双验收。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AC85929-4DDA-A181-22FF-4038EA8741D5}"/>
              </a:ext>
            </a:extLst>
          </p:cNvPr>
          <p:cNvSpPr txBox="1"/>
          <p:nvPr/>
        </p:nvSpPr>
        <p:spPr>
          <a:xfrm>
            <a:off x="6578600" y="18034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300" b="1">
                <a:solidFill>
                  <a:srgbClr val="B91C1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尚不能下的结论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2358995-78DE-93B3-9721-5F730CC7D375}"/>
              </a:ext>
            </a:extLst>
          </p:cNvPr>
          <p:cNvSpPr txBox="1"/>
          <p:nvPr/>
        </p:nvSpPr>
        <p:spPr>
          <a:xfrm>
            <a:off x="6578600" y="23876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不能称 </a:t>
            </a: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Ours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已统计显著优于所有基线。</a:t>
            </a:r>
          </a:p>
          <a:p>
            <a:pPr>
              <a:spcAft>
                <a:spcPts val="800"/>
              </a:spcAft>
            </a:pP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Top-3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完整结果目前仅覆盖 </a:t>
            </a: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9/19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 </a:t>
            </a: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eligible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组合。</a:t>
            </a:r>
          </a:p>
          <a:p>
            <a:pPr>
              <a:spcAft>
                <a:spcPts val="800"/>
              </a:spcAft>
            </a:pP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M_abscos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 </a:t>
            </a: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M_new_norm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差距很小，主公式仍需敏感性检验。</a:t>
            </a:r>
          </a:p>
          <a:p>
            <a:pPr>
              <a:spcAft>
                <a:spcPts val="800"/>
              </a:spcAft>
            </a:pP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低 </a:t>
            </a: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coverage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 </a:t>
            </a: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CMA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与历史 </a:t>
            </a: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FirstToken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结果需单独标记。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478E6F4-4A50-B460-DD04-C6E842AE9EA2}"/>
              </a:ext>
            </a:extLst>
          </p:cNvPr>
          <p:cNvSpPr/>
          <p:nvPr/>
        </p:nvSpPr>
        <p:spPr>
          <a:xfrm>
            <a:off x="2133600" y="5664200"/>
            <a:ext cx="7924800" cy="6604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zh-CN" altLang="en-US" sz="20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论文口径：暂定主公式 </a:t>
            </a:r>
            <a:r>
              <a:rPr lang="en-US" altLang="zh-CN" sz="20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20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完整补测 </a:t>
            </a:r>
            <a:r>
              <a:rPr lang="en-US" altLang="zh-CN" sz="20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20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严格配对统计 </a:t>
            </a:r>
            <a:r>
              <a:rPr lang="en-US" altLang="zh-CN" sz="20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20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失败层独立说明</a:t>
            </a:r>
          </a:p>
        </p:txBody>
      </p:sp>
    </p:spTree>
    <p:extLst>
      <p:ext uri="{BB962C8B-B14F-4D97-AF65-F5344CB8AC3E}">
        <p14:creationId xmlns:p14="http://schemas.microsoft.com/office/powerpoint/2010/main" val="19135572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>
            <a:extLst>
              <a:ext uri="{FF2B5EF4-FFF2-40B4-BE49-F238E27FC236}">
                <a16:creationId xmlns:a16="http://schemas.microsoft.com/office/drawing/2014/main" id="{83D4273C-945F-DA7D-924F-9E66305E2DF7}"/>
              </a:ext>
            </a:extLst>
          </p:cNvPr>
          <p:cNvSpPr txBox="1"/>
          <p:nvPr/>
        </p:nvSpPr>
        <p:spPr>
          <a:xfrm>
            <a:off x="457200" y="2794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STEP 2 · </a:t>
            </a:r>
            <a:r>
              <a:rPr lang="zh-CN" altLang="en-US" sz="12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关联知识建模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D998C9A0-0D8B-C427-3C4C-453322616B20}"/>
              </a:ext>
            </a:extLst>
          </p:cNvPr>
          <p:cNvSpPr txBox="1"/>
          <p:nvPr/>
        </p:nvSpPr>
        <p:spPr>
          <a:xfrm>
            <a:off x="457200" y="609600"/>
            <a:ext cx="1130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35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定位之后：用受限知识子图表示关联变化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397BC72F-6853-54A8-CCA7-E240D537D3BC}"/>
              </a:ext>
            </a:extLst>
          </p:cNvPr>
          <p:cNvCxnSpPr/>
          <p:nvPr/>
        </p:nvCxnSpPr>
        <p:spPr>
          <a:xfrm>
            <a:off x="457200" y="1371600"/>
            <a:ext cx="11277600" cy="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age-number">
            <a:extLst>
              <a:ext uri="{FF2B5EF4-FFF2-40B4-BE49-F238E27FC236}">
                <a16:creationId xmlns:a16="http://schemas.microsoft.com/office/drawing/2014/main" id="{E880996D-CA84-D051-7ECA-61597AC3910D}"/>
              </a:ext>
            </a:extLst>
          </p:cNvPr>
          <p:cNvSpPr txBox="1"/>
          <p:nvPr/>
        </p:nvSpPr>
        <p:spPr>
          <a:xfrm>
            <a:off x="11303000" y="64135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1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17</a:t>
            </a:r>
            <a:endParaRPr lang="zh-CN" altLang="en-US" sz="110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E28B98E6-EBA2-CC2A-553A-BDB6AAC5EBFE}"/>
              </a:ext>
            </a:extLst>
          </p:cNvPr>
          <p:cNvSpPr/>
          <p:nvPr/>
        </p:nvSpPr>
        <p:spPr>
          <a:xfrm>
            <a:off x="2362200" y="3098800"/>
            <a:ext cx="304800" cy="228600"/>
          </a:xfrm>
          <a:prstGeom prst="rightArrow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69409ED7-7DD4-A6B0-DABB-234E8BD6C3FA}"/>
              </a:ext>
            </a:extLst>
          </p:cNvPr>
          <p:cNvSpPr/>
          <p:nvPr/>
        </p:nvSpPr>
        <p:spPr>
          <a:xfrm>
            <a:off x="4597400" y="3098800"/>
            <a:ext cx="304800" cy="228600"/>
          </a:xfrm>
          <a:prstGeom prst="rightArrow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EA2C4017-868E-B312-ED37-686051E92679}"/>
              </a:ext>
            </a:extLst>
          </p:cNvPr>
          <p:cNvSpPr/>
          <p:nvPr/>
        </p:nvSpPr>
        <p:spPr>
          <a:xfrm>
            <a:off x="6832600" y="3098800"/>
            <a:ext cx="304800" cy="228600"/>
          </a:xfrm>
          <a:prstGeom prst="rightArrow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2463292E-53C8-711B-00D0-28700503FFB8}"/>
              </a:ext>
            </a:extLst>
          </p:cNvPr>
          <p:cNvSpPr/>
          <p:nvPr/>
        </p:nvSpPr>
        <p:spPr>
          <a:xfrm>
            <a:off x="9067800" y="3098800"/>
            <a:ext cx="304800" cy="228600"/>
          </a:xfrm>
          <a:prstGeom prst="rightArrow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4C1EB9D-EA04-8842-B0E4-E35E10CB60AA}"/>
              </a:ext>
            </a:extLst>
          </p:cNvPr>
          <p:cNvSpPr/>
          <p:nvPr/>
        </p:nvSpPr>
        <p:spPr>
          <a:xfrm>
            <a:off x="533400" y="2514600"/>
            <a:ext cx="1828800" cy="14224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目标编辑三元组</a:t>
            </a:r>
          </a:p>
          <a:p>
            <a:pPr algn="ctr"/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(s,r,o_new)</a:t>
            </a:r>
            <a:endParaRPr lang="zh-CN" altLang="en-US" sz="160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836BAB9-06D1-B8DE-0B48-A17F0B6B637C}"/>
              </a:ext>
            </a:extLst>
          </p:cNvPr>
          <p:cNvSpPr/>
          <p:nvPr/>
        </p:nvSpPr>
        <p:spPr>
          <a:xfrm>
            <a:off x="2768600" y="2514600"/>
            <a:ext cx="1828800" cy="14224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实体链接</a:t>
            </a:r>
          </a:p>
          <a:p>
            <a:pPr algn="ctr"/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匹配外部知识图谱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67D195E-C540-2F20-50C4-80DFFE5A9DE5}"/>
              </a:ext>
            </a:extLst>
          </p:cNvPr>
          <p:cNvSpPr/>
          <p:nvPr/>
        </p:nvSpPr>
        <p:spPr>
          <a:xfrm>
            <a:off x="5003800" y="2514600"/>
            <a:ext cx="1828800" cy="14224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受限 </a:t>
            </a:r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n-hop / m-neighbor</a:t>
            </a:r>
          </a:p>
          <a:p>
            <a:pPr algn="ctr"/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扩展并抑噪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45D02ABF-BC81-DA4C-3C6E-6C9638F68809}"/>
              </a:ext>
            </a:extLst>
          </p:cNvPr>
          <p:cNvSpPr/>
          <p:nvPr/>
        </p:nvSpPr>
        <p:spPr>
          <a:xfrm>
            <a:off x="7239000" y="2514600"/>
            <a:ext cx="1828800" cy="14224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早层隐藏状态</a:t>
            </a:r>
          </a:p>
          <a:p>
            <a:pPr algn="ctr"/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初始化实体与关系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42C8579-7385-B849-4179-7029D58109BB}"/>
              </a:ext>
            </a:extLst>
          </p:cNvPr>
          <p:cNvSpPr/>
          <p:nvPr/>
        </p:nvSpPr>
        <p:spPr>
          <a:xfrm>
            <a:off x="9474200" y="2514600"/>
            <a:ext cx="1828800" cy="14224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en-US" altLang="zh-CN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RGCN/RGNN </a:t>
            </a:r>
            <a:r>
              <a:rPr lang="zh-CN" altLang="en-US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编码</a:t>
            </a:r>
          </a:p>
          <a:p>
            <a:pPr algn="ctr"/>
            <a:r>
              <a:rPr lang="zh-CN" altLang="en-US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得到关联知识向量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B858AA4-3E6B-7F13-3410-4C89BFDF2461}"/>
              </a:ext>
            </a:extLst>
          </p:cNvPr>
          <p:cNvSpPr txBox="1"/>
          <p:nvPr/>
        </p:nvSpPr>
        <p:spPr>
          <a:xfrm>
            <a:off x="533400" y="45974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b="1">
                <a:solidFill>
                  <a:srgbClr val="0F76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规模控制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ED48540-B28E-8148-59FF-738B114B1E57}"/>
              </a:ext>
            </a:extLst>
          </p:cNvPr>
          <p:cNvSpPr txBox="1"/>
          <p:nvPr/>
        </p:nvSpPr>
        <p:spPr>
          <a:xfrm>
            <a:off x="533400" y="5054600"/>
            <a:ext cx="530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7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最大阶数 </a:t>
            </a:r>
            <a:r>
              <a:rPr lang="en-US" altLang="zh-CN" sz="17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 </a:t>
            </a:r>
            <a:r>
              <a:rPr lang="zh-CN" altLang="en-US" sz="17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与每个实体最大邻居数 </a:t>
            </a:r>
            <a:r>
              <a:rPr lang="en-US" altLang="zh-CN" sz="17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 </a:t>
            </a:r>
            <a:r>
              <a:rPr lang="zh-CN" altLang="en-US" sz="17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控制子图大小；目标是保留与编辑事实相关的最小结构，而不是把整个图谱搬进模型。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0F6C6D1-A40B-AB14-B615-D75BAEE0C74B}"/>
              </a:ext>
            </a:extLst>
          </p:cNvPr>
          <p:cNvSpPr txBox="1"/>
          <p:nvPr/>
        </p:nvSpPr>
        <p:spPr>
          <a:xfrm>
            <a:off x="6604000" y="45974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b="1">
                <a:solidFill>
                  <a:srgbClr val="0F76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表征对齐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50EB205-19CF-E11D-A9FA-3A33AF3797F9}"/>
              </a:ext>
            </a:extLst>
          </p:cNvPr>
          <p:cNvSpPr txBox="1"/>
          <p:nvPr/>
        </p:nvSpPr>
        <p:spPr>
          <a:xfrm>
            <a:off x="6604000" y="5054600"/>
            <a:ext cx="4927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7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实体</a:t>
            </a:r>
            <a:r>
              <a:rPr lang="en-US" altLang="zh-CN" sz="17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7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关系初始向量来自 </a:t>
            </a:r>
            <a:r>
              <a:rPr lang="en-US" altLang="zh-CN" sz="17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VLM </a:t>
            </a:r>
            <a:r>
              <a:rPr lang="zh-CN" altLang="en-US" sz="17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早层隐藏状态，使外部图结构与当前图文语义处于可融合空间。</a:t>
            </a:r>
          </a:p>
        </p:txBody>
      </p:sp>
    </p:spTree>
    <p:extLst>
      <p:ext uri="{BB962C8B-B14F-4D97-AF65-F5344CB8AC3E}">
        <p14:creationId xmlns:p14="http://schemas.microsoft.com/office/powerpoint/2010/main" val="22620934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>
            <a:extLst>
              <a:ext uri="{FF2B5EF4-FFF2-40B4-BE49-F238E27FC236}">
                <a16:creationId xmlns:a16="http://schemas.microsoft.com/office/drawing/2014/main" id="{C3CE2D61-8C58-42AC-68AD-DECAEFCA730F}"/>
              </a:ext>
            </a:extLst>
          </p:cNvPr>
          <p:cNvSpPr txBox="1"/>
          <p:nvPr/>
        </p:nvSpPr>
        <p:spPr>
          <a:xfrm>
            <a:off x="457200" y="2794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STEP 3 · </a:t>
            </a:r>
            <a:r>
              <a:rPr lang="zh-CN" altLang="en-US" sz="12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知识编辑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81451348-090A-A04A-AD4D-83DD2C15FDA9}"/>
              </a:ext>
            </a:extLst>
          </p:cNvPr>
          <p:cNvSpPr txBox="1"/>
          <p:nvPr/>
        </p:nvSpPr>
        <p:spPr>
          <a:xfrm>
            <a:off x="457200" y="609600"/>
            <a:ext cx="1130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35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双路注入让模型既记住目标事实，也吸收关联知识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180902F3-C02F-C601-EB44-D21CF356F9EF}"/>
              </a:ext>
            </a:extLst>
          </p:cNvPr>
          <p:cNvCxnSpPr/>
          <p:nvPr/>
        </p:nvCxnSpPr>
        <p:spPr>
          <a:xfrm>
            <a:off x="457200" y="1371600"/>
            <a:ext cx="11277600" cy="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age-number">
            <a:extLst>
              <a:ext uri="{FF2B5EF4-FFF2-40B4-BE49-F238E27FC236}">
                <a16:creationId xmlns:a16="http://schemas.microsoft.com/office/drawing/2014/main" id="{F0B926EF-6D38-B497-6E8D-1529792BD187}"/>
              </a:ext>
            </a:extLst>
          </p:cNvPr>
          <p:cNvSpPr txBox="1"/>
          <p:nvPr/>
        </p:nvSpPr>
        <p:spPr>
          <a:xfrm>
            <a:off x="11303000" y="64135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1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18</a:t>
            </a:r>
            <a:endParaRPr lang="zh-CN" altLang="en-US" sz="110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AC642AF3-4391-1448-BF7D-DE24D1E32830}"/>
              </a:ext>
            </a:extLst>
          </p:cNvPr>
          <p:cNvSpPr/>
          <p:nvPr/>
        </p:nvSpPr>
        <p:spPr>
          <a:xfrm>
            <a:off x="2565400" y="2667000"/>
            <a:ext cx="457200" cy="228600"/>
          </a:xfrm>
          <a:prstGeom prst="rightArrow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12D6C2B2-1DB7-7C9C-009E-D944C6EDBA86}"/>
              </a:ext>
            </a:extLst>
          </p:cNvPr>
          <p:cNvSpPr/>
          <p:nvPr/>
        </p:nvSpPr>
        <p:spPr>
          <a:xfrm>
            <a:off x="2565400" y="4495800"/>
            <a:ext cx="457200" cy="228600"/>
          </a:xfrm>
          <a:prstGeom prst="rightArrow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963B118D-9370-8922-41C7-BF90C17C3F98}"/>
              </a:ext>
            </a:extLst>
          </p:cNvPr>
          <p:cNvSpPr/>
          <p:nvPr/>
        </p:nvSpPr>
        <p:spPr>
          <a:xfrm>
            <a:off x="6019800" y="2667000"/>
            <a:ext cx="457200" cy="228600"/>
          </a:xfrm>
          <a:prstGeom prst="rightArrow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B044DCBB-20B2-D825-F4BC-7A7C3D566D92}"/>
              </a:ext>
            </a:extLst>
          </p:cNvPr>
          <p:cNvSpPr/>
          <p:nvPr/>
        </p:nvSpPr>
        <p:spPr>
          <a:xfrm>
            <a:off x="6019800" y="4495800"/>
            <a:ext cx="457200" cy="228600"/>
          </a:xfrm>
          <a:prstGeom prst="rightArrow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7F209A0C-AB27-5354-E2C4-CA2A2325CF0F}"/>
              </a:ext>
            </a:extLst>
          </p:cNvPr>
          <p:cNvSpPr/>
          <p:nvPr/>
        </p:nvSpPr>
        <p:spPr>
          <a:xfrm>
            <a:off x="8864600" y="3581400"/>
            <a:ext cx="457200" cy="228600"/>
          </a:xfrm>
          <a:prstGeom prst="rightArrow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B6ADD35-E2BB-89C0-A2FC-BE0A368443F7}"/>
              </a:ext>
            </a:extLst>
          </p:cNvPr>
          <p:cNvSpPr/>
          <p:nvPr/>
        </p:nvSpPr>
        <p:spPr>
          <a:xfrm>
            <a:off x="533400" y="2209800"/>
            <a:ext cx="2032000" cy="11684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zh-CN" altLang="en-US" sz="17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编辑样本</a:t>
            </a:r>
          </a:p>
          <a:p>
            <a:pPr algn="ctr"/>
            <a:r>
              <a:rPr lang="en-US" altLang="zh-CN" sz="17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(image, src, alt)</a:t>
            </a:r>
            <a:endParaRPr lang="zh-CN" altLang="en-US" sz="1700" b="1">
              <a:solidFill>
                <a:srgbClr val="2563E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683D02F-57E2-061A-B9DB-3BBCE3E5F4B7}"/>
              </a:ext>
            </a:extLst>
          </p:cNvPr>
          <p:cNvSpPr/>
          <p:nvPr/>
        </p:nvSpPr>
        <p:spPr>
          <a:xfrm>
            <a:off x="533400" y="4038600"/>
            <a:ext cx="2032000" cy="11684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zh-CN" altLang="en-US" sz="1700" b="1">
                <a:solidFill>
                  <a:srgbClr val="0F76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关联知识子图</a:t>
            </a:r>
          </a:p>
          <a:p>
            <a:pPr algn="ctr"/>
            <a:r>
              <a:rPr lang="en-US" altLang="zh-CN" sz="1700" b="1">
                <a:solidFill>
                  <a:srgbClr val="0F76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G_sub</a:t>
            </a:r>
            <a:endParaRPr lang="zh-CN" altLang="en-US" sz="1700" b="1">
              <a:solidFill>
                <a:srgbClr val="0F766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F825A17-BFE7-3A8E-2420-1D44705790A6}"/>
              </a:ext>
            </a:extLst>
          </p:cNvPr>
          <p:cNvSpPr/>
          <p:nvPr/>
        </p:nvSpPr>
        <p:spPr>
          <a:xfrm>
            <a:off x="3022600" y="2006600"/>
            <a:ext cx="2997200" cy="1574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zh-CN" altLang="en-US" sz="17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目标知识注入</a:t>
            </a:r>
          </a:p>
          <a:p>
            <a:pPr algn="ctr"/>
            <a:r>
              <a:rPr lang="en-US" altLang="zh-CN" sz="17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Cross-Attention + IM</a:t>
            </a:r>
          </a:p>
          <a:p>
            <a:pPr algn="ctr"/>
            <a:r>
              <a:rPr lang="zh-CN" altLang="en-US" sz="17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按视觉区域调节强度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AF2D5D1-C051-6C65-36A1-D18C03A25EE5}"/>
              </a:ext>
            </a:extLst>
          </p:cNvPr>
          <p:cNvSpPr/>
          <p:nvPr/>
        </p:nvSpPr>
        <p:spPr>
          <a:xfrm>
            <a:off x="3022600" y="3937000"/>
            <a:ext cx="2997200" cy="13462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zh-CN" altLang="en-US" sz="17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关联知识注入</a:t>
            </a:r>
          </a:p>
          <a:p>
            <a:pPr algn="ctr"/>
            <a:r>
              <a:rPr lang="en-US" altLang="zh-CN" sz="17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RGCN </a:t>
            </a:r>
            <a:r>
              <a:rPr lang="zh-CN" altLang="en-US" sz="17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表征与视觉特征融合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C446299-1317-A80B-C899-E64F450D2F32}"/>
              </a:ext>
            </a:extLst>
          </p:cNvPr>
          <p:cNvSpPr/>
          <p:nvPr/>
        </p:nvSpPr>
        <p:spPr>
          <a:xfrm>
            <a:off x="6477000" y="3124200"/>
            <a:ext cx="2387600" cy="11176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zh-CN" altLang="en-US" sz="1900" b="1">
                <a:solidFill>
                  <a:srgbClr val="EA580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融合后的视觉表征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0884A36-FE24-220E-0F0B-5F0C2B3B3D00}"/>
              </a:ext>
            </a:extLst>
          </p:cNvPr>
          <p:cNvSpPr/>
          <p:nvPr/>
        </p:nvSpPr>
        <p:spPr>
          <a:xfrm>
            <a:off x="9321800" y="3124200"/>
            <a:ext cx="2336800" cy="1117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zh-CN" altLang="en-US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送入下一 </a:t>
            </a:r>
            <a:r>
              <a:rPr lang="en-US" altLang="zh-CN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LLM </a:t>
            </a:r>
            <a:r>
              <a:rPr lang="zh-CN" altLang="en-US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层</a:t>
            </a:r>
          </a:p>
          <a:p>
            <a:pPr algn="ctr"/>
            <a:r>
              <a:rPr lang="zh-CN" altLang="en-US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生成编辑后答案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4932A8B-C5E3-C5BA-4B5E-AE88E83AF999}"/>
              </a:ext>
            </a:extLst>
          </p:cNvPr>
          <p:cNvSpPr txBox="1"/>
          <p:nvPr/>
        </p:nvSpPr>
        <p:spPr>
          <a:xfrm>
            <a:off x="1016000" y="57912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训练目标：可靠性 ↑  </a:t>
            </a:r>
            <a:r>
              <a:rPr lang="en-US" altLang="zh-CN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 </a:t>
            </a:r>
            <a:r>
              <a:rPr lang="zh-CN" altLang="en-US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文本</a:t>
            </a:r>
            <a:r>
              <a:rPr lang="en-US" altLang="zh-CN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模态泛化性 ↑  </a:t>
            </a:r>
            <a:r>
              <a:rPr lang="en-US" altLang="zh-CN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 </a:t>
            </a:r>
            <a:r>
              <a:rPr lang="zh-CN" altLang="en-US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文本</a:t>
            </a:r>
            <a:r>
              <a:rPr lang="en-US" altLang="zh-CN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模态局部性保持  </a:t>
            </a:r>
            <a:r>
              <a:rPr lang="en-US" altLang="zh-CN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 KL </a:t>
            </a:r>
            <a:r>
              <a:rPr lang="zh-CN" altLang="en-US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约束副作用</a:t>
            </a:r>
          </a:p>
        </p:txBody>
      </p:sp>
    </p:spTree>
    <p:extLst>
      <p:ext uri="{BB962C8B-B14F-4D97-AF65-F5344CB8AC3E}">
        <p14:creationId xmlns:p14="http://schemas.microsoft.com/office/powerpoint/2010/main" val="22454932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>
            <a:extLst>
              <a:ext uri="{FF2B5EF4-FFF2-40B4-BE49-F238E27FC236}">
                <a16:creationId xmlns:a16="http://schemas.microsoft.com/office/drawing/2014/main" id="{CB7EB2FE-1D85-A6F3-D5A9-F3352B94B756}"/>
              </a:ext>
            </a:extLst>
          </p:cNvPr>
          <p:cNvSpPr txBox="1"/>
          <p:nvPr/>
        </p:nvSpPr>
        <p:spPr>
          <a:xfrm>
            <a:off x="457200" y="2794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STEP 4 · </a:t>
            </a:r>
            <a:r>
              <a:rPr lang="zh-CN" altLang="en-US" sz="12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可视分析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F4F3C8DD-E1E0-90C4-A58F-25C8C63F9175}"/>
              </a:ext>
            </a:extLst>
          </p:cNvPr>
          <p:cNvSpPr txBox="1"/>
          <p:nvPr/>
        </p:nvSpPr>
        <p:spPr>
          <a:xfrm>
            <a:off x="457200" y="609600"/>
            <a:ext cx="1130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35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交互式可视分析把实验结果变成可诊断的编辑过程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4AED8ED8-C7E3-5572-6532-79747D5D6E43}"/>
              </a:ext>
            </a:extLst>
          </p:cNvPr>
          <p:cNvCxnSpPr/>
          <p:nvPr/>
        </p:nvCxnSpPr>
        <p:spPr>
          <a:xfrm>
            <a:off x="457200" y="1371600"/>
            <a:ext cx="11277600" cy="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age-number">
            <a:extLst>
              <a:ext uri="{FF2B5EF4-FFF2-40B4-BE49-F238E27FC236}">
                <a16:creationId xmlns:a16="http://schemas.microsoft.com/office/drawing/2014/main" id="{7F08A386-8991-D9C2-2842-55DC1D3E658A}"/>
              </a:ext>
            </a:extLst>
          </p:cNvPr>
          <p:cNvSpPr txBox="1"/>
          <p:nvPr/>
        </p:nvSpPr>
        <p:spPr>
          <a:xfrm>
            <a:off x="11303000" y="64135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1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19</a:t>
            </a:r>
            <a:endParaRPr lang="zh-CN" altLang="en-US" sz="110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801C6FF2-B6B8-BA8C-9B9A-1524BD7A57A9}"/>
              </a:ext>
            </a:extLst>
          </p:cNvPr>
          <p:cNvSpPr/>
          <p:nvPr/>
        </p:nvSpPr>
        <p:spPr>
          <a:xfrm>
            <a:off x="2311400" y="3098800"/>
            <a:ext cx="304800" cy="228600"/>
          </a:xfrm>
          <a:prstGeom prst="rightArrow">
            <a:avLst/>
          </a:prstGeom>
          <a:solidFill>
            <a:srgbClr val="7C3A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60A3F02E-3DFE-7954-DB0E-70A8A5883A87}"/>
              </a:ext>
            </a:extLst>
          </p:cNvPr>
          <p:cNvSpPr/>
          <p:nvPr/>
        </p:nvSpPr>
        <p:spPr>
          <a:xfrm>
            <a:off x="4495800" y="3098800"/>
            <a:ext cx="304800" cy="228600"/>
          </a:xfrm>
          <a:prstGeom prst="rightArrow">
            <a:avLst/>
          </a:prstGeom>
          <a:solidFill>
            <a:srgbClr val="7C3A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6F3ECF87-0F1C-AA21-1CCB-F0A869108A89}"/>
              </a:ext>
            </a:extLst>
          </p:cNvPr>
          <p:cNvSpPr/>
          <p:nvPr/>
        </p:nvSpPr>
        <p:spPr>
          <a:xfrm>
            <a:off x="6680200" y="3098800"/>
            <a:ext cx="304800" cy="228600"/>
          </a:xfrm>
          <a:prstGeom prst="rightArrow">
            <a:avLst/>
          </a:prstGeom>
          <a:solidFill>
            <a:srgbClr val="7C3A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52488F2D-1F25-02A4-7CBF-12E76D3FC31F}"/>
              </a:ext>
            </a:extLst>
          </p:cNvPr>
          <p:cNvSpPr/>
          <p:nvPr/>
        </p:nvSpPr>
        <p:spPr>
          <a:xfrm>
            <a:off x="8864600" y="3098800"/>
            <a:ext cx="304800" cy="228600"/>
          </a:xfrm>
          <a:prstGeom prst="rightArrow">
            <a:avLst/>
          </a:prstGeom>
          <a:solidFill>
            <a:srgbClr val="7C3A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411D2F4-6F95-DCF5-47B5-B20CB996D984}"/>
              </a:ext>
            </a:extLst>
          </p:cNvPr>
          <p:cNvSpPr/>
          <p:nvPr/>
        </p:nvSpPr>
        <p:spPr>
          <a:xfrm>
            <a:off x="533400" y="2514600"/>
            <a:ext cx="1778000" cy="1371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选择模型</a:t>
            </a:r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</a:t>
            </a:r>
          </a:p>
          <a:p>
            <a:pPr algn="ctr"/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确定待编辑对象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0D0E787-2A04-8017-4D2E-C2B8A0957793}"/>
              </a:ext>
            </a:extLst>
          </p:cNvPr>
          <p:cNvSpPr/>
          <p:nvPr/>
        </p:nvSpPr>
        <p:spPr>
          <a:xfrm>
            <a:off x="2717800" y="2514600"/>
            <a:ext cx="1778000" cy="1371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查看层贡献</a:t>
            </a:r>
          </a:p>
          <a:p>
            <a:pPr algn="ctr"/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比较 </a:t>
            </a:r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 </a:t>
            </a:r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方法候选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49BD287-5152-6B80-5839-519CE233BEC2}"/>
              </a:ext>
            </a:extLst>
          </p:cNvPr>
          <p:cNvSpPr/>
          <p:nvPr/>
        </p:nvSpPr>
        <p:spPr>
          <a:xfrm>
            <a:off x="4902200" y="2514600"/>
            <a:ext cx="1778000" cy="1371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查看编辑指标</a:t>
            </a:r>
          </a:p>
          <a:p>
            <a:pPr algn="ctr"/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可靠性</a:t>
            </a:r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泛化</a:t>
            </a:r>
            <a:r>
              <a:rPr lang="en-US" altLang="zh-CN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局部性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5BEE3DFC-59C6-1C36-2138-A35A279E7DC8}"/>
              </a:ext>
            </a:extLst>
          </p:cNvPr>
          <p:cNvSpPr/>
          <p:nvPr/>
        </p:nvSpPr>
        <p:spPr>
          <a:xfrm>
            <a:off x="7086600" y="2514600"/>
            <a:ext cx="1778000" cy="1371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问答＋关联子图</a:t>
            </a:r>
          </a:p>
          <a:p>
            <a:pPr algn="ctr"/>
            <a:r>
              <a:rPr lang="zh-CN" altLang="en-US" sz="16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验证知识传播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F22B5C4-F4AD-2CB5-4E13-779097601EE3}"/>
              </a:ext>
            </a:extLst>
          </p:cNvPr>
          <p:cNvSpPr/>
          <p:nvPr/>
        </p:nvSpPr>
        <p:spPr>
          <a:xfrm>
            <a:off x="9271000" y="2514600"/>
            <a:ext cx="1778000" cy="13716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zh-CN" altLang="en-US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注意力热图</a:t>
            </a:r>
          </a:p>
          <a:p>
            <a:pPr algn="ctr"/>
            <a:r>
              <a:rPr lang="zh-CN" altLang="en-US" sz="16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发现注入偏移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90E1F8E-C624-8BFD-3EC9-4E9C385C14C8}"/>
              </a:ext>
            </a:extLst>
          </p:cNvPr>
          <p:cNvSpPr txBox="1"/>
          <p:nvPr/>
        </p:nvSpPr>
        <p:spPr>
          <a:xfrm>
            <a:off x="533400" y="45720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000" b="1">
                <a:solidFill>
                  <a:srgbClr val="7C3AE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诊断闭环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BD00F45-34DF-CAD0-0F11-97587D3AA430}"/>
              </a:ext>
            </a:extLst>
          </p:cNvPr>
          <p:cNvSpPr txBox="1"/>
          <p:nvPr/>
        </p:nvSpPr>
        <p:spPr>
          <a:xfrm>
            <a:off x="533400" y="51308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当答案、关联子图与注意力区域不一致时，返回候选层、</a:t>
            </a: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IM 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强度或子图采样参数，形成“发现偏移</a:t>
            </a: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定位原因</a:t>
            </a:r>
            <a:r>
              <a:rPr lang="en-US" altLang="zh-CN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r>
              <a:rPr lang="zh-CN" altLang="en-US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重新训练”的迭代。</a:t>
            </a:r>
          </a:p>
        </p:txBody>
      </p:sp>
    </p:spTree>
    <p:extLst>
      <p:ext uri="{BB962C8B-B14F-4D97-AF65-F5344CB8AC3E}">
        <p14:creationId xmlns:p14="http://schemas.microsoft.com/office/powerpoint/2010/main" val="31040652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>
            <a:extLst>
              <a:ext uri="{FF2B5EF4-FFF2-40B4-BE49-F238E27FC236}">
                <a16:creationId xmlns:a16="http://schemas.microsoft.com/office/drawing/2014/main" id="{4855EE16-6E62-B33B-C639-3DC725CC0567}"/>
              </a:ext>
            </a:extLst>
          </p:cNvPr>
          <p:cNvSpPr txBox="1"/>
          <p:nvPr/>
        </p:nvSpPr>
        <p:spPr>
          <a:xfrm>
            <a:off x="457200" y="2794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后续工作计划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F07B0F5F-52AB-C4BA-7248-62E51BC4EA37}"/>
              </a:ext>
            </a:extLst>
          </p:cNvPr>
          <p:cNvSpPr txBox="1"/>
          <p:nvPr/>
        </p:nvSpPr>
        <p:spPr>
          <a:xfrm>
            <a:off x="457200" y="609600"/>
            <a:ext cx="1130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35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下一步按“证据闭环”推进，不只继续堆扫层结果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F70CAA75-96C0-1DB3-FA9A-24C0BBFA62DB}"/>
              </a:ext>
            </a:extLst>
          </p:cNvPr>
          <p:cNvCxnSpPr/>
          <p:nvPr/>
        </p:nvCxnSpPr>
        <p:spPr>
          <a:xfrm>
            <a:off x="457200" y="1371600"/>
            <a:ext cx="11277600" cy="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age-number">
            <a:extLst>
              <a:ext uri="{FF2B5EF4-FFF2-40B4-BE49-F238E27FC236}">
                <a16:creationId xmlns:a16="http://schemas.microsoft.com/office/drawing/2014/main" id="{CDE7F87F-844C-5C29-F4B8-D40FFDA4054C}"/>
              </a:ext>
            </a:extLst>
          </p:cNvPr>
          <p:cNvSpPr txBox="1"/>
          <p:nvPr/>
        </p:nvSpPr>
        <p:spPr>
          <a:xfrm>
            <a:off x="11303000" y="64135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1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</a:t>
            </a:r>
            <a:endParaRPr lang="zh-CN" altLang="en-US" sz="1100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8FCB6BF-7AAF-5A0E-479D-1BAE05835E13}"/>
              </a:ext>
            </a:extLst>
          </p:cNvPr>
          <p:cNvCxnSpPr/>
          <p:nvPr/>
        </p:nvCxnSpPr>
        <p:spPr>
          <a:xfrm>
            <a:off x="1041400" y="3632200"/>
            <a:ext cx="10109200" cy="0"/>
          </a:xfrm>
          <a:prstGeom prst="line">
            <a:avLst/>
          </a:prstGeom>
          <a:ln w="19050">
            <a:solidFill>
              <a:srgbClr val="1118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F611219-34C3-F030-9BEC-E44D84C9C0BC}"/>
              </a:ext>
            </a:extLst>
          </p:cNvPr>
          <p:cNvSpPr/>
          <p:nvPr/>
        </p:nvSpPr>
        <p:spPr>
          <a:xfrm>
            <a:off x="1130300" y="3543300"/>
            <a:ext cx="177800" cy="1778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8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E3F472F-DCB3-B0D2-C131-FA4DFAD97CD5}"/>
              </a:ext>
            </a:extLst>
          </p:cNvPr>
          <p:cNvSpPr txBox="1"/>
          <p:nvPr/>
        </p:nvSpPr>
        <p:spPr>
          <a:xfrm>
            <a:off x="558800" y="3111500"/>
            <a:ext cx="1320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600" b="1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2026.08</a:t>
            </a:r>
            <a:endParaRPr lang="zh-CN" altLang="en-US" sz="1600" b="1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3C169C5-D9B7-FC1E-E45F-3375052DB525}"/>
              </a:ext>
            </a:extLst>
          </p:cNvPr>
          <p:cNvSpPr txBox="1"/>
          <p:nvPr/>
        </p:nvSpPr>
        <p:spPr>
          <a:xfrm>
            <a:off x="304800" y="4013200"/>
            <a:ext cx="182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补齐定位证据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2853367-F96D-6479-7BD9-987CB7B98CC6}"/>
              </a:ext>
            </a:extLst>
          </p:cNvPr>
          <p:cNvSpPr txBox="1"/>
          <p:nvPr/>
        </p:nvSpPr>
        <p:spPr>
          <a:xfrm>
            <a:off x="254000" y="4495800"/>
            <a:ext cx="193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补齐 </a:t>
            </a:r>
            <a:r>
              <a:rPr lang="en-US" altLang="zh-CN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Top3/Top5 </a:t>
            </a:r>
            <a:r>
              <a:rPr lang="zh-CN" altLang="en-US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真实评测</a:t>
            </a:r>
          </a:p>
          <a:p>
            <a:pPr algn="ctr"/>
            <a:r>
              <a:rPr lang="zh-CN" altLang="en-US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重算 </a:t>
            </a:r>
            <a:r>
              <a:rPr lang="en-US" altLang="zh-CN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strict KeyToken</a:t>
            </a:r>
          </a:p>
          <a:p>
            <a:pPr algn="ctr"/>
            <a:r>
              <a:rPr lang="zh-CN" altLang="en-US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失败层分栏说明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4C90150-1263-A5B1-AABC-37AA8BBAA04F}"/>
              </a:ext>
            </a:extLst>
          </p:cNvPr>
          <p:cNvSpPr/>
          <p:nvPr/>
        </p:nvSpPr>
        <p:spPr>
          <a:xfrm>
            <a:off x="3467100" y="3543300"/>
            <a:ext cx="177800" cy="177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8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13685F9-3D19-5A95-7050-FF7A7EB0C9D7}"/>
              </a:ext>
            </a:extLst>
          </p:cNvPr>
          <p:cNvSpPr txBox="1"/>
          <p:nvPr/>
        </p:nvSpPr>
        <p:spPr>
          <a:xfrm>
            <a:off x="2895600" y="3111500"/>
            <a:ext cx="1320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600" b="1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2026.08–09</a:t>
            </a:r>
            <a:endParaRPr lang="zh-CN" altLang="en-US" sz="1600" b="1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A00F9FF-6C14-2B9F-574D-067FD1266344}"/>
              </a:ext>
            </a:extLst>
          </p:cNvPr>
          <p:cNvSpPr txBox="1"/>
          <p:nvPr/>
        </p:nvSpPr>
        <p:spPr>
          <a:xfrm>
            <a:off x="2641600" y="4013200"/>
            <a:ext cx="182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锁定最佳层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029F1CC-2E04-991C-D207-A48BD68D1F55}"/>
              </a:ext>
            </a:extLst>
          </p:cNvPr>
          <p:cNvSpPr txBox="1"/>
          <p:nvPr/>
        </p:nvSpPr>
        <p:spPr>
          <a:xfrm>
            <a:off x="2590800" y="4495800"/>
            <a:ext cx="193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</a:t>
            </a:r>
            <a:r>
              <a:rPr lang="en-US" altLang="zh-CN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稳定版敏感性</a:t>
            </a:r>
          </a:p>
          <a:p>
            <a:pPr algn="ctr"/>
            <a:r>
              <a:rPr lang="zh-CN" altLang="en-US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严格配对统计</a:t>
            </a:r>
          </a:p>
          <a:p>
            <a:pPr algn="ctr"/>
            <a:r>
              <a:rPr lang="zh-CN" altLang="en-US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最佳层清单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7BA8501-AB6C-8D28-C566-30ED8E6DF08A}"/>
              </a:ext>
            </a:extLst>
          </p:cNvPr>
          <p:cNvSpPr/>
          <p:nvPr/>
        </p:nvSpPr>
        <p:spPr>
          <a:xfrm>
            <a:off x="5803900" y="3543300"/>
            <a:ext cx="177800" cy="177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8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12EF28A-9ED9-0556-6C63-914F694A6FA5}"/>
              </a:ext>
            </a:extLst>
          </p:cNvPr>
          <p:cNvSpPr txBox="1"/>
          <p:nvPr/>
        </p:nvSpPr>
        <p:spPr>
          <a:xfrm>
            <a:off x="5232400" y="3111500"/>
            <a:ext cx="1320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600" b="1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2026.09–11</a:t>
            </a:r>
            <a:endParaRPr lang="zh-CN" altLang="en-US" sz="1600" b="1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DC6B40C-5151-1D5E-E46B-BAC922465907}"/>
              </a:ext>
            </a:extLst>
          </p:cNvPr>
          <p:cNvSpPr txBox="1"/>
          <p:nvPr/>
        </p:nvSpPr>
        <p:spPr>
          <a:xfrm>
            <a:off x="4978400" y="4013200"/>
            <a:ext cx="182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实现图谱模块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26D4DB0-EB84-A84A-5116-30EEA11F25E4}"/>
              </a:ext>
            </a:extLst>
          </p:cNvPr>
          <p:cNvSpPr txBox="1"/>
          <p:nvPr/>
        </p:nvSpPr>
        <p:spPr>
          <a:xfrm>
            <a:off x="4927600" y="4495800"/>
            <a:ext cx="193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实体链接与受限扩展</a:t>
            </a:r>
          </a:p>
          <a:p>
            <a:pPr algn="ctr"/>
            <a:r>
              <a:rPr lang="en-US" altLang="zh-CN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RGCN </a:t>
            </a:r>
            <a:r>
              <a:rPr lang="zh-CN" altLang="en-US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编码</a:t>
            </a:r>
          </a:p>
          <a:p>
            <a:pPr algn="ctr"/>
            <a:r>
              <a:rPr lang="zh-CN" altLang="en-US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子图规模</a:t>
            </a:r>
            <a:r>
              <a:rPr lang="en-US" altLang="zh-CN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噪声消融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9B117C95-67BD-A084-B9C2-D6390A73DC86}"/>
              </a:ext>
            </a:extLst>
          </p:cNvPr>
          <p:cNvSpPr/>
          <p:nvPr/>
        </p:nvSpPr>
        <p:spPr>
          <a:xfrm>
            <a:off x="8140700" y="3543300"/>
            <a:ext cx="177800" cy="177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8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83E5E87-084E-273C-4047-524B9389594A}"/>
              </a:ext>
            </a:extLst>
          </p:cNvPr>
          <p:cNvSpPr txBox="1"/>
          <p:nvPr/>
        </p:nvSpPr>
        <p:spPr>
          <a:xfrm>
            <a:off x="7569200" y="3111500"/>
            <a:ext cx="1320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600" b="1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2026.11–12</a:t>
            </a:r>
            <a:endParaRPr lang="zh-CN" altLang="en-US" sz="1600" b="1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C4C4BA3-E380-45B6-9465-F51FE99AD48B}"/>
              </a:ext>
            </a:extLst>
          </p:cNvPr>
          <p:cNvSpPr txBox="1"/>
          <p:nvPr/>
        </p:nvSpPr>
        <p:spPr>
          <a:xfrm>
            <a:off x="7315200" y="4013200"/>
            <a:ext cx="182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完成主实验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C86B604-8BDD-79D7-5301-E18E78C261AB}"/>
              </a:ext>
            </a:extLst>
          </p:cNvPr>
          <p:cNvSpPr txBox="1"/>
          <p:nvPr/>
        </p:nvSpPr>
        <p:spPr>
          <a:xfrm>
            <a:off x="7264400" y="4495800"/>
            <a:ext cx="193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目标＋关联双路注入</a:t>
            </a:r>
          </a:p>
          <a:p>
            <a:pPr algn="ctr"/>
            <a:r>
              <a:rPr lang="zh-CN" altLang="en-US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三数据集统一评测</a:t>
            </a:r>
          </a:p>
          <a:p>
            <a:pPr algn="ctr"/>
            <a:r>
              <a:rPr lang="zh-CN" altLang="en-US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三类指标对比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CE069242-50A5-3510-9CBD-89CD5076BFB5}"/>
              </a:ext>
            </a:extLst>
          </p:cNvPr>
          <p:cNvSpPr/>
          <p:nvPr/>
        </p:nvSpPr>
        <p:spPr>
          <a:xfrm>
            <a:off x="10477500" y="3543300"/>
            <a:ext cx="177800" cy="177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endParaRPr lang="zh-CN" altLang="en-US" sz="8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BC0DF82-80DA-FAEF-566A-E30601F1D622}"/>
              </a:ext>
            </a:extLst>
          </p:cNvPr>
          <p:cNvSpPr txBox="1"/>
          <p:nvPr/>
        </p:nvSpPr>
        <p:spPr>
          <a:xfrm>
            <a:off x="9906000" y="3111500"/>
            <a:ext cx="1320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600" b="1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2027.01–05</a:t>
            </a:r>
            <a:endParaRPr lang="zh-CN" altLang="en-US" sz="1600" b="1">
              <a:solidFill>
                <a:srgbClr val="4B55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1FDE372-7B1B-E131-C786-6752A515F703}"/>
              </a:ext>
            </a:extLst>
          </p:cNvPr>
          <p:cNvSpPr txBox="1"/>
          <p:nvPr/>
        </p:nvSpPr>
        <p:spPr>
          <a:xfrm>
            <a:off x="9652000" y="4013200"/>
            <a:ext cx="182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系统与论文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257BF5B-11FE-44AA-C70E-5B2D0D831CC2}"/>
              </a:ext>
            </a:extLst>
          </p:cNvPr>
          <p:cNvSpPr txBox="1"/>
          <p:nvPr/>
        </p:nvSpPr>
        <p:spPr>
          <a:xfrm>
            <a:off x="9601200" y="4495800"/>
            <a:ext cx="193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交互式可视分析</a:t>
            </a:r>
          </a:p>
          <a:p>
            <a:pPr algn="ctr"/>
            <a:r>
              <a:rPr lang="zh-CN" altLang="en-US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案例诊断与用户流程</a:t>
            </a:r>
          </a:p>
          <a:p>
            <a:pPr algn="ctr"/>
            <a:r>
              <a:rPr lang="zh-CN" altLang="en-US" sz="160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论文与复现实验归档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AD98BEE-7268-F78A-2BDF-969BA5F933FF}"/>
              </a:ext>
            </a:extLst>
          </p:cNvPr>
          <p:cNvSpPr/>
          <p:nvPr/>
        </p:nvSpPr>
        <p:spPr>
          <a:xfrm>
            <a:off x="1473200" y="5842000"/>
            <a:ext cx="9245600" cy="5334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pPr algn="ctr"/>
            <a:r>
              <a:rPr lang="zh-CN" altLang="en-US" sz="17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阶段门槛：只有“候选层训练完成 </a:t>
            </a:r>
            <a:r>
              <a:rPr lang="en-US" altLang="zh-CN" sz="17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7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独立评测完成 </a:t>
            </a:r>
            <a:r>
              <a:rPr lang="en-US" altLang="zh-CN" sz="17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7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统计口径可复现”，才进入下一模块的正式结论。</a:t>
            </a:r>
          </a:p>
        </p:txBody>
      </p:sp>
    </p:spTree>
    <p:extLst>
      <p:ext uri="{BB962C8B-B14F-4D97-AF65-F5344CB8AC3E}">
        <p14:creationId xmlns:p14="http://schemas.microsoft.com/office/powerpoint/2010/main" val="25612815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38DF922-E222-13AD-6609-A0902A316669}"/>
              </a:ext>
            </a:extLst>
          </p:cNvPr>
          <p:cNvSpPr txBox="1"/>
          <p:nvPr/>
        </p:nvSpPr>
        <p:spPr>
          <a:xfrm>
            <a:off x="533400" y="533400"/>
            <a:ext cx="355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核心结论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25BC771-2AF1-9AA1-1390-E4A1E51647E1}"/>
              </a:ext>
            </a:extLst>
          </p:cNvPr>
          <p:cNvSpPr txBox="1"/>
          <p:nvPr/>
        </p:nvSpPr>
        <p:spPr>
          <a:xfrm>
            <a:off x="533400" y="1854200"/>
            <a:ext cx="990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44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先把位置找对，</a:t>
            </a:r>
          </a:p>
          <a:p>
            <a:r>
              <a:rPr lang="zh-CN" altLang="en-US" sz="4400" b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再让一次编辑沿知识图谱正确传播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267DD15B-F23D-F917-0E0F-FD4E8F599389}"/>
              </a:ext>
            </a:extLst>
          </p:cNvPr>
          <p:cNvCxnSpPr/>
          <p:nvPr/>
        </p:nvCxnSpPr>
        <p:spPr>
          <a:xfrm>
            <a:off x="533400" y="4114800"/>
            <a:ext cx="11125200" cy="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AA5C83A2-9908-5520-0D9F-17E24CE4A945}"/>
              </a:ext>
            </a:extLst>
          </p:cNvPr>
          <p:cNvSpPr txBox="1"/>
          <p:nvPr/>
        </p:nvSpPr>
        <p:spPr>
          <a:xfrm>
            <a:off x="533400" y="45720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00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定位贡献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BE1502A-068F-138C-61C8-4523348063C2}"/>
              </a:ext>
            </a:extLst>
          </p:cNvPr>
          <p:cNvSpPr txBox="1"/>
          <p:nvPr/>
        </p:nvSpPr>
        <p:spPr>
          <a:xfrm>
            <a:off x="533400" y="50546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7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 </a:t>
            </a:r>
            <a:r>
              <a:rPr lang="zh-CN" altLang="en-US" sz="17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种方法统一比较，视觉梯度公式提供数据驱动候选层。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5B8B215-6E80-9294-6251-9188E918FF93}"/>
              </a:ext>
            </a:extLst>
          </p:cNvPr>
          <p:cNvSpPr txBox="1"/>
          <p:nvPr/>
        </p:nvSpPr>
        <p:spPr>
          <a:xfrm>
            <a:off x="4495800" y="45720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000" b="1">
                <a:solidFill>
                  <a:srgbClr val="0F76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编辑贡献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18E95E0-9FD7-25EF-B0AE-3F48DF328B33}"/>
              </a:ext>
            </a:extLst>
          </p:cNvPr>
          <p:cNvSpPr txBox="1"/>
          <p:nvPr/>
        </p:nvSpPr>
        <p:spPr>
          <a:xfrm>
            <a:off x="4495800" y="50546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7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目标知识与关联知识双路注入，面向多跳泛化而非单题命中。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577680-D9D5-D91A-5239-71CCE345693B}"/>
              </a:ext>
            </a:extLst>
          </p:cNvPr>
          <p:cNvSpPr txBox="1"/>
          <p:nvPr/>
        </p:nvSpPr>
        <p:spPr>
          <a:xfrm>
            <a:off x="8458200" y="45720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000" b="1">
                <a:solidFill>
                  <a:srgbClr val="7C3AE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系统贡献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2E50E2C-8FB2-D69E-DA08-EC4557A3097C}"/>
              </a:ext>
            </a:extLst>
          </p:cNvPr>
          <p:cNvSpPr txBox="1"/>
          <p:nvPr/>
        </p:nvSpPr>
        <p:spPr>
          <a:xfrm>
            <a:off x="8458200" y="50546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70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用指标、子图与注意力热图解释编辑效果和失败原因。</a:t>
            </a:r>
          </a:p>
        </p:txBody>
      </p:sp>
    </p:spTree>
    <p:extLst>
      <p:ext uri="{BB962C8B-B14F-4D97-AF65-F5344CB8AC3E}">
        <p14:creationId xmlns:p14="http://schemas.microsoft.com/office/powerpoint/2010/main" val="141822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6062</Words>
  <Application>Microsoft Office PowerPoint</Application>
  <PresentationFormat>自定义</PresentationFormat>
  <Paragraphs>600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6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楠 周</dc:creator>
  <cp:lastModifiedBy>楠 周</cp:lastModifiedBy>
  <cp:revision>1</cp:revision>
  <dcterms:created xsi:type="dcterms:W3CDTF">2026-07-31T12:29:11Z</dcterms:created>
  <dcterms:modified xsi:type="dcterms:W3CDTF">2026-07-31T12:29:11Z</dcterms:modified>
</cp:coreProperties>
</file>
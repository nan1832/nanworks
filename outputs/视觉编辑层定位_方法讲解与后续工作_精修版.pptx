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4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ADA655-996A-45D0-AE13-45221E78F4C0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B6B17-528C-4488-9484-581C4A42A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21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用户提供的视觉编辑层定位</a:t>
            </a:r>
            <a:r>
              <a:rPr lang="en-US" altLang="zh-CN"/>
              <a:t>1.pptx</a:t>
            </a:r>
            <a:r>
              <a:rPr lang="zh-CN" altLang="en-US"/>
              <a:t>；</a:t>
            </a:r>
            <a:r>
              <a:rPr lang="en-US" altLang="zh-CN"/>
              <a:t>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961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visual formula analysis outputs, 2026-07-31</a:t>
            </a:r>
            <a:r>
              <a:rPr lang="zh-CN" altLang="en-US"/>
              <a:t>；六个基线的 </a:t>
            </a:r>
            <a:r>
              <a:rPr lang="en-US" altLang="zh-CN"/>
              <a:t>Ours-minus-baseline </a:t>
            </a:r>
            <a:r>
              <a:rPr lang="zh-CN" altLang="en-US"/>
              <a:t>配对汇总。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771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；任务安排文档。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99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实验统一验收规范；</a:t>
            </a:r>
            <a:r>
              <a:rPr lang="en-US" altLang="zh-CN"/>
              <a:t>6location_7model_3datas_top_3_5_layers_outcome.md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973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6edit_layer_localization_candidate_methods_</a:t>
            </a:r>
            <a:r>
              <a:rPr lang="zh-CN" altLang="en-US"/>
              <a:t>简洁说明版</a:t>
            </a:r>
            <a:r>
              <a:rPr lang="en-US" altLang="zh-CN"/>
              <a:t>.md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676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方法手册：</a:t>
            </a:r>
            <a:r>
              <a:rPr lang="en-US" altLang="zh-CN"/>
              <a:t>Middle-Prior-Direct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06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方法手册：</a:t>
            </a:r>
            <a:r>
              <a:rPr lang="en-US" altLang="zh-CN"/>
              <a:t>VisEdit-Contrib-Pre-KeyToken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613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方法手册：</a:t>
            </a:r>
            <a:r>
              <a:rPr lang="en-US" altLang="zh-CN"/>
              <a:t>SaLEM-Alt-Direct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283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方法手册：</a:t>
            </a:r>
            <a:r>
              <a:rPr lang="en-US" altLang="zh-CN"/>
              <a:t>LGA-Param-Direct-AltModelPred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729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用户参考</a:t>
            </a:r>
            <a:r>
              <a:rPr lang="en-US" altLang="zh-CN"/>
              <a:t>PPT</a:t>
            </a:r>
            <a:r>
              <a:rPr lang="zh-CN" altLang="en-US"/>
              <a:t>第</a:t>
            </a:r>
            <a:r>
              <a:rPr lang="en-US" altLang="zh-CN"/>
              <a:t>12</a:t>
            </a:r>
            <a:r>
              <a:rPr lang="zh-CN" altLang="en-US"/>
              <a:t>页；方法手册：</a:t>
            </a:r>
            <a:r>
              <a:rPr lang="en-US" altLang="zh-CN"/>
              <a:t>Perturb-KL-Direct-AltSeq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809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用户参考</a:t>
            </a:r>
            <a:r>
              <a:rPr lang="en-US" altLang="zh-CN"/>
              <a:t>PPT</a:t>
            </a:r>
            <a:r>
              <a:rPr lang="zh-CN" altLang="en-US"/>
              <a:t>第</a:t>
            </a:r>
            <a:r>
              <a:rPr lang="en-US" altLang="zh-CN"/>
              <a:t>33</a:t>
            </a:r>
            <a:r>
              <a:rPr lang="zh-CN" altLang="en-US"/>
              <a:t>页；</a:t>
            </a:r>
            <a:r>
              <a:rPr lang="en-US" altLang="zh-CN"/>
              <a:t>CMA</a:t>
            </a:r>
            <a:r>
              <a:rPr lang="zh-CN" altLang="en-US"/>
              <a:t>实验状态与覆盖统计。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65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用户参考</a:t>
            </a:r>
            <a:r>
              <a:rPr lang="en-US" altLang="zh-CN"/>
              <a:t>PPT</a:t>
            </a:r>
            <a:r>
              <a:rPr lang="zh-CN" altLang="en-US"/>
              <a:t>第</a:t>
            </a:r>
            <a:r>
              <a:rPr lang="en-US" altLang="zh-CN"/>
              <a:t>28</a:t>
            </a:r>
            <a:r>
              <a:rPr lang="zh-CN" altLang="en-US"/>
              <a:t>页；</a:t>
            </a:r>
            <a:r>
              <a:rPr lang="en-US" altLang="zh-CN"/>
              <a:t>11</a:t>
            </a:r>
            <a:r>
              <a:rPr lang="zh-CN" altLang="en-US"/>
              <a:t>公式汇总分析。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232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visual_candidate_formula_rankings.csv</a:t>
            </a:r>
            <a:r>
              <a:rPr lang="zh-CN" altLang="en-US"/>
              <a:t>；</a:t>
            </a:r>
            <a:r>
              <a:rPr lang="en-US" altLang="zh-CN"/>
              <a:t>11</a:t>
            </a:r>
            <a:r>
              <a:rPr lang="zh-CN" altLang="en-US"/>
              <a:t>公式分析输出。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318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MMKE-visual × Qwen2.5-VL </a:t>
            </a:r>
            <a:r>
              <a:rPr lang="zh-CN" altLang="en-US"/>
              <a:t>各方法 </a:t>
            </a:r>
            <a:r>
              <a:rPr lang="en-US" altLang="zh-CN"/>
              <a:t>Top-3</a:t>
            </a:r>
            <a:r>
              <a:rPr lang="zh-CN" altLang="en-US"/>
              <a:t>；本地结果总表。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501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七种方法定义与计算流程；方法手册。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569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Ours-minus-baseline pairwise summary</a:t>
            </a:r>
            <a:r>
              <a:rPr lang="zh-CN" altLang="en-US"/>
              <a:t>；</a:t>
            </a:r>
            <a:r>
              <a:rPr lang="en-US" altLang="zh-CN"/>
              <a:t>K=3</a:t>
            </a:r>
            <a:r>
              <a:rPr lang="zh-CN" altLang="en-US"/>
              <a:t>严格配对。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937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11</a:t>
            </a:r>
            <a:r>
              <a:rPr lang="zh-CN" altLang="en-US"/>
              <a:t>公式分析；六基线真实编辑配对汇总。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31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结果完整性审计；</a:t>
            </a:r>
            <a:r>
              <a:rPr lang="en-US" altLang="zh-CN"/>
              <a:t>PaliGemma</a:t>
            </a:r>
            <a:r>
              <a:rPr lang="zh-CN" altLang="en-US"/>
              <a:t>配置说明；统计检验输出。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266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；后续知识增强任务设计。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7828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；双路径知识注入设计。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364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本地结果台账结构；后续可视分析需求。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640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[Sources] </a:t>
            </a:r>
            <a:r>
              <a:rPr lang="zh-CN" altLang="en-US"/>
              <a:t>完整任务安排；实验结果台账；</a:t>
            </a:r>
            <a:r>
              <a:rPr lang="en-US" altLang="zh-CN"/>
              <a:t>mywork-</a:t>
            </a:r>
            <a:r>
              <a:rPr lang="zh-CN" altLang="en-US"/>
              <a:t>通用版</a:t>
            </a:r>
            <a:r>
              <a:rPr lang="en-US" altLang="zh-CN"/>
              <a:t>.docx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B6B17-528C-4488-9484-581C4A42AF2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09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BE4F1-7169-635F-4EAC-616AF825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D15508-1EC6-CF2B-158A-2F0C99BC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AEE448-859B-2B74-B958-4AEB53E9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563CF7-0960-5326-6855-0C2980BB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AF7C6-7738-0BEF-6333-C07E9198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91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7F97C-829B-277B-C590-5FCFA52B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6F7DF-6E56-9BC2-A8B7-58AD24144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B75768-91D8-F9BC-159E-4D714C50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C2EE4A-3BC7-3018-7B4A-A4C921038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06E665-771D-45F8-D0B5-93A538DA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92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A7CC3B-01D8-40FD-6861-4BA9B3EA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648B3A-D6DE-5B2E-7463-686CC8B6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FB070-B619-BB21-EE20-DFD1254A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67833-3848-1D81-845D-8EEE5586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38B5A1-9D2F-F83D-5C1E-8D11C217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89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51E1E-68D8-683C-BB46-1E94FF5F9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5E954-77A3-8C23-3634-5D577D7F18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9018D-C261-D2BD-8447-070387A47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672022-DD6B-9C80-3369-549D430E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BF7A9A-4C3D-6B78-0EC9-E8489D878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D8AB81-F159-4618-3D16-9F4F6B0D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96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05F3A-B2CE-DD97-EAB5-829D15104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E6A62F-ED51-FA24-CBCE-3B1921DF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1011A3-D658-C693-4EF4-232245BB1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911D3A-6BB4-415E-D30C-161CBE578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5BA217-0249-3E23-2C9D-6B1E4D7CD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414E98-C4CD-BD9D-5AF9-235EDD94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B8065C-6AFD-D108-7CBC-BAA5EBA53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6BEAC4-B6D6-1ED3-D478-5C4DA94E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81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2CC4B-A765-2DC8-8C44-2CD03659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4D2527-45CC-9670-0D0F-DB330683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DBEF8D-CF4D-5806-F2F1-70DAD6EA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968F7B-D7B8-835E-5CC4-2F82D4CD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01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21FBCF-4C22-EDE1-19CF-03D37C31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4D4628-B7FA-DCA8-91DF-83DBAD93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BEC7B2-FA3E-4F08-4063-F323B1B6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49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07554-229F-E0C5-6A7C-8846600C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37E97C-FD57-298E-FB27-6E0AE3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40E104-9B07-4FFF-CBC2-2DA3B00F9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EA7DD4-81A5-2213-6436-7C1B9D51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475251-CF2C-4F10-6F61-FBB391D14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831DD-F73C-0192-F98B-F968903D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78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E251F-8B7A-00E1-C77A-11FFDB94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78A1E8-EA7F-BD75-1B54-CD53AEFDFF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E5B67D-25CE-5FBB-1CD1-3A170C898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7FB03E-9516-9DB9-B2EB-9175C5BD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09EF13-D346-1865-C1DF-0CC26C33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58CF46-40DB-BD69-39FF-1DB11860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1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9B3DF-D546-143A-A5EC-0CE242C7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F34441-66A8-9468-4806-D18257207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88EA-C1CC-C7B5-489D-A7016C45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C02961-157C-DEE9-2A5B-46C1E7966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60307-732A-00E9-2978-CE2C5113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85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71005B-0CEB-07B5-7F5B-B51192AEA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2D8901-0977-8D9F-AD24-96D0BBB1F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15A2A6-9CF6-2F2F-269D-D02DAC67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EFE93-6FF8-58BE-962F-7F3891CB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5B0AAE-0768-DFE2-ABD0-3591B88D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59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0632D4-02F7-8C59-EE0E-EBC28275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20E5CE-AF80-0868-0019-A39112C5E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0467B-C1B1-0431-342C-C425F20A8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6126-A138-4FFC-B619-FA19EA461A47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DD8A2-1343-D7D1-F705-B49B8AEB0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2D1AB-9692-98C4-8C1C-6598B1A0E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6B778-D1C0-49ED-8BE7-55E1B47BB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13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1BCB9FA-5278-FEE8-4B57-6E911F5A87C6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41D68B-C72A-3B33-036C-D43300913FFB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B64F98-2F88-6E17-7114-80BEAE58441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711200"/>
            <a:ext cx="4635500" cy="5207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ABE8CB7-AB13-02BD-085B-D9C51A1E4966}"/>
              </a:ext>
            </a:extLst>
          </p:cNvPr>
          <p:cNvSpPr txBox="1"/>
          <p:nvPr/>
        </p:nvSpPr>
        <p:spPr>
          <a:xfrm>
            <a:off x="736600" y="1168400"/>
            <a:ext cx="596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D87326-5AAA-0F93-1B5C-448A8492481A}"/>
              </a:ext>
            </a:extLst>
          </p:cNvPr>
          <p:cNvSpPr txBox="1"/>
          <p:nvPr/>
        </p:nvSpPr>
        <p:spPr>
          <a:xfrm>
            <a:off x="736600" y="19685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4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24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24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种定位策略到知识增强视觉语言模型编辑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DD5FE1-C943-581E-10BB-4E0EE5B7EF21}"/>
              </a:ext>
            </a:extLst>
          </p:cNvPr>
          <p:cNvSpPr txBox="1"/>
          <p:nvPr/>
        </p:nvSpPr>
        <p:spPr>
          <a:xfrm>
            <a:off x="736600" y="2984500"/>
            <a:ext cx="609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方法原理 </a:t>
            </a:r>
            <a:r>
              <a:rPr lang="en-US" altLang="zh-CN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候选层验证 </a:t>
            </a:r>
            <a:r>
              <a:rPr lang="en-US" altLang="zh-CN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综合对比 </a:t>
            </a:r>
            <a:r>
              <a:rPr lang="en-US" altLang="zh-CN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后续工作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EC89CDD-F90F-7B3A-5AF0-7CDD285BC33A}"/>
              </a:ext>
            </a:extLst>
          </p:cNvPr>
          <p:cNvSpPr/>
          <p:nvPr/>
        </p:nvSpPr>
        <p:spPr>
          <a:xfrm>
            <a:off x="736600" y="4000500"/>
            <a:ext cx="59944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5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核心观点  定位只是第一步：先找对层，再构建知识子图并完成双路径编辑与可解释分析。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BE8AF1-7C7D-69E7-EB12-6BC91FCBB0AA}"/>
              </a:ext>
            </a:extLst>
          </p:cNvPr>
          <p:cNvSpPr txBox="1"/>
          <p:nvPr/>
        </p:nvSpPr>
        <p:spPr>
          <a:xfrm>
            <a:off x="736600" y="5727700"/>
            <a:ext cx="355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研究汇报 </a:t>
            </a:r>
            <a:r>
              <a:rPr lang="en-US" altLang="zh-CN" sz="11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可编辑版</a:t>
            </a:r>
          </a:p>
        </p:txBody>
      </p:sp>
    </p:spTree>
    <p:extLst>
      <p:ext uri="{BB962C8B-B14F-4D97-AF65-F5344CB8AC3E}">
        <p14:creationId xmlns:p14="http://schemas.microsoft.com/office/powerpoint/2010/main" val="760328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17D82F-4F5E-5879-0C66-F8800503A472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1A349C-CF9E-7FF7-C71A-08DF9EF56EBE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153633-09C7-0BC7-1A8B-4B27012BAEF0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EXECUTIVE SUMMARY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25987F-090F-E1B2-30F3-0A94E95D1B5D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先看结论：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在现有证据上呈现最稳定的整体优势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709A3C-9B57-1B11-4684-3F4930EF8805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B9269CC-73AF-DB53-37B8-5D56404FE1B0}"/>
              </a:ext>
            </a:extLst>
          </p:cNvPr>
          <p:cNvSpPr/>
          <p:nvPr/>
        </p:nvSpPr>
        <p:spPr>
          <a:xfrm>
            <a:off x="736600" y="1803400"/>
            <a:ext cx="21590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endParaRPr lang="zh-CN" altLang="en-US" sz="12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E0458C-AF6B-8C7A-D6DE-49C217AA8974}"/>
              </a:ext>
            </a:extLst>
          </p:cNvPr>
          <p:cNvSpPr/>
          <p:nvPr/>
        </p:nvSpPr>
        <p:spPr>
          <a:xfrm>
            <a:off x="736600" y="1803400"/>
            <a:ext cx="76200" cy="1244600"/>
          </a:xfrm>
          <a:prstGeom prst="rect">
            <a:avLst/>
          </a:prstGeom>
          <a:solidFill>
            <a:srgbClr val="765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701589-4BE4-76C8-D683-EAA154BC1552}"/>
              </a:ext>
            </a:extLst>
          </p:cNvPr>
          <p:cNvSpPr txBox="1"/>
          <p:nvPr/>
        </p:nvSpPr>
        <p:spPr>
          <a:xfrm>
            <a:off x="965200" y="19685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7652D2"/>
                </a:solidFill>
                <a:latin typeface="Arial" panose="020B0604020202020204" pitchFamily="34" charset="0"/>
              </a:rPr>
              <a:t>#1 / 11</a:t>
            </a:r>
            <a:endParaRPr lang="zh-CN" altLang="en-US" sz="2600" b="1">
              <a:solidFill>
                <a:srgbClr val="7652D2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793BD2-390A-212D-FFEE-D408E52566ED}"/>
              </a:ext>
            </a:extLst>
          </p:cNvPr>
          <p:cNvSpPr txBox="1"/>
          <p:nvPr/>
        </p:nvSpPr>
        <p:spPr>
          <a:xfrm>
            <a:off x="965200" y="2514600"/>
            <a:ext cx="180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按平均 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Spearman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排名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22A19AE-E47B-4F94-B24E-C8BC5AF80A24}"/>
              </a:ext>
            </a:extLst>
          </p:cNvPr>
          <p:cNvSpPr/>
          <p:nvPr/>
        </p:nvSpPr>
        <p:spPr>
          <a:xfrm>
            <a:off x="3073400" y="1803400"/>
            <a:ext cx="21590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endParaRPr lang="zh-CN" altLang="en-US" sz="12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C2258E-838D-C269-C778-0969A6124849}"/>
              </a:ext>
            </a:extLst>
          </p:cNvPr>
          <p:cNvSpPr/>
          <p:nvPr/>
        </p:nvSpPr>
        <p:spPr>
          <a:xfrm>
            <a:off x="3073400" y="1803400"/>
            <a:ext cx="76200" cy="12446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5F13F8-56E2-498B-2F7D-6BD85DB379E3}"/>
              </a:ext>
            </a:extLst>
          </p:cNvPr>
          <p:cNvSpPr txBox="1"/>
          <p:nvPr/>
        </p:nvSpPr>
        <p:spPr>
          <a:xfrm>
            <a:off x="3302000" y="19685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168E88"/>
                </a:solidFill>
                <a:latin typeface="Arial" panose="020B0604020202020204" pitchFamily="34" charset="0"/>
              </a:rPr>
              <a:t>15 / 18</a:t>
            </a:r>
            <a:endParaRPr lang="zh-CN" altLang="en-US" sz="2600" b="1">
              <a:solidFill>
                <a:srgbClr val="168E88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E1E172-1DF8-C37C-CEAE-C0CC26B53C3E}"/>
              </a:ext>
            </a:extLst>
          </p:cNvPr>
          <p:cNvSpPr txBox="1"/>
          <p:nvPr/>
        </p:nvSpPr>
        <p:spPr>
          <a:xfrm>
            <a:off x="3302000" y="2514600"/>
            <a:ext cx="180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数据集组合为正相关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27703C-3076-F924-59FC-3CE96F3FC3E0}"/>
              </a:ext>
            </a:extLst>
          </p:cNvPr>
          <p:cNvSpPr/>
          <p:nvPr/>
        </p:nvSpPr>
        <p:spPr>
          <a:xfrm>
            <a:off x="5410200" y="1803400"/>
            <a:ext cx="26670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endParaRPr lang="zh-CN" altLang="en-US" sz="12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F64F3D-3CB6-79B9-8EBB-2B765C2B5AD8}"/>
              </a:ext>
            </a:extLst>
          </p:cNvPr>
          <p:cNvSpPr/>
          <p:nvPr/>
        </p:nvSpPr>
        <p:spPr>
          <a:xfrm>
            <a:off x="5410200" y="1803400"/>
            <a:ext cx="76200" cy="1244600"/>
          </a:xfrm>
          <a:prstGeom prst="rect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2729E4-BBBA-39B6-21FB-9B82AA7B9EC2}"/>
              </a:ext>
            </a:extLst>
          </p:cNvPr>
          <p:cNvSpPr txBox="1"/>
          <p:nvPr/>
        </p:nvSpPr>
        <p:spPr>
          <a:xfrm>
            <a:off x="5638800" y="1968500"/>
            <a:ext cx="2311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3771E5"/>
                </a:solidFill>
                <a:latin typeface="Arial" panose="020B0604020202020204" pitchFamily="34" charset="0"/>
              </a:rPr>
              <a:t>6 / 6</a:t>
            </a:r>
            <a:endParaRPr lang="zh-CN" altLang="en-US" sz="2600" b="1">
              <a:solidFill>
                <a:srgbClr val="3771E5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E33EDD-EB81-815F-EC51-8D37A4F295FA}"/>
              </a:ext>
            </a:extLst>
          </p:cNvPr>
          <p:cNvSpPr txBox="1"/>
          <p:nvPr/>
        </p:nvSpPr>
        <p:spPr>
          <a:xfrm>
            <a:off x="5638800" y="2514600"/>
            <a:ext cx="231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相对基线的平均 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均为正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CBEDC69-B3F8-1D65-8DE4-CECAFB68559A}"/>
              </a:ext>
            </a:extLst>
          </p:cNvPr>
          <p:cNvSpPr/>
          <p:nvPr/>
        </p:nvSpPr>
        <p:spPr>
          <a:xfrm>
            <a:off x="8255000" y="1803400"/>
            <a:ext cx="26670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endParaRPr lang="zh-CN" altLang="en-US" sz="12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29E12B5-C4E5-A62D-CC7F-18FAC04F7161}"/>
              </a:ext>
            </a:extLst>
          </p:cNvPr>
          <p:cNvSpPr/>
          <p:nvPr/>
        </p:nvSpPr>
        <p:spPr>
          <a:xfrm>
            <a:off x="8255000" y="1803400"/>
            <a:ext cx="76200" cy="1244600"/>
          </a:xfrm>
          <a:prstGeom prst="rect">
            <a:avLst/>
          </a:prstGeom>
          <a:solidFill>
            <a:srgbClr val="EE8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9A4055-9FB7-94BA-2C62-51074EEC7E73}"/>
              </a:ext>
            </a:extLst>
          </p:cNvPr>
          <p:cNvSpPr txBox="1"/>
          <p:nvPr/>
        </p:nvSpPr>
        <p:spPr>
          <a:xfrm>
            <a:off x="8483600" y="1968500"/>
            <a:ext cx="2311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600" b="1">
                <a:solidFill>
                  <a:srgbClr val="EE8F34"/>
                </a:solidFill>
                <a:latin typeface="Arial" panose="020B0604020202020204" pitchFamily="34" charset="0"/>
              </a:rPr>
              <a:t>72.2%</a:t>
            </a:r>
            <a:endParaRPr lang="zh-CN" altLang="en-US" sz="2600" b="1">
              <a:solidFill>
                <a:srgbClr val="EE8F34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F2B8AC-C6D1-12C2-F5E0-E6001949434E}"/>
              </a:ext>
            </a:extLst>
          </p:cNvPr>
          <p:cNvSpPr txBox="1"/>
          <p:nvPr/>
        </p:nvSpPr>
        <p:spPr>
          <a:xfrm>
            <a:off x="8483600" y="2514600"/>
            <a:ext cx="2311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次配对中的不败比例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B0C3D7A-58AF-5A6E-54A4-78CFBD0A62D1}"/>
              </a:ext>
            </a:extLst>
          </p:cNvPr>
          <p:cNvSpPr/>
          <p:nvPr/>
        </p:nvSpPr>
        <p:spPr>
          <a:xfrm>
            <a:off x="736600" y="3505200"/>
            <a:ext cx="10185400" cy="4572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平均提升（</a:t>
            </a:r>
            <a:r>
              <a:rPr lang="en-US" altLang="zh-CN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 </a:t>
            </a:r>
            <a:r>
              <a:rPr lang="zh-CN" altLang="en-US" sz="1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候选真实编辑）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55CD184-D804-F1D3-6DB5-27B62F60D80C}"/>
              </a:ext>
            </a:extLst>
          </p:cNvPr>
          <p:cNvSpPr/>
          <p:nvPr/>
        </p:nvSpPr>
        <p:spPr>
          <a:xfrm>
            <a:off x="736600" y="4089400"/>
            <a:ext cx="3175000" cy="9398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22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+3.07  Best@3</a:t>
            </a:r>
            <a:endParaRPr lang="zh-CN" altLang="en-US" sz="22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C7AE8AF-471F-FA60-FFA6-3AC20C9FF7C7}"/>
              </a:ext>
            </a:extLst>
          </p:cNvPr>
          <p:cNvSpPr/>
          <p:nvPr/>
        </p:nvSpPr>
        <p:spPr>
          <a:xfrm>
            <a:off x="4064000" y="4089400"/>
            <a:ext cx="3175000" cy="9398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22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+1.97  Mean@3</a:t>
            </a:r>
            <a:endParaRPr lang="zh-CN" altLang="en-US" sz="22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54A63C0-74DE-CFFE-775E-0BD5D93ADAF2}"/>
              </a:ext>
            </a:extLst>
          </p:cNvPr>
          <p:cNvSpPr/>
          <p:nvPr/>
        </p:nvSpPr>
        <p:spPr>
          <a:xfrm>
            <a:off x="7391400" y="4089400"/>
            <a:ext cx="3530600" cy="9398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 </a:t>
            </a:r>
            <a:r>
              <a:rPr lang="zh-CN" altLang="en-US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 </a:t>
            </a:r>
            <a:r>
              <a:rPr lang="en-US" altLang="zh-CN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9 </a:t>
            </a:r>
            <a:r>
              <a:rPr lang="zh-CN" altLang="en-US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 </a:t>
            </a:r>
            <a:r>
              <a:rPr lang="en-US" altLang="zh-CN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15 </a:t>
            </a:r>
            <a:r>
              <a:rPr lang="zh-CN" altLang="en-US" sz="20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B61D952-70E5-36F8-F08C-4769F4AE7039}"/>
              </a:ext>
            </a:extLst>
          </p:cNvPr>
          <p:cNvSpPr txBox="1"/>
          <p:nvPr/>
        </p:nvSpPr>
        <p:spPr>
          <a:xfrm>
            <a:off x="736600" y="5448300"/>
            <a:ext cx="1018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说明：这是描述性优势；当前严格配对样本量有限，</a:t>
            </a:r>
            <a:r>
              <a:rPr lang="en-US" altLang="zh-CN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Wilcoxon </a:t>
            </a:r>
            <a:r>
              <a:rPr lang="zh-CN" altLang="en-US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尚未达到 </a:t>
            </a:r>
            <a:r>
              <a:rPr lang="en-US" altLang="zh-CN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p&lt;0.05</a:t>
            </a:r>
            <a:r>
              <a:rPr lang="zh-CN" altLang="en-US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1378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C43619-CC4F-FE15-BD49-93684ACA2E1C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FF0190-5FDE-4024-FD52-56757614DB2F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3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22C876-BC30-178D-B4C9-4A25A3F23085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END-TO-END TASK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0CB104-0DF7-D04C-D87E-C03ABED12B07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完整任务链：定位决定“改哪里”，但不等于编辑完成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10B8BF-A94F-865F-6148-DFFE531B5B23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83C1103-63BB-77D7-C94D-F06F1359B5BD}"/>
              </a:ext>
            </a:extLst>
          </p:cNvPr>
          <p:cNvSpPr/>
          <p:nvPr/>
        </p:nvSpPr>
        <p:spPr>
          <a:xfrm>
            <a:off x="571500" y="2222500"/>
            <a:ext cx="533400" cy="533400"/>
          </a:xfrm>
          <a:prstGeom prst="ellipse">
            <a:avLst/>
          </a:prstGeom>
          <a:solidFill>
            <a:srgbClr val="765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C0B3385-C579-91E1-65A4-8E5F1958ECF3}"/>
              </a:ext>
            </a:extLst>
          </p:cNvPr>
          <p:cNvSpPr/>
          <p:nvPr/>
        </p:nvSpPr>
        <p:spPr>
          <a:xfrm>
            <a:off x="3429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候选层定位
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种方法输出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4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C70784-83FA-9640-2994-40163E9019C1}"/>
              </a:ext>
            </a:extLst>
          </p:cNvPr>
          <p:cNvCxnSpPr/>
          <p:nvPr/>
        </p:nvCxnSpPr>
        <p:spPr>
          <a:xfrm>
            <a:off x="1866900" y="3556000"/>
            <a:ext cx="3937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9719935-8F5D-B854-F3E7-F96A6A6F438F}"/>
              </a:ext>
            </a:extLst>
          </p:cNvPr>
          <p:cNvSpPr/>
          <p:nvPr/>
        </p:nvSpPr>
        <p:spPr>
          <a:xfrm>
            <a:off x="2451100" y="2222500"/>
            <a:ext cx="533400" cy="533400"/>
          </a:xfrm>
          <a:prstGeom prst="ellipse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D6DA1AF-C5A4-C0D7-7F1E-8133CC7B5DB2}"/>
              </a:ext>
            </a:extLst>
          </p:cNvPr>
          <p:cNvSpPr/>
          <p:nvPr/>
        </p:nvSpPr>
        <p:spPr>
          <a:xfrm>
            <a:off x="22225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真实扫层验证
统一训练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9BD9CF8-9E8D-EC0B-6BAD-3C1314911F10}"/>
              </a:ext>
            </a:extLst>
          </p:cNvPr>
          <p:cNvCxnSpPr/>
          <p:nvPr/>
        </p:nvCxnSpPr>
        <p:spPr>
          <a:xfrm>
            <a:off x="3746500" y="3556000"/>
            <a:ext cx="3937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6F7960A-E70D-0DE9-5580-AB88B602178C}"/>
              </a:ext>
            </a:extLst>
          </p:cNvPr>
          <p:cNvSpPr/>
          <p:nvPr/>
        </p:nvSpPr>
        <p:spPr>
          <a:xfrm>
            <a:off x="4330700" y="2222500"/>
            <a:ext cx="533400" cy="533400"/>
          </a:xfrm>
          <a:prstGeom prst="ellipse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1FE3D9B-BCAB-710D-9D07-7ACDA52D9E83}"/>
              </a:ext>
            </a:extLst>
          </p:cNvPr>
          <p:cNvSpPr/>
          <p:nvPr/>
        </p:nvSpPr>
        <p:spPr>
          <a:xfrm>
            <a:off x="41021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知识子图构建
实体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9EE1EF1-5331-CBF7-02E4-562556E2D888}"/>
              </a:ext>
            </a:extLst>
          </p:cNvPr>
          <p:cNvCxnSpPr/>
          <p:nvPr/>
        </p:nvCxnSpPr>
        <p:spPr>
          <a:xfrm>
            <a:off x="5626100" y="3556000"/>
            <a:ext cx="3937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8821052D-C68F-A3F4-033D-65BEFA964DF8}"/>
              </a:ext>
            </a:extLst>
          </p:cNvPr>
          <p:cNvSpPr/>
          <p:nvPr/>
        </p:nvSpPr>
        <p:spPr>
          <a:xfrm>
            <a:off x="6210300" y="2222500"/>
            <a:ext cx="533400" cy="533400"/>
          </a:xfrm>
          <a:prstGeom prst="ellipse">
            <a:avLst/>
          </a:prstGeom>
          <a:solidFill>
            <a:srgbClr val="36A0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985421B-2E31-AC97-4896-8F5AAB74298F}"/>
              </a:ext>
            </a:extLst>
          </p:cNvPr>
          <p:cNvSpPr/>
          <p:nvPr/>
        </p:nvSpPr>
        <p:spPr>
          <a:xfrm>
            <a:off x="59817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双路径知识注入
参数记忆 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外部检索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0DBC40F-BB2F-2E96-1200-3FFAD4C6EAB7}"/>
              </a:ext>
            </a:extLst>
          </p:cNvPr>
          <p:cNvCxnSpPr/>
          <p:nvPr/>
        </p:nvCxnSpPr>
        <p:spPr>
          <a:xfrm>
            <a:off x="7505700" y="3556000"/>
            <a:ext cx="3937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F7BC4E9B-0FB0-84B5-9D27-169D194872D0}"/>
              </a:ext>
            </a:extLst>
          </p:cNvPr>
          <p:cNvSpPr/>
          <p:nvPr/>
        </p:nvSpPr>
        <p:spPr>
          <a:xfrm>
            <a:off x="8089900" y="2222500"/>
            <a:ext cx="533400" cy="533400"/>
          </a:xfrm>
          <a:prstGeom prst="ellipse">
            <a:avLst/>
          </a:prstGeom>
          <a:solidFill>
            <a:srgbClr val="EE8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D47FC4C-763C-CF91-8A3D-6A942035FB68}"/>
              </a:ext>
            </a:extLst>
          </p:cNvPr>
          <p:cNvSpPr/>
          <p:nvPr/>
        </p:nvSpPr>
        <p:spPr>
          <a:xfrm>
            <a:off x="78613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多维编辑评测
可靠性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泛化</a:t>
            </a:r>
            <a:r>
              <a:rPr lang="en-US" altLang="zh-CN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局部性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BE07E2-8CBF-3957-E47B-A8665A8B051A}"/>
              </a:ext>
            </a:extLst>
          </p:cNvPr>
          <p:cNvCxnSpPr/>
          <p:nvPr/>
        </p:nvCxnSpPr>
        <p:spPr>
          <a:xfrm>
            <a:off x="9385300" y="3556000"/>
            <a:ext cx="3937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F5D5A316-CC02-5B27-03BA-8610FF747E47}"/>
              </a:ext>
            </a:extLst>
          </p:cNvPr>
          <p:cNvSpPr/>
          <p:nvPr/>
        </p:nvSpPr>
        <p:spPr>
          <a:xfrm>
            <a:off x="9969500" y="2222500"/>
            <a:ext cx="533400" cy="533400"/>
          </a:xfrm>
          <a:prstGeom prst="ellipse">
            <a:avLst/>
          </a:prstGeom>
          <a:solidFill>
            <a:srgbClr val="D749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6F5F60F-6B1E-2F6B-09D7-AA0ACFA6CB90}"/>
              </a:ext>
            </a:extLst>
          </p:cNvPr>
          <p:cNvSpPr/>
          <p:nvPr/>
        </p:nvSpPr>
        <p:spPr>
          <a:xfrm>
            <a:off x="9740900" y="2921000"/>
            <a:ext cx="14986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交互可视分析
解释定位与编辑差异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F3BD63-B60F-B9CE-5FDD-90919798DF0D}"/>
              </a:ext>
            </a:extLst>
          </p:cNvPr>
          <p:cNvSpPr/>
          <p:nvPr/>
        </p:nvSpPr>
        <p:spPr>
          <a:xfrm>
            <a:off x="482600" y="4483100"/>
            <a:ext cx="1778000" cy="482600"/>
          </a:xfrm>
          <a:prstGeom prst="roundRect">
            <a:avLst/>
          </a:prstGeom>
          <a:solidFill>
            <a:srgbClr val="7652D2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本次重点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3170528-6BE1-5ECE-DBCA-49D990D16161}"/>
              </a:ext>
            </a:extLst>
          </p:cNvPr>
          <p:cNvSpPr txBox="1"/>
          <p:nvPr/>
        </p:nvSpPr>
        <p:spPr>
          <a:xfrm>
            <a:off x="2463800" y="4508500"/>
            <a:ext cx="8407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先证明候选层预测能缩小搜索空间并保留高编辑性能，再把定位结果接入后续知识增强编辑系统。</a:t>
            </a:r>
          </a:p>
        </p:txBody>
      </p:sp>
    </p:spTree>
    <p:extLst>
      <p:ext uri="{BB962C8B-B14F-4D97-AF65-F5344CB8AC3E}">
        <p14:creationId xmlns:p14="http://schemas.microsoft.com/office/powerpoint/2010/main" val="201140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48A9B9-21FF-FB10-1AEF-2C2F413F3252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00AEF6-B07B-B27F-FC2C-6D19786AF648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4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52D10A-81A0-A5AC-3485-050A5566C1C9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VALIDATION PROTOCOL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0456D6-B203-33BF-79CA-E4914E566673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公平比较协议：不同分数统一落到同一真实编辑实验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8AFF90-3754-93EE-3200-9BE055C6B35A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4A9B2BE-E4F4-2142-EF27-67B43A6EA073}"/>
              </a:ext>
            </a:extLst>
          </p:cNvPr>
          <p:cNvSpPr/>
          <p:nvPr/>
        </p:nvSpPr>
        <p:spPr>
          <a:xfrm>
            <a:off x="1371600" y="1968500"/>
            <a:ext cx="508000" cy="508000"/>
          </a:xfrm>
          <a:prstGeom prst="ellipse">
            <a:avLst/>
          </a:prstGeom>
          <a:solidFill>
            <a:srgbClr val="765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494348-7CA3-4FE1-6585-C1DB412862A7}"/>
              </a:ext>
            </a:extLst>
          </p:cNvPr>
          <p:cNvSpPr/>
          <p:nvPr/>
        </p:nvSpPr>
        <p:spPr>
          <a:xfrm>
            <a:off x="736600" y="2730500"/>
            <a:ext cx="1714500" cy="1460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定位分数
每种方法各自计算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9C91501-368C-C4E0-B0BE-07CB0FC89772}"/>
              </a:ext>
            </a:extLst>
          </p:cNvPr>
          <p:cNvCxnSpPr/>
          <p:nvPr/>
        </p:nvCxnSpPr>
        <p:spPr>
          <a:xfrm>
            <a:off x="2463800" y="3454400"/>
            <a:ext cx="4572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044618F8-B168-BCE3-AC43-32F057DBC5EB}"/>
              </a:ext>
            </a:extLst>
          </p:cNvPr>
          <p:cNvSpPr/>
          <p:nvPr/>
        </p:nvSpPr>
        <p:spPr>
          <a:xfrm>
            <a:off x="3657600" y="1968500"/>
            <a:ext cx="508000" cy="508000"/>
          </a:xfrm>
          <a:prstGeom prst="ellipse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A78E1F9-AE97-E0F1-07C0-80B8491AA78A}"/>
              </a:ext>
            </a:extLst>
          </p:cNvPr>
          <p:cNvSpPr/>
          <p:nvPr/>
        </p:nvSpPr>
        <p:spPr>
          <a:xfrm>
            <a:off x="3022600" y="2730500"/>
            <a:ext cx="1714500" cy="1460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 / Top-5
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不比较原始分数尺度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9DD6B57-953F-5651-A476-26AA1E4B0890}"/>
              </a:ext>
            </a:extLst>
          </p:cNvPr>
          <p:cNvCxnSpPr/>
          <p:nvPr/>
        </p:nvCxnSpPr>
        <p:spPr>
          <a:xfrm>
            <a:off x="4749800" y="3454400"/>
            <a:ext cx="4572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72F68744-1F94-43ED-F8AF-FC15E08B999B}"/>
              </a:ext>
            </a:extLst>
          </p:cNvPr>
          <p:cNvSpPr/>
          <p:nvPr/>
        </p:nvSpPr>
        <p:spPr>
          <a:xfrm>
            <a:off x="5943600" y="1968500"/>
            <a:ext cx="508000" cy="508000"/>
          </a:xfrm>
          <a:prstGeom prst="ellipse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6273189-3847-6EAC-CCC1-0EF6CE9035CE}"/>
              </a:ext>
            </a:extLst>
          </p:cNvPr>
          <p:cNvSpPr/>
          <p:nvPr/>
        </p:nvSpPr>
        <p:spPr>
          <a:xfrm>
            <a:off x="5308600" y="2730500"/>
            <a:ext cx="1714500" cy="1460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同构编辑器
相同层容量与训练配置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5C50CEB-E3CD-D986-E27C-BE609A20BEE9}"/>
              </a:ext>
            </a:extLst>
          </p:cNvPr>
          <p:cNvCxnSpPr/>
          <p:nvPr/>
        </p:nvCxnSpPr>
        <p:spPr>
          <a:xfrm>
            <a:off x="7035800" y="3454400"/>
            <a:ext cx="4572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0086A756-BD16-739A-1ECA-B2C520897DDC}"/>
              </a:ext>
            </a:extLst>
          </p:cNvPr>
          <p:cNvSpPr/>
          <p:nvPr/>
        </p:nvSpPr>
        <p:spPr>
          <a:xfrm>
            <a:off x="8229600" y="1968500"/>
            <a:ext cx="508000" cy="508000"/>
          </a:xfrm>
          <a:prstGeom prst="ellipse">
            <a:avLst/>
          </a:prstGeom>
          <a:solidFill>
            <a:srgbClr val="36A0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AF89AB4-DC37-1C88-D8CD-16257D324027}"/>
              </a:ext>
            </a:extLst>
          </p:cNvPr>
          <p:cNvSpPr/>
          <p:nvPr/>
        </p:nvSpPr>
        <p:spPr>
          <a:xfrm>
            <a:off x="7594600" y="2730500"/>
            <a:ext cx="1714500" cy="1460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test/eval
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禁止用训练集评测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4015028-A88A-868F-8B76-F4D7AF988204}"/>
              </a:ext>
            </a:extLst>
          </p:cNvPr>
          <p:cNvCxnSpPr/>
          <p:nvPr/>
        </p:nvCxnSpPr>
        <p:spPr>
          <a:xfrm>
            <a:off x="9321800" y="3454400"/>
            <a:ext cx="4572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A71FDECC-B499-E89C-A9FF-1BD9E2C7D8E3}"/>
              </a:ext>
            </a:extLst>
          </p:cNvPr>
          <p:cNvSpPr/>
          <p:nvPr/>
        </p:nvSpPr>
        <p:spPr>
          <a:xfrm>
            <a:off x="10515600" y="1968500"/>
            <a:ext cx="508000" cy="508000"/>
          </a:xfrm>
          <a:prstGeom prst="ellipse">
            <a:avLst/>
          </a:prstGeom>
          <a:solidFill>
            <a:srgbClr val="EE8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221BCC7-7C4D-8878-9F12-2E23B4BAD6F2}"/>
              </a:ext>
            </a:extLst>
          </p:cNvPr>
          <p:cNvSpPr/>
          <p:nvPr/>
        </p:nvSpPr>
        <p:spPr>
          <a:xfrm>
            <a:off x="9880600" y="2730500"/>
            <a:ext cx="1714500" cy="1460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多指标比较
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 / Mean / Regret</a:t>
            </a:r>
            <a:endParaRPr lang="zh-CN" altLang="en-US" sz="14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7DD5DD-ED5D-2B66-E3FD-8F2214B1256D}"/>
              </a:ext>
            </a:extLst>
          </p:cNvPr>
          <p:cNvSpPr/>
          <p:nvPr/>
        </p:nvSpPr>
        <p:spPr>
          <a:xfrm>
            <a:off x="736600" y="4826000"/>
            <a:ext cx="10858500" cy="6858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完成判定：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selected_checkpoint.tsv + eval_full.done 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完整正式评测结果，缺一不可。</a:t>
            </a:r>
          </a:p>
        </p:txBody>
      </p:sp>
    </p:spTree>
    <p:extLst>
      <p:ext uri="{BB962C8B-B14F-4D97-AF65-F5344CB8AC3E}">
        <p14:creationId xmlns:p14="http://schemas.microsoft.com/office/powerpoint/2010/main" val="369686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D39D9EA-D3C5-B844-2D89-C15B433EB39A}"/>
              </a:ext>
            </a:extLst>
          </p:cNvPr>
          <p:cNvSpPr txBox="1"/>
          <p:nvPr/>
        </p:nvSpPr>
        <p:spPr>
          <a:xfrm>
            <a:off x="889000" y="1333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7E1DF6-C2A1-088D-273A-67551D5193A5}"/>
              </a:ext>
            </a:extLst>
          </p:cNvPr>
          <p:cNvSpPr txBox="1"/>
          <p:nvPr/>
        </p:nvSpPr>
        <p:spPr>
          <a:xfrm>
            <a:off x="889000" y="1968500"/>
            <a:ext cx="914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3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种视觉编辑层定位方法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193C65-9779-BDC5-3730-6A674FD2A360}"/>
              </a:ext>
            </a:extLst>
          </p:cNvPr>
          <p:cNvSpPr txBox="1"/>
          <p:nvPr/>
        </p:nvSpPr>
        <p:spPr>
          <a:xfrm>
            <a:off x="889000" y="3124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从启发式先验、贡献归因、梯度显著性、扰动因果，到视觉梯度方向与幅值的联合建模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B40F25-A285-8103-2B3F-55A8B384C59B}"/>
              </a:ext>
            </a:extLst>
          </p:cNvPr>
          <p:cNvSpPr/>
          <p:nvPr/>
        </p:nvSpPr>
        <p:spPr>
          <a:xfrm>
            <a:off x="889000" y="4445000"/>
            <a:ext cx="7112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统一输出：</a:t>
            </a:r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候选层 → 真实训练 → 独立评测</a:t>
            </a:r>
          </a:p>
        </p:txBody>
      </p:sp>
    </p:spTree>
    <p:extLst>
      <p:ext uri="{BB962C8B-B14F-4D97-AF65-F5344CB8AC3E}">
        <p14:creationId xmlns:p14="http://schemas.microsoft.com/office/powerpoint/2010/main" val="17378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129CCF-871A-6E2D-2940-95E1E1E3BC5A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12D887-8B33-EFB5-F4CC-44F4F2223D70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6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17D460-FE02-3764-1FA0-B493A4A980D2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 TAXONOMY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23F231-B5E0-3FC0-4CDF-9A5715D99E24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七种方法不是“同一种分数”：它们回答不同的定位问题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371B3-BC89-1F11-E624-6D9C11B0492E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B06841D-6E9D-9D37-7C39-1F086C22461D}"/>
              </a:ext>
            </a:extLst>
          </p:cNvPr>
          <p:cNvSpPr/>
          <p:nvPr/>
        </p:nvSpPr>
        <p:spPr>
          <a:xfrm>
            <a:off x="736600" y="1714500"/>
            <a:ext cx="2413000" cy="482600"/>
          </a:xfrm>
          <a:prstGeom prst="roundRect">
            <a:avLst/>
          </a:prstGeom>
          <a:solidFill>
            <a:srgbClr val="96A0AB"/>
          </a:solidFill>
          <a:ln w="15875">
            <a:solidFill>
              <a:srgbClr val="96A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7FFAA01-0A4E-C124-E704-F0F0FE04CFA3}"/>
              </a:ext>
            </a:extLst>
          </p:cNvPr>
          <p:cNvSpPr/>
          <p:nvPr/>
        </p:nvSpPr>
        <p:spPr>
          <a:xfrm>
            <a:off x="736600" y="2247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6A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深度先验
中层是否更可编辑？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A89EC32-6467-3065-60F5-9E8E7D81C655}"/>
              </a:ext>
            </a:extLst>
          </p:cNvPr>
          <p:cNvSpPr/>
          <p:nvPr/>
        </p:nvSpPr>
        <p:spPr>
          <a:xfrm>
            <a:off x="3505200" y="1714500"/>
            <a:ext cx="2413000" cy="4826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590DD74-8890-7805-0EEF-2051A645AE38}"/>
              </a:ext>
            </a:extLst>
          </p:cNvPr>
          <p:cNvSpPr/>
          <p:nvPr/>
        </p:nvSpPr>
        <p:spPr>
          <a:xfrm>
            <a:off x="3505200" y="2247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模块贡献
哪些层贡献视觉答案？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8F9B30-9589-2763-208C-61B509095CD8}"/>
              </a:ext>
            </a:extLst>
          </p:cNvPr>
          <p:cNvSpPr/>
          <p:nvPr/>
        </p:nvSpPr>
        <p:spPr>
          <a:xfrm>
            <a:off x="6273800" y="1714500"/>
            <a:ext cx="2413000" cy="482600"/>
          </a:xfrm>
          <a:prstGeom prst="roundRect">
            <a:avLst/>
          </a:prstGeom>
          <a:solidFill>
            <a:srgbClr val="168E88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EE3A05A-9ADC-C6E3-2E1F-C2A6CE7E50CD}"/>
              </a:ext>
            </a:extLst>
          </p:cNvPr>
          <p:cNvSpPr/>
          <p:nvPr/>
        </p:nvSpPr>
        <p:spPr>
          <a:xfrm>
            <a:off x="6273800" y="2247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参数梯度
哪层参数最敏感？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B8CD293-CD12-B0E7-3728-B1C449C9D881}"/>
              </a:ext>
            </a:extLst>
          </p:cNvPr>
          <p:cNvSpPr/>
          <p:nvPr/>
        </p:nvSpPr>
        <p:spPr>
          <a:xfrm>
            <a:off x="9042400" y="1714500"/>
            <a:ext cx="2413000" cy="482600"/>
          </a:xfrm>
          <a:prstGeom prst="roundRect">
            <a:avLst/>
          </a:prstGeom>
          <a:solidFill>
            <a:srgbClr val="7652D2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77A740-FE7D-D3E3-498E-ABA35A599F50}"/>
              </a:ext>
            </a:extLst>
          </p:cNvPr>
          <p:cNvSpPr/>
          <p:nvPr/>
        </p:nvSpPr>
        <p:spPr>
          <a:xfrm>
            <a:off x="9042400" y="2247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新旧梯度
哪层最支持知识替换？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DCB6B6-70E0-AB77-C081-38E0C28ABF15}"/>
              </a:ext>
            </a:extLst>
          </p:cNvPr>
          <p:cNvSpPr/>
          <p:nvPr/>
        </p:nvSpPr>
        <p:spPr>
          <a:xfrm>
            <a:off x="736600" y="3619500"/>
            <a:ext cx="2413000" cy="482600"/>
          </a:xfrm>
          <a:prstGeom prst="roundRect">
            <a:avLst/>
          </a:prstGeom>
          <a:solidFill>
            <a:srgbClr val="EE8F34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B91FB6A-CC95-B995-F4F9-BF4CDE78F85D}"/>
              </a:ext>
            </a:extLst>
          </p:cNvPr>
          <p:cNvSpPr/>
          <p:nvPr/>
        </p:nvSpPr>
        <p:spPr>
          <a:xfrm>
            <a:off x="736600" y="4152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视觉扰动
哪层最影响输出分布？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5E63A95-577B-BB80-C176-13350269C620}"/>
              </a:ext>
            </a:extLst>
          </p:cNvPr>
          <p:cNvSpPr/>
          <p:nvPr/>
        </p:nvSpPr>
        <p:spPr>
          <a:xfrm>
            <a:off x="3505200" y="3619500"/>
            <a:ext cx="2413000" cy="482600"/>
          </a:xfrm>
          <a:prstGeom prst="roundRect">
            <a:avLst/>
          </a:prstGeom>
          <a:solidFill>
            <a:srgbClr val="D74949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6A5D1B8-A362-2840-770A-25CE3ADB5ADA}"/>
              </a:ext>
            </a:extLst>
          </p:cNvPr>
          <p:cNvSpPr/>
          <p:nvPr/>
        </p:nvSpPr>
        <p:spPr>
          <a:xfrm>
            <a:off x="3505200" y="4152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因果干预
恢复哪层能挽回答案？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CD10BFB-A774-2AF6-81CD-6C787617E1BF}"/>
              </a:ext>
            </a:extLst>
          </p:cNvPr>
          <p:cNvSpPr/>
          <p:nvPr/>
        </p:nvSpPr>
        <p:spPr>
          <a:xfrm>
            <a:off x="6273800" y="3619500"/>
            <a:ext cx="2413000" cy="4826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1F8210-9050-2E12-8ECE-DD15FC556A1B}"/>
              </a:ext>
            </a:extLst>
          </p:cNvPr>
          <p:cNvSpPr/>
          <p:nvPr/>
        </p:nvSpPr>
        <p:spPr>
          <a:xfrm>
            <a:off x="6273800" y="4152900"/>
            <a:ext cx="2413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视觉梯度
哪层同时强且方向一致？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473428-C724-B57E-23CA-1F5694F11444}"/>
              </a:ext>
            </a:extLst>
          </p:cNvPr>
          <p:cNvSpPr txBox="1"/>
          <p:nvPr/>
        </p:nvSpPr>
        <p:spPr>
          <a:xfrm>
            <a:off x="736600" y="5778500"/>
            <a:ext cx="685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Perturb-KL-Pre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仅作为消融，不计入 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个正式基线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方法。</a:t>
            </a:r>
          </a:p>
        </p:txBody>
      </p:sp>
    </p:spTree>
    <p:extLst>
      <p:ext uri="{BB962C8B-B14F-4D97-AF65-F5344CB8AC3E}">
        <p14:creationId xmlns:p14="http://schemas.microsoft.com/office/powerpoint/2010/main" val="6627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6D0D05-42A5-C02C-962C-A4EA0070B1E7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26B1E6-D6BA-1E7B-6945-A70B16F5B508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7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0B3A1A-ABAB-26DF-5189-54E1C61FEA70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 01 · HEURISTIC PRIOR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40167C-AE7F-E01B-2ECB-50EA439A67B6}"/>
              </a:ext>
            </a:extLst>
          </p:cNvPr>
          <p:cNvSpPr txBox="1"/>
          <p:nvPr/>
        </p:nvSpPr>
        <p:spPr>
          <a:xfrm>
            <a:off x="736600" y="609600"/>
            <a:ext cx="10795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Middle-Prior-Direct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：以网络深度中部作为无需样本的先验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6EB0DA-3BD1-49C4-D871-F8E20F497DFC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8BA2130-F747-4EBC-AEE6-9140481FFF5E}"/>
              </a:ext>
            </a:extLst>
          </p:cNvPr>
          <p:cNvSpPr/>
          <p:nvPr/>
        </p:nvSpPr>
        <p:spPr>
          <a:xfrm>
            <a:off x="736600" y="1778000"/>
            <a:ext cx="12700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0660BF-D6C5-4683-9AC1-B707D16A3AE9}"/>
              </a:ext>
            </a:extLst>
          </p:cNvPr>
          <p:cNvSpPr/>
          <p:nvPr/>
        </p:nvSpPr>
        <p:spPr>
          <a:xfrm>
            <a:off x="736600" y="2413000"/>
            <a:ext cx="1905000" cy="78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模型总层数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36B7427-EAAA-1A03-2D0E-3C76B8A66294}"/>
              </a:ext>
            </a:extLst>
          </p:cNvPr>
          <p:cNvCxnSpPr/>
          <p:nvPr/>
        </p:nvCxnSpPr>
        <p:spPr>
          <a:xfrm>
            <a:off x="2717800" y="2806700"/>
            <a:ext cx="533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0CDFB0A-C886-38DD-B9AE-6ABD00288983}"/>
              </a:ext>
            </a:extLst>
          </p:cNvPr>
          <p:cNvSpPr/>
          <p:nvPr/>
        </p:nvSpPr>
        <p:spPr>
          <a:xfrm>
            <a:off x="3327400" y="2413000"/>
            <a:ext cx="2387600" cy="787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计算中点 </a:t>
            </a:r>
            <a:r>
              <a:rPr lang="en-US" altLang="zh-CN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m=(L−1)/2</a:t>
            </a:r>
            <a:endParaRPr lang="zh-CN" altLang="en-US" sz="15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1657AAC-2D1A-DFA1-44BB-34F728A84604}"/>
              </a:ext>
            </a:extLst>
          </p:cNvPr>
          <p:cNvCxnSpPr/>
          <p:nvPr/>
        </p:nvCxnSpPr>
        <p:spPr>
          <a:xfrm>
            <a:off x="5791200" y="2806700"/>
            <a:ext cx="533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2DF936-E873-AFF9-2516-58A56DCBD7C1}"/>
              </a:ext>
            </a:extLst>
          </p:cNvPr>
          <p:cNvSpPr/>
          <p:nvPr/>
        </p:nvSpPr>
        <p:spPr>
          <a:xfrm>
            <a:off x="6400800" y="2413000"/>
            <a:ext cx="1905000" cy="787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|l−m|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升序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6242FE1-ED26-63CD-97CF-0D9D2337F231}"/>
              </a:ext>
            </a:extLst>
          </p:cNvPr>
          <p:cNvCxnSpPr/>
          <p:nvPr/>
        </p:nvCxnSpPr>
        <p:spPr>
          <a:xfrm>
            <a:off x="8382000" y="2806700"/>
            <a:ext cx="533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64D3EC-7DE0-C05D-DC8F-2546B60E7C76}"/>
              </a:ext>
            </a:extLst>
          </p:cNvPr>
          <p:cNvSpPr/>
          <p:nvPr/>
        </p:nvSpPr>
        <p:spPr>
          <a:xfrm>
            <a:off x="8991600" y="2413000"/>
            <a:ext cx="2159000" cy="787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</a:t>
            </a:r>
            <a:r>
              <a:rPr lang="en-US" altLang="zh-CN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09BE3E0-E2F1-6F14-3A84-B3A0684B256A}"/>
              </a:ext>
            </a:extLst>
          </p:cNvPr>
          <p:cNvSpPr/>
          <p:nvPr/>
        </p:nvSpPr>
        <p:spPr>
          <a:xfrm>
            <a:off x="12446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D4F1A58-7122-4335-9D07-E72237168DBB}"/>
              </a:ext>
            </a:extLst>
          </p:cNvPr>
          <p:cNvSpPr/>
          <p:nvPr/>
        </p:nvSpPr>
        <p:spPr>
          <a:xfrm>
            <a:off x="18415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6440DC7-96E2-7BAB-1480-8FE3601D74AC}"/>
              </a:ext>
            </a:extLst>
          </p:cNvPr>
          <p:cNvSpPr/>
          <p:nvPr/>
        </p:nvSpPr>
        <p:spPr>
          <a:xfrm>
            <a:off x="24384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7DA246F-94AC-7796-310C-4DFDB6620D08}"/>
              </a:ext>
            </a:extLst>
          </p:cNvPr>
          <p:cNvSpPr/>
          <p:nvPr/>
        </p:nvSpPr>
        <p:spPr>
          <a:xfrm>
            <a:off x="30353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9D97C50-6914-5D26-57C5-4804BFEA21E0}"/>
              </a:ext>
            </a:extLst>
          </p:cNvPr>
          <p:cNvSpPr/>
          <p:nvPr/>
        </p:nvSpPr>
        <p:spPr>
          <a:xfrm>
            <a:off x="36322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8CC4F21-46D6-B985-4764-E17C2087E64E}"/>
              </a:ext>
            </a:extLst>
          </p:cNvPr>
          <p:cNvSpPr/>
          <p:nvPr/>
        </p:nvSpPr>
        <p:spPr>
          <a:xfrm>
            <a:off x="42291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663AD13-254D-F499-D57C-BAD0721DF569}"/>
              </a:ext>
            </a:extLst>
          </p:cNvPr>
          <p:cNvSpPr/>
          <p:nvPr/>
        </p:nvSpPr>
        <p:spPr>
          <a:xfrm>
            <a:off x="48260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7FFF41C-84E3-FD3C-EEB3-C6ACE7F191AE}"/>
              </a:ext>
            </a:extLst>
          </p:cNvPr>
          <p:cNvSpPr/>
          <p:nvPr/>
        </p:nvSpPr>
        <p:spPr>
          <a:xfrm>
            <a:off x="5422900" y="3975100"/>
            <a:ext cx="482600" cy="5842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A598561-8174-A122-CD6B-FEB245682E38}"/>
              </a:ext>
            </a:extLst>
          </p:cNvPr>
          <p:cNvSpPr/>
          <p:nvPr/>
        </p:nvSpPr>
        <p:spPr>
          <a:xfrm>
            <a:off x="6019800" y="3975100"/>
            <a:ext cx="482600" cy="5842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B9E156B-B762-C1A5-0485-58543587347B}"/>
              </a:ext>
            </a:extLst>
          </p:cNvPr>
          <p:cNvSpPr/>
          <p:nvPr/>
        </p:nvSpPr>
        <p:spPr>
          <a:xfrm>
            <a:off x="6616700" y="3975100"/>
            <a:ext cx="482600" cy="5842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F0A6D29-6B51-E43D-4A3C-4EE2F9F1DC30}"/>
              </a:ext>
            </a:extLst>
          </p:cNvPr>
          <p:cNvSpPr/>
          <p:nvPr/>
        </p:nvSpPr>
        <p:spPr>
          <a:xfrm>
            <a:off x="72136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252FE7A-7E8A-9927-30BA-862C7A74C1DD}"/>
              </a:ext>
            </a:extLst>
          </p:cNvPr>
          <p:cNvSpPr/>
          <p:nvPr/>
        </p:nvSpPr>
        <p:spPr>
          <a:xfrm>
            <a:off x="78105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855F6A8-ED5D-F541-8FD2-0730DE2A0518}"/>
              </a:ext>
            </a:extLst>
          </p:cNvPr>
          <p:cNvSpPr/>
          <p:nvPr/>
        </p:nvSpPr>
        <p:spPr>
          <a:xfrm>
            <a:off x="84074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2BFE58A-9EB6-6757-00E9-88995235F775}"/>
              </a:ext>
            </a:extLst>
          </p:cNvPr>
          <p:cNvSpPr/>
          <p:nvPr/>
        </p:nvSpPr>
        <p:spPr>
          <a:xfrm>
            <a:off x="90043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997382-50A6-D649-5284-3507A908FFEF}"/>
              </a:ext>
            </a:extLst>
          </p:cNvPr>
          <p:cNvSpPr/>
          <p:nvPr/>
        </p:nvSpPr>
        <p:spPr>
          <a:xfrm>
            <a:off x="96012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7D3D431-79B9-FCAC-CACD-35F4BE8E9C85}"/>
              </a:ext>
            </a:extLst>
          </p:cNvPr>
          <p:cNvSpPr/>
          <p:nvPr/>
        </p:nvSpPr>
        <p:spPr>
          <a:xfrm>
            <a:off x="10198100" y="3975100"/>
            <a:ext cx="482600" cy="584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1200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71B30A2-8B71-8810-B974-616040506C11}"/>
              </a:ext>
            </a:extLst>
          </p:cNvPr>
          <p:cNvSpPr txBox="1"/>
          <p:nvPr/>
        </p:nvSpPr>
        <p:spPr>
          <a:xfrm>
            <a:off x="736600" y="5016500"/>
            <a:ext cx="495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优点：零样本、成本最低、作为必要启发式基线。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F8A62A-F1E8-C1FA-2FBD-92392334EBB3}"/>
              </a:ext>
            </a:extLst>
          </p:cNvPr>
          <p:cNvSpPr txBox="1"/>
          <p:nvPr/>
        </p:nvSpPr>
        <p:spPr>
          <a:xfrm>
            <a:off x="5969000" y="5016500"/>
            <a:ext cx="520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局限：不读取样本与视觉信号，不能解释模型</a:t>
            </a:r>
            <a:r>
              <a:rPr lang="en-US" altLang="zh-CN" sz="1400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数据集差异。</a:t>
            </a:r>
          </a:p>
        </p:txBody>
      </p:sp>
    </p:spTree>
    <p:extLst>
      <p:ext uri="{BB962C8B-B14F-4D97-AF65-F5344CB8AC3E}">
        <p14:creationId xmlns:p14="http://schemas.microsoft.com/office/powerpoint/2010/main" val="4248788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FC56D9-56EF-24FE-2848-946BF3596B41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6DA035-CD5C-6A3A-F325-E9D2E24500DF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8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12D731-97A8-AE17-F5D6-C586769063F0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 02 · FORWARD ATTRIBUTION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CA1280-75B0-0172-E8F9-141D70E88064}"/>
              </a:ext>
            </a:extLst>
          </p:cNvPr>
          <p:cNvSpPr txBox="1"/>
          <p:nvPr/>
        </p:nvSpPr>
        <p:spPr>
          <a:xfrm>
            <a:off x="736600" y="609600"/>
            <a:ext cx="10795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VisEdit-Contrib-Pre-KeyToken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：用关键 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的前向模块贡献定位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C75D6F-CC1C-09FE-FE8A-49012CE87488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5D45E76-BA68-54D4-25B3-5DFAEFC44779}"/>
              </a:ext>
            </a:extLst>
          </p:cNvPr>
          <p:cNvSpPr/>
          <p:nvPr/>
        </p:nvSpPr>
        <p:spPr>
          <a:xfrm>
            <a:off x="736600" y="1955800"/>
            <a:ext cx="1778000" cy="7366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1CEF691-506E-68C1-8976-4450BB78169D}"/>
              </a:ext>
            </a:extLst>
          </p:cNvPr>
          <p:cNvCxnSpPr/>
          <p:nvPr/>
        </p:nvCxnSpPr>
        <p:spPr>
          <a:xfrm>
            <a:off x="2590800" y="23241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9DA62BF-5FCE-0B75-5F34-D1A539EEF81D}"/>
              </a:ext>
            </a:extLst>
          </p:cNvPr>
          <p:cNvSpPr/>
          <p:nvPr/>
        </p:nvSpPr>
        <p:spPr>
          <a:xfrm>
            <a:off x="3111500" y="1955800"/>
            <a:ext cx="1778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VLM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前向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4161E73-9C24-6F23-45B3-332E6279F7EC}"/>
              </a:ext>
            </a:extLst>
          </p:cNvPr>
          <p:cNvCxnSpPr/>
          <p:nvPr/>
        </p:nvCxnSpPr>
        <p:spPr>
          <a:xfrm>
            <a:off x="4965700" y="23241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F8821BA-8036-973C-C074-82A297D7BCEE}"/>
              </a:ext>
            </a:extLst>
          </p:cNvPr>
          <p:cNvSpPr/>
          <p:nvPr/>
        </p:nvSpPr>
        <p:spPr>
          <a:xfrm>
            <a:off x="5486400" y="1955800"/>
            <a:ext cx="2159000" cy="7366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提取关键答案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5BD2D4C-0D08-C937-ED8D-41992C0B1430}"/>
              </a:ext>
            </a:extLst>
          </p:cNvPr>
          <p:cNvCxnSpPr/>
          <p:nvPr/>
        </p:nvCxnSpPr>
        <p:spPr>
          <a:xfrm>
            <a:off x="7721600" y="23241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9DA5AED-8816-346D-6297-07A943BB06B8}"/>
              </a:ext>
            </a:extLst>
          </p:cNvPr>
          <p:cNvSpPr/>
          <p:nvPr/>
        </p:nvSpPr>
        <p:spPr>
          <a:xfrm>
            <a:off x="8242300" y="1955800"/>
            <a:ext cx="1778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逐层模块贡献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A7F1010-62F4-5D05-391F-A896FC06053A}"/>
              </a:ext>
            </a:extLst>
          </p:cNvPr>
          <p:cNvCxnSpPr/>
          <p:nvPr/>
        </p:nvCxnSpPr>
        <p:spPr>
          <a:xfrm>
            <a:off x="10096500" y="2324100"/>
            <a:ext cx="3302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4AA46DB-9431-463A-7BBA-81BFC9C19A8F}"/>
              </a:ext>
            </a:extLst>
          </p:cNvPr>
          <p:cNvSpPr/>
          <p:nvPr/>
        </p:nvSpPr>
        <p:spPr>
          <a:xfrm>
            <a:off x="10502900" y="1955800"/>
            <a:ext cx="1016000" cy="7366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5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1E4917-785E-0B9F-859B-A821C443A570}"/>
              </a:ext>
            </a:extLst>
          </p:cNvPr>
          <p:cNvSpPr txBox="1"/>
          <p:nvPr/>
        </p:nvSpPr>
        <p:spPr>
          <a:xfrm>
            <a:off x="736600" y="34290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层贡献曲线（示意）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6824390-0413-6F5A-028B-D33186892EDE}"/>
              </a:ext>
            </a:extLst>
          </p:cNvPr>
          <p:cNvSpPr/>
          <p:nvPr/>
        </p:nvSpPr>
        <p:spPr>
          <a:xfrm>
            <a:off x="1079500" y="4826000"/>
            <a:ext cx="355600" cy="2032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A86CA3-BB03-7CF4-31FD-C718483DFFD3}"/>
              </a:ext>
            </a:extLst>
          </p:cNvPr>
          <p:cNvSpPr txBox="1"/>
          <p:nvPr/>
        </p:nvSpPr>
        <p:spPr>
          <a:xfrm>
            <a:off x="10541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0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184A0A-E39D-D963-8D76-C125C9149602}"/>
              </a:ext>
            </a:extLst>
          </p:cNvPr>
          <p:cNvSpPr/>
          <p:nvPr/>
        </p:nvSpPr>
        <p:spPr>
          <a:xfrm>
            <a:off x="1663700" y="4775200"/>
            <a:ext cx="355600" cy="2540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17D838-61F6-5A0C-4AB5-9139752DF03D}"/>
              </a:ext>
            </a:extLst>
          </p:cNvPr>
          <p:cNvSpPr txBox="1"/>
          <p:nvPr/>
        </p:nvSpPr>
        <p:spPr>
          <a:xfrm>
            <a:off x="16383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62D757-2AED-DFD8-5464-6AB04FF81B55}"/>
              </a:ext>
            </a:extLst>
          </p:cNvPr>
          <p:cNvSpPr/>
          <p:nvPr/>
        </p:nvSpPr>
        <p:spPr>
          <a:xfrm>
            <a:off x="2247900" y="4724400"/>
            <a:ext cx="355600" cy="3048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11510E-9A99-9A77-3FAB-0EDFA423C2F7}"/>
              </a:ext>
            </a:extLst>
          </p:cNvPr>
          <p:cNvSpPr txBox="1"/>
          <p:nvPr/>
        </p:nvSpPr>
        <p:spPr>
          <a:xfrm>
            <a:off x="22225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36699D-193D-E1B6-D6A6-D5BF4EAAF717}"/>
              </a:ext>
            </a:extLst>
          </p:cNvPr>
          <p:cNvSpPr/>
          <p:nvPr/>
        </p:nvSpPr>
        <p:spPr>
          <a:xfrm>
            <a:off x="2832100" y="4622800"/>
            <a:ext cx="355600" cy="4064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C18539-70C3-8315-F95C-1DA37392FF8D}"/>
              </a:ext>
            </a:extLst>
          </p:cNvPr>
          <p:cNvSpPr txBox="1"/>
          <p:nvPr/>
        </p:nvSpPr>
        <p:spPr>
          <a:xfrm>
            <a:off x="28067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3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639B45-82EE-64DE-455D-7B0B26B74982}"/>
              </a:ext>
            </a:extLst>
          </p:cNvPr>
          <p:cNvSpPr/>
          <p:nvPr/>
        </p:nvSpPr>
        <p:spPr>
          <a:xfrm>
            <a:off x="3416300" y="4546600"/>
            <a:ext cx="355600" cy="4826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D04B3F-B5F5-2DD6-403F-F3A107FC5D7C}"/>
              </a:ext>
            </a:extLst>
          </p:cNvPr>
          <p:cNvSpPr txBox="1"/>
          <p:nvPr/>
        </p:nvSpPr>
        <p:spPr>
          <a:xfrm>
            <a:off x="33909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4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E7E68F-E139-1D2A-A00B-102F1B4123D9}"/>
              </a:ext>
            </a:extLst>
          </p:cNvPr>
          <p:cNvSpPr/>
          <p:nvPr/>
        </p:nvSpPr>
        <p:spPr>
          <a:xfrm>
            <a:off x="4000500" y="4457700"/>
            <a:ext cx="355600" cy="5715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8E2608-E2E8-04F7-591D-E4693150C7DD}"/>
              </a:ext>
            </a:extLst>
          </p:cNvPr>
          <p:cNvSpPr txBox="1"/>
          <p:nvPr/>
        </p:nvSpPr>
        <p:spPr>
          <a:xfrm>
            <a:off x="39751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5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FD35CA-2E82-F66C-F3E8-91C896FD89F6}"/>
              </a:ext>
            </a:extLst>
          </p:cNvPr>
          <p:cNvSpPr/>
          <p:nvPr/>
        </p:nvSpPr>
        <p:spPr>
          <a:xfrm>
            <a:off x="4584700" y="4305300"/>
            <a:ext cx="355600" cy="7239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C978571-F1C8-DED7-E2F7-02E0972FF8A1}"/>
              </a:ext>
            </a:extLst>
          </p:cNvPr>
          <p:cNvSpPr txBox="1"/>
          <p:nvPr/>
        </p:nvSpPr>
        <p:spPr>
          <a:xfrm>
            <a:off x="45593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6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8077EB-3FE1-A6D3-1998-9DB393561127}"/>
              </a:ext>
            </a:extLst>
          </p:cNvPr>
          <p:cNvSpPr/>
          <p:nvPr/>
        </p:nvSpPr>
        <p:spPr>
          <a:xfrm>
            <a:off x="5168900" y="4229100"/>
            <a:ext cx="355600" cy="8001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AD4D42-0ABC-21D2-1AE6-3216978B68A4}"/>
              </a:ext>
            </a:extLst>
          </p:cNvPr>
          <p:cNvSpPr txBox="1"/>
          <p:nvPr/>
        </p:nvSpPr>
        <p:spPr>
          <a:xfrm>
            <a:off x="51435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7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3F5C3D-F229-654F-2320-8AA23F08F5EC}"/>
              </a:ext>
            </a:extLst>
          </p:cNvPr>
          <p:cNvSpPr/>
          <p:nvPr/>
        </p:nvSpPr>
        <p:spPr>
          <a:xfrm>
            <a:off x="5753100" y="4127500"/>
            <a:ext cx="355600" cy="901700"/>
          </a:xfrm>
          <a:prstGeom prst="rect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FDDDF3-1AB6-F84F-D0AA-B9488920F989}"/>
              </a:ext>
            </a:extLst>
          </p:cNvPr>
          <p:cNvSpPr txBox="1"/>
          <p:nvPr/>
        </p:nvSpPr>
        <p:spPr>
          <a:xfrm>
            <a:off x="57277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8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87E732-7E10-624C-F8C3-FF14C63C9DE3}"/>
              </a:ext>
            </a:extLst>
          </p:cNvPr>
          <p:cNvSpPr/>
          <p:nvPr/>
        </p:nvSpPr>
        <p:spPr>
          <a:xfrm>
            <a:off x="6337300" y="4038600"/>
            <a:ext cx="355600" cy="990600"/>
          </a:xfrm>
          <a:prstGeom prst="rect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4172A3F-02BA-EA98-FB0B-D40B45FBFEE9}"/>
              </a:ext>
            </a:extLst>
          </p:cNvPr>
          <p:cNvSpPr txBox="1"/>
          <p:nvPr/>
        </p:nvSpPr>
        <p:spPr>
          <a:xfrm>
            <a:off x="63119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9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FCB46A7-C378-19EF-A72D-DDDB59598D3A}"/>
              </a:ext>
            </a:extLst>
          </p:cNvPr>
          <p:cNvSpPr/>
          <p:nvPr/>
        </p:nvSpPr>
        <p:spPr>
          <a:xfrm>
            <a:off x="6921500" y="3949700"/>
            <a:ext cx="355600" cy="1079500"/>
          </a:xfrm>
          <a:prstGeom prst="rect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CCFFAA-4707-0897-D555-ABD4612168AB}"/>
              </a:ext>
            </a:extLst>
          </p:cNvPr>
          <p:cNvSpPr txBox="1"/>
          <p:nvPr/>
        </p:nvSpPr>
        <p:spPr>
          <a:xfrm>
            <a:off x="68961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10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F0FA670-7824-3186-8721-45C53AB2E533}"/>
              </a:ext>
            </a:extLst>
          </p:cNvPr>
          <p:cNvSpPr/>
          <p:nvPr/>
        </p:nvSpPr>
        <p:spPr>
          <a:xfrm>
            <a:off x="7505700" y="4114800"/>
            <a:ext cx="355600" cy="9144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F973A5F-F247-2C50-8592-044E58B1A14D}"/>
              </a:ext>
            </a:extLst>
          </p:cNvPr>
          <p:cNvSpPr txBox="1"/>
          <p:nvPr/>
        </p:nvSpPr>
        <p:spPr>
          <a:xfrm>
            <a:off x="74803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11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8C6FF13-117E-8B2F-B5C9-C3F0C79E7F65}"/>
              </a:ext>
            </a:extLst>
          </p:cNvPr>
          <p:cNvSpPr/>
          <p:nvPr/>
        </p:nvSpPr>
        <p:spPr>
          <a:xfrm>
            <a:off x="8089900" y="4254500"/>
            <a:ext cx="355600" cy="7747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66E958-3DEB-DEA2-78F5-9C1EEB310F3A}"/>
              </a:ext>
            </a:extLst>
          </p:cNvPr>
          <p:cNvSpPr txBox="1"/>
          <p:nvPr/>
        </p:nvSpPr>
        <p:spPr>
          <a:xfrm>
            <a:off x="80645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12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202A07E-DCF0-BC2E-02CE-E767FDB4AD64}"/>
              </a:ext>
            </a:extLst>
          </p:cNvPr>
          <p:cNvSpPr/>
          <p:nvPr/>
        </p:nvSpPr>
        <p:spPr>
          <a:xfrm>
            <a:off x="8674100" y="4406900"/>
            <a:ext cx="355600" cy="6223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4129A44-16B4-3993-5A10-167AB2C259AD}"/>
              </a:ext>
            </a:extLst>
          </p:cNvPr>
          <p:cNvSpPr txBox="1"/>
          <p:nvPr/>
        </p:nvSpPr>
        <p:spPr>
          <a:xfrm>
            <a:off x="86487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13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0DBF719-DC0D-BC99-B74A-7181B42BEE73}"/>
              </a:ext>
            </a:extLst>
          </p:cNvPr>
          <p:cNvSpPr/>
          <p:nvPr/>
        </p:nvSpPr>
        <p:spPr>
          <a:xfrm>
            <a:off x="9258300" y="4584700"/>
            <a:ext cx="355600" cy="4445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D4DD5BA-BAB7-E53E-126F-E6D692B3C70A}"/>
              </a:ext>
            </a:extLst>
          </p:cNvPr>
          <p:cNvSpPr txBox="1"/>
          <p:nvPr/>
        </p:nvSpPr>
        <p:spPr>
          <a:xfrm>
            <a:off x="92329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14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ABD3BAB-AA5C-2C5D-EA99-3D8033FFCFA3}"/>
              </a:ext>
            </a:extLst>
          </p:cNvPr>
          <p:cNvSpPr/>
          <p:nvPr/>
        </p:nvSpPr>
        <p:spPr>
          <a:xfrm>
            <a:off x="9842500" y="4699000"/>
            <a:ext cx="355600" cy="330200"/>
          </a:xfrm>
          <a:prstGeom prst="rect">
            <a:avLst/>
          </a:prstGeom>
          <a:solidFill>
            <a:srgbClr val="DAE2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C609430-0303-7659-9485-7CF77102FAC9}"/>
              </a:ext>
            </a:extLst>
          </p:cNvPr>
          <p:cNvSpPr txBox="1"/>
          <p:nvPr/>
        </p:nvSpPr>
        <p:spPr>
          <a:xfrm>
            <a:off x="9817100" y="5105400"/>
            <a:ext cx="406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15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EEC6B68-7424-7B65-AE44-C770B6A11F4C}"/>
              </a:ext>
            </a:extLst>
          </p:cNvPr>
          <p:cNvSpPr/>
          <p:nvPr/>
        </p:nvSpPr>
        <p:spPr>
          <a:xfrm>
            <a:off x="736600" y="5600700"/>
            <a:ext cx="10414000" cy="4826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结果解释：高贡献层更可能决定视觉答案，但“贡献高”仍需真实编辑验证。</a:t>
            </a:r>
          </a:p>
        </p:txBody>
      </p:sp>
    </p:spTree>
    <p:extLst>
      <p:ext uri="{BB962C8B-B14F-4D97-AF65-F5344CB8AC3E}">
        <p14:creationId xmlns:p14="http://schemas.microsoft.com/office/powerpoint/2010/main" val="128508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B1C5C2-8E17-6C20-CA29-1E4D2FC9A3C0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0A43AB-9C28-1E1F-A5F3-00A6CA3CC5F5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9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1504F7-ED5A-BAFE-C176-8B09C67BD294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 03 · PARAMETER SALIENCY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9CFD0-8A78-A253-2978-23791A3B0B0B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SaLEM-Alt-Direct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：从参数梯度显著性逐级汇聚到层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9A4C35-C1B3-0BC6-ABFE-3BA93880CB1F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6A815E0-53A1-E27D-B4FD-B8F9D1325037}"/>
              </a:ext>
            </a:extLst>
          </p:cNvPr>
          <p:cNvSpPr/>
          <p:nvPr/>
        </p:nvSpPr>
        <p:spPr>
          <a:xfrm>
            <a:off x="825500" y="1905000"/>
            <a:ext cx="1841500" cy="8128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目标答案损失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B48941E-E549-1177-6EDF-CA7981C77979}"/>
              </a:ext>
            </a:extLst>
          </p:cNvPr>
          <p:cNvCxnSpPr/>
          <p:nvPr/>
        </p:nvCxnSpPr>
        <p:spPr>
          <a:xfrm>
            <a:off x="2743200" y="23114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D41E668-D68A-865C-1352-4EE53B92E5FF}"/>
              </a:ext>
            </a:extLst>
          </p:cNvPr>
          <p:cNvSpPr/>
          <p:nvPr/>
        </p:nvSpPr>
        <p:spPr>
          <a:xfrm>
            <a:off x="3263900" y="1905000"/>
            <a:ext cx="18415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 ∇</a:t>
            </a:r>
            <a:r>
              <a:rPr lang="el-GR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D87A612-036D-7C22-6F20-99C483CD7B83}"/>
              </a:ext>
            </a:extLst>
          </p:cNvPr>
          <p:cNvCxnSpPr/>
          <p:nvPr/>
        </p:nvCxnSpPr>
        <p:spPr>
          <a:xfrm>
            <a:off x="5181600" y="23114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A80DECE-D5C5-5D51-CDDA-1C9203B9D6F4}"/>
              </a:ext>
            </a:extLst>
          </p:cNvPr>
          <p:cNvSpPr/>
          <p:nvPr/>
        </p:nvSpPr>
        <p:spPr>
          <a:xfrm>
            <a:off x="5702300" y="1905000"/>
            <a:ext cx="1587500" cy="8128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参数显著性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83ABBEC-0175-DF4B-88FE-FDBD06290EFD}"/>
              </a:ext>
            </a:extLst>
          </p:cNvPr>
          <p:cNvCxnSpPr/>
          <p:nvPr/>
        </p:nvCxnSpPr>
        <p:spPr>
          <a:xfrm>
            <a:off x="7366000" y="23114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403221-550A-23E1-CFCB-37C5EC25D8C9}"/>
              </a:ext>
            </a:extLst>
          </p:cNvPr>
          <p:cNvSpPr/>
          <p:nvPr/>
        </p:nvSpPr>
        <p:spPr>
          <a:xfrm>
            <a:off x="7886700" y="1905000"/>
            <a:ext cx="15875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列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矩阵汇聚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8EC2C7-8585-1BB1-3DF8-4104FCDAAF66}"/>
              </a:ext>
            </a:extLst>
          </p:cNvPr>
          <p:cNvCxnSpPr/>
          <p:nvPr/>
        </p:nvCxnSpPr>
        <p:spPr>
          <a:xfrm>
            <a:off x="9550400" y="2311400"/>
            <a:ext cx="444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B693B67-7F75-2A3A-58A9-42DA0A804EED}"/>
              </a:ext>
            </a:extLst>
          </p:cNvPr>
          <p:cNvSpPr/>
          <p:nvPr/>
        </p:nvSpPr>
        <p:spPr>
          <a:xfrm>
            <a:off x="10071100" y="1905000"/>
            <a:ext cx="1524000" cy="8128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层分数 </a:t>
            </a:r>
            <a:r>
              <a:rPr lang="en-US" altLang="zh-CN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endParaRPr lang="zh-CN" altLang="en-US" sz="15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7D9F8C-6804-C1DF-AEA8-031BDEB35D23}"/>
              </a:ext>
            </a:extLst>
          </p:cNvPr>
          <p:cNvSpPr txBox="1"/>
          <p:nvPr/>
        </p:nvSpPr>
        <p:spPr>
          <a:xfrm>
            <a:off x="736600" y="34290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显著性漏斗</a:t>
            </a: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7BC39569-8307-D448-5A56-E65BC74CDC4F}"/>
              </a:ext>
            </a:extLst>
          </p:cNvPr>
          <p:cNvSpPr/>
          <p:nvPr/>
        </p:nvSpPr>
        <p:spPr>
          <a:xfrm>
            <a:off x="1270000" y="3873500"/>
            <a:ext cx="9652000" cy="431800"/>
          </a:xfrm>
          <a:prstGeom prst="triangle">
            <a:avLst/>
          </a:prstGeom>
          <a:solidFill>
            <a:srgbClr val="F1ECFF"/>
          </a:solidFill>
          <a:ln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23F63E6-E471-38AE-B467-8BB82DA1DAF5}"/>
              </a:ext>
            </a:extLst>
          </p:cNvPr>
          <p:cNvSpPr txBox="1"/>
          <p:nvPr/>
        </p:nvSpPr>
        <p:spPr>
          <a:xfrm>
            <a:off x="1524000" y="3962400"/>
            <a:ext cx="914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参数级：每个可编辑矩阵的梯度响应</a:t>
            </a:r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64177D30-641D-A0C3-601A-DCA91C53A47F}"/>
              </a:ext>
            </a:extLst>
          </p:cNvPr>
          <p:cNvSpPr/>
          <p:nvPr/>
        </p:nvSpPr>
        <p:spPr>
          <a:xfrm>
            <a:off x="2667000" y="4445000"/>
            <a:ext cx="6858000" cy="431800"/>
          </a:xfrm>
          <a:prstGeom prst="triangle">
            <a:avLst/>
          </a:prstGeom>
          <a:solidFill>
            <a:srgbClr val="E7EFFF"/>
          </a:solidFill>
          <a:ln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755197-9DEA-E9AE-AF91-E862F81F9761}"/>
              </a:ext>
            </a:extLst>
          </p:cNvPr>
          <p:cNvSpPr txBox="1"/>
          <p:nvPr/>
        </p:nvSpPr>
        <p:spPr>
          <a:xfrm>
            <a:off x="2921000" y="45339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结构级：列</a:t>
            </a:r>
            <a:r>
              <a:rPr lang="en-US" altLang="zh-CN" sz="12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矩阵聚合并归一化</a:t>
            </a:r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DF5D3B51-6357-DE14-66CA-25B6C70C2A6A}"/>
              </a:ext>
            </a:extLst>
          </p:cNvPr>
          <p:cNvSpPr/>
          <p:nvPr/>
        </p:nvSpPr>
        <p:spPr>
          <a:xfrm>
            <a:off x="4064000" y="4978400"/>
            <a:ext cx="4064000" cy="431800"/>
          </a:xfrm>
          <a:prstGeom prst="triangle">
            <a:avLst/>
          </a:prstGeom>
          <a:solidFill>
            <a:srgbClr val="E7F8EF"/>
          </a:solidFill>
          <a:ln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6BA977-CE49-E50A-F25E-24FE4410EFDE}"/>
              </a:ext>
            </a:extLst>
          </p:cNvPr>
          <p:cNvSpPr txBox="1"/>
          <p:nvPr/>
        </p:nvSpPr>
        <p:spPr>
          <a:xfrm>
            <a:off x="4318000" y="50673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层级：同层模块汇总，排序输出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3FBDDE7-6241-AD09-9D5F-668C08C7D5BB}"/>
              </a:ext>
            </a:extLst>
          </p:cNvPr>
          <p:cNvSpPr txBox="1"/>
          <p:nvPr/>
        </p:nvSpPr>
        <p:spPr>
          <a:xfrm>
            <a:off x="736600" y="5765800"/>
            <a:ext cx="1079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优势：直接反映参数可塑性。局限：可能偏向梯度尺度较大的模块，视觉特异性有限。</a:t>
            </a:r>
          </a:p>
        </p:txBody>
      </p:sp>
    </p:spTree>
    <p:extLst>
      <p:ext uri="{BB962C8B-B14F-4D97-AF65-F5344CB8AC3E}">
        <p14:creationId xmlns:p14="http://schemas.microsoft.com/office/powerpoint/2010/main" val="911047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AD1EE8-CC10-4672-B4F7-D3DFD750E6F4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EB5676-A3DE-7E48-80BD-06D05B9929A0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10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6B284E-D8DA-219D-2601-63A4CC03668A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METHOD 04 · GRADIENT ALIGNMENT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B4CB5A-E707-1C9F-DEF2-EBA5A8C9D693}"/>
              </a:ext>
            </a:extLst>
          </p:cNvPr>
          <p:cNvSpPr txBox="1"/>
          <p:nvPr/>
        </p:nvSpPr>
        <p:spPr>
          <a:xfrm>
            <a:off x="736600" y="609600"/>
            <a:ext cx="10795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LGA-Param-Direct-AltModelPred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：用新旧知识梯度关系衡量替换方向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CEEF2B-8D1C-760D-2AC7-4361FFFBB777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6DAF8BF-877B-C392-0613-D9A25EF585B2}"/>
              </a:ext>
            </a:extLst>
          </p:cNvPr>
          <p:cNvSpPr/>
          <p:nvPr/>
        </p:nvSpPr>
        <p:spPr>
          <a:xfrm>
            <a:off x="952500" y="1905000"/>
            <a:ext cx="2159000" cy="736600"/>
          </a:xfrm>
          <a:prstGeom prst="roundRect">
            <a:avLst/>
          </a:prstGeom>
          <a:solidFill>
            <a:srgbClr val="FFEBEB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旧知识目标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y_old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447D7A8-2C9A-21E3-00BF-F0A5E381D792}"/>
              </a:ext>
            </a:extLst>
          </p:cNvPr>
          <p:cNvSpPr/>
          <p:nvPr/>
        </p:nvSpPr>
        <p:spPr>
          <a:xfrm>
            <a:off x="952500" y="3048000"/>
            <a:ext cx="2159000" cy="7366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新知识目标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y_new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7C4545-E57C-3D31-7BF1-B937B7F2203D}"/>
              </a:ext>
            </a:extLst>
          </p:cNvPr>
          <p:cNvCxnSpPr/>
          <p:nvPr/>
        </p:nvCxnSpPr>
        <p:spPr>
          <a:xfrm>
            <a:off x="3200400" y="2273300"/>
            <a:ext cx="571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137D5FD-DC11-C285-8747-5B52D3CC5594}"/>
              </a:ext>
            </a:extLst>
          </p:cNvPr>
          <p:cNvCxnSpPr/>
          <p:nvPr/>
        </p:nvCxnSpPr>
        <p:spPr>
          <a:xfrm>
            <a:off x="3200400" y="3416300"/>
            <a:ext cx="5715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1C01CFA-3A5F-349F-9239-2540EA03EBDC}"/>
              </a:ext>
            </a:extLst>
          </p:cNvPr>
          <p:cNvSpPr/>
          <p:nvPr/>
        </p:nvSpPr>
        <p:spPr>
          <a:xfrm>
            <a:off x="3848100" y="1905000"/>
            <a:ext cx="2413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g_old = ∇</a:t>
            </a:r>
            <a:r>
              <a:rPr lang="el-GR" altLang="zh-CN" sz="1600" b="1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lang="en-US" altLang="zh-CN" sz="1600" b="1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L_old</a:t>
            </a:r>
            <a:endParaRPr lang="zh-CN" altLang="en-US" sz="1600" b="1">
              <a:solidFill>
                <a:srgbClr val="D7494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3646533-1AB1-C9BE-6907-8567EE898A67}"/>
              </a:ext>
            </a:extLst>
          </p:cNvPr>
          <p:cNvSpPr/>
          <p:nvPr/>
        </p:nvSpPr>
        <p:spPr>
          <a:xfrm>
            <a:off x="3848100" y="3048000"/>
            <a:ext cx="2413000" cy="736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g_new = ∇</a:t>
            </a:r>
            <a:r>
              <a:rPr lang="el-GR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L_new</a:t>
            </a:r>
            <a:endParaRPr lang="zh-CN" altLang="en-US" sz="16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4370CCE-3EA0-5224-C4D3-F18AC948124C}"/>
              </a:ext>
            </a:extLst>
          </p:cNvPr>
          <p:cNvCxnSpPr/>
          <p:nvPr/>
        </p:nvCxnSpPr>
        <p:spPr>
          <a:xfrm>
            <a:off x="6350000" y="2273300"/>
            <a:ext cx="1016000" cy="558800"/>
          </a:xfrm>
          <a:prstGeom prst="line">
            <a:avLst/>
          </a:prstGeom>
          <a:ln w="22860">
            <a:solidFill>
              <a:srgbClr val="D7494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592889D-48D4-57D5-5E07-F7EA5DE4C9B8}"/>
              </a:ext>
            </a:extLst>
          </p:cNvPr>
          <p:cNvCxnSpPr/>
          <p:nvPr/>
        </p:nvCxnSpPr>
        <p:spPr>
          <a:xfrm flipV="1">
            <a:off x="6350000" y="2832100"/>
            <a:ext cx="1016000" cy="584200"/>
          </a:xfrm>
          <a:prstGeom prst="line">
            <a:avLst/>
          </a:prstGeom>
          <a:ln w="22860">
            <a:solidFill>
              <a:srgbClr val="36A07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4FDD85-DE02-8D54-DF31-324773E9E1CD}"/>
              </a:ext>
            </a:extLst>
          </p:cNvPr>
          <p:cNvSpPr/>
          <p:nvPr/>
        </p:nvSpPr>
        <p:spPr>
          <a:xfrm>
            <a:off x="7442200" y="2209800"/>
            <a:ext cx="2159000" cy="12446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逐层计算
方向一致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冲突
与梯度幅值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C9282F4-B186-56D6-BC80-F59F13FA1993}"/>
              </a:ext>
            </a:extLst>
          </p:cNvPr>
          <p:cNvCxnSpPr/>
          <p:nvPr/>
        </p:nvCxnSpPr>
        <p:spPr>
          <a:xfrm>
            <a:off x="9677400" y="2832100"/>
            <a:ext cx="5080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032D69A-0938-3E01-3D94-D30FD010588E}"/>
              </a:ext>
            </a:extLst>
          </p:cNvPr>
          <p:cNvSpPr/>
          <p:nvPr/>
        </p:nvSpPr>
        <p:spPr>
          <a:xfrm>
            <a:off x="10261600" y="2463800"/>
            <a:ext cx="1397000" cy="7366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</a:t>
            </a:r>
            <a:r>
              <a:rPr lang="zh-CN" altLang="en-US" sz="15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7B5CA71-16BB-A9D5-0929-97DB334C5718}"/>
              </a:ext>
            </a:extLst>
          </p:cNvPr>
          <p:cNvSpPr/>
          <p:nvPr/>
        </p:nvSpPr>
        <p:spPr>
          <a:xfrm>
            <a:off x="952500" y="4419600"/>
            <a:ext cx="15240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定位原理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149211-88FF-EA7A-8C8E-E7B9C1F0997B}"/>
              </a:ext>
            </a:extLst>
          </p:cNvPr>
          <p:cNvSpPr txBox="1"/>
          <p:nvPr/>
        </p:nvSpPr>
        <p:spPr>
          <a:xfrm>
            <a:off x="2717800" y="4445000"/>
            <a:ext cx="825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优先选择“支持新知识写入、同时能抑制旧知识”的层，而不只是梯度大的层。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277F43-FAED-57E4-7465-C5FB4E6AF1F3}"/>
              </a:ext>
            </a:extLst>
          </p:cNvPr>
          <p:cNvSpPr txBox="1"/>
          <p:nvPr/>
        </p:nvSpPr>
        <p:spPr>
          <a:xfrm>
            <a:off x="952500" y="53975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结果含义：候选层体现知识替换方向；对视觉路径的特异性仍依赖目标与样本设计。</a:t>
            </a:r>
          </a:p>
        </p:txBody>
      </p:sp>
    </p:spTree>
    <p:extLst>
      <p:ext uri="{BB962C8B-B14F-4D97-AF65-F5344CB8AC3E}">
        <p14:creationId xmlns:p14="http://schemas.microsoft.com/office/powerpoint/2010/main" val="153262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9061AA1-FB31-AC63-91F0-0549E9E56A80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CA2D08-7EB6-5523-5E1D-559FCBB361BB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11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BA5136-69B4-C969-3E3B-82532AC0213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193800"/>
            <a:ext cx="8382000" cy="47244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20BE35-CA81-001F-DBF9-385F489C0BEF}"/>
              </a:ext>
            </a:extLst>
          </p:cNvPr>
          <p:cNvSpPr/>
          <p:nvPr/>
        </p:nvSpPr>
        <p:spPr>
          <a:xfrm>
            <a:off x="736600" y="444500"/>
            <a:ext cx="5969000" cy="609600"/>
          </a:xfrm>
          <a:prstGeom prst="roundRect">
            <a:avLst/>
          </a:prstGeom>
          <a:solidFill>
            <a:srgbClr val="EE8F34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 Perturb-KL-Direct-AltSeq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9AC8C4-08E0-CCA7-93C3-183CC283D9B5}"/>
              </a:ext>
            </a:extLst>
          </p:cNvPr>
          <p:cNvSpPr/>
          <p:nvPr/>
        </p:nvSpPr>
        <p:spPr>
          <a:xfrm>
            <a:off x="9334500" y="1498600"/>
            <a:ext cx="2286000" cy="12700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核心：只扰动视觉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，比较干净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扰动输出分布的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 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差异。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B38DC8-D275-C8FA-8FC7-B77590A3E715}"/>
              </a:ext>
            </a:extLst>
          </p:cNvPr>
          <p:cNvSpPr/>
          <p:nvPr/>
        </p:nvSpPr>
        <p:spPr>
          <a:xfrm>
            <a:off x="9334500" y="3022600"/>
            <a:ext cx="22860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强项
具有视觉特异性
接近因果敏感度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E563F80-F228-ADB5-369F-E2BA6F36A716}"/>
              </a:ext>
            </a:extLst>
          </p:cNvPr>
          <p:cNvSpPr/>
          <p:nvPr/>
        </p:nvSpPr>
        <p:spPr>
          <a:xfrm>
            <a:off x="9334500" y="4419600"/>
            <a:ext cx="228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D749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
敏感层 ≠ 最佳编辑层
必须真实扫层验证</a:t>
            </a:r>
          </a:p>
        </p:txBody>
      </p:sp>
    </p:spTree>
    <p:extLst>
      <p:ext uri="{BB962C8B-B14F-4D97-AF65-F5344CB8AC3E}">
        <p14:creationId xmlns:p14="http://schemas.microsoft.com/office/powerpoint/2010/main" val="207652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56BD04-A5A8-DA57-32B7-3882AD528B46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7D5C44-118F-FE28-2B24-35168E5DC3C6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12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3FC96F-0B1E-EF98-F41E-0BA8F7CECF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193800"/>
            <a:ext cx="8382000" cy="47244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F82F4B3-D993-0290-E9D3-BF297EA0C584}"/>
              </a:ext>
            </a:extLst>
          </p:cNvPr>
          <p:cNvSpPr/>
          <p:nvPr/>
        </p:nvSpPr>
        <p:spPr>
          <a:xfrm>
            <a:off x="698500" y="1422400"/>
            <a:ext cx="1905000" cy="1168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58CC53-2110-074C-15ED-8B49350429A7}"/>
              </a:ext>
            </a:extLst>
          </p:cNvPr>
          <p:cNvSpPr/>
          <p:nvPr/>
        </p:nvSpPr>
        <p:spPr>
          <a:xfrm>
            <a:off x="736600" y="444500"/>
            <a:ext cx="4191000" cy="609600"/>
          </a:xfrm>
          <a:prstGeom prst="roundRect">
            <a:avLst/>
          </a:prstGeom>
          <a:solidFill>
            <a:srgbClr val="D74949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 CMA-Direct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B51921-2BF8-8720-4162-BDD226373345}"/>
              </a:ext>
            </a:extLst>
          </p:cNvPr>
          <p:cNvSpPr/>
          <p:nvPr/>
        </p:nvSpPr>
        <p:spPr>
          <a:xfrm>
            <a:off x="9334500" y="1498600"/>
            <a:ext cx="2286000" cy="1270000"/>
          </a:xfrm>
          <a:prstGeom prst="roundRect">
            <a:avLst/>
          </a:prstGeom>
          <a:solidFill>
            <a:srgbClr val="FFEBEB"/>
          </a:solidFill>
          <a:ln w="15875">
            <a:solidFill>
              <a:srgbClr val="D749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核心：对中间状态做因果恢复，观察目标答案概率能恢复多少。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1DF7E8C-BF5A-1B17-6858-810D8F6720FF}"/>
              </a:ext>
            </a:extLst>
          </p:cNvPr>
          <p:cNvSpPr/>
          <p:nvPr/>
        </p:nvSpPr>
        <p:spPr>
          <a:xfrm>
            <a:off x="9334500" y="3022600"/>
            <a:ext cx="2286000" cy="114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强项
干预式解释
因果语义最明确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50329A-3C7F-59EE-F1EB-AB271D8FB2C8}"/>
              </a:ext>
            </a:extLst>
          </p:cNvPr>
          <p:cNvSpPr/>
          <p:nvPr/>
        </p:nvSpPr>
        <p:spPr>
          <a:xfrm>
            <a:off x="9334500" y="4419600"/>
            <a:ext cx="2286000" cy="1168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现状
有效覆盖 </a:t>
            </a:r>
            <a:r>
              <a:rPr lang="en-US" altLang="zh-CN" sz="14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31/214
</a:t>
            </a:r>
            <a:r>
              <a:rPr lang="zh-CN" altLang="en-US" sz="14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覆盖率 </a:t>
            </a:r>
            <a:r>
              <a:rPr lang="en-US" altLang="zh-CN" sz="1400" b="1">
                <a:solidFill>
                  <a:srgbClr val="EE8F3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14.5%</a:t>
            </a:r>
            <a:endParaRPr lang="zh-CN" altLang="en-US" sz="1400" b="1">
              <a:solidFill>
                <a:srgbClr val="EE8F3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9957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E873D3-085A-CC6C-FD22-B60F5435690F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1655CF-C47F-AAD1-CA12-E8F347C663C7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13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2EBA2F-05DF-C9B7-99FF-655411A9DFE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193800"/>
            <a:ext cx="8382000" cy="47244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A7961D2B-85A4-F209-247B-D1024EA3C302}"/>
              </a:ext>
            </a:extLst>
          </p:cNvPr>
          <p:cNvSpPr/>
          <p:nvPr/>
        </p:nvSpPr>
        <p:spPr>
          <a:xfrm>
            <a:off x="736600" y="444500"/>
            <a:ext cx="6350000" cy="6096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2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 Ours — VisualGradient-Direct</a:t>
            </a:r>
            <a:endParaRPr lang="zh-CN" altLang="en-US" sz="2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35E93FB-9BE1-5835-7052-2CAC0E1CD5B2}"/>
              </a:ext>
            </a:extLst>
          </p:cNvPr>
          <p:cNvSpPr/>
          <p:nvPr/>
        </p:nvSpPr>
        <p:spPr>
          <a:xfrm>
            <a:off x="9334500" y="1422400"/>
            <a:ext cx="2286000" cy="4318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主公式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CDF042-B526-3F80-339D-4CB82A6E591D}"/>
              </a:ext>
            </a:extLst>
          </p:cNvPr>
          <p:cNvSpPr/>
          <p:nvPr/>
        </p:nvSpPr>
        <p:spPr>
          <a:xfrm>
            <a:off x="9334500" y="1943100"/>
            <a:ext cx="2286000" cy="8128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7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|Sᵥ_cos| × Sᵥ_new_norm</a:t>
            </a:r>
            <a:endParaRPr lang="zh-CN" altLang="en-US" sz="17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F687E65-7658-A439-7792-BCDE1094BE13}"/>
              </a:ext>
            </a:extLst>
          </p:cNvPr>
          <p:cNvSpPr/>
          <p:nvPr/>
        </p:nvSpPr>
        <p:spPr>
          <a:xfrm>
            <a:off x="9334500" y="3022600"/>
            <a:ext cx="2286000" cy="990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#1 / 11
</a:t>
            </a:r>
            <a:r>
              <a:rPr lang="zh-CN" altLang="en-US" sz="16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sz="16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Spearman 0.323</a:t>
            </a:r>
            <a:endParaRPr lang="zh-CN" altLang="en-US" sz="1600" b="1">
              <a:solidFill>
                <a:srgbClr val="7652D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B1E5BE-85CE-FA97-675D-92A9F130B5F2}"/>
              </a:ext>
            </a:extLst>
          </p:cNvPr>
          <p:cNvSpPr/>
          <p:nvPr/>
        </p:nvSpPr>
        <p:spPr>
          <a:xfrm>
            <a:off x="9334500" y="4292600"/>
            <a:ext cx="2286000" cy="1041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/ 18 </a:t>
            </a:r>
            <a:r>
              <a:rPr lang="zh-CN" altLang="en-US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正相关
跨模型</a:t>
            </a:r>
            <a:r>
              <a:rPr lang="en-US" altLang="zh-CN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数据更稳定</a:t>
            </a:r>
          </a:p>
        </p:txBody>
      </p:sp>
    </p:spTree>
    <p:extLst>
      <p:ext uri="{BB962C8B-B14F-4D97-AF65-F5344CB8AC3E}">
        <p14:creationId xmlns:p14="http://schemas.microsoft.com/office/powerpoint/2010/main" val="244698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517F13-FB57-7DCF-ECBB-45C13CF9C39F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C1C9E6-5EDF-91CA-D184-0ACD164A7B6C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14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607008-0B02-A7D4-BBE1-379787A01D71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· FORMULA DESIGN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969C94-AD35-86CF-46B6-2FDB35EB15E6}"/>
              </a:ext>
            </a:extLst>
          </p:cNvPr>
          <p:cNvSpPr txBox="1"/>
          <p:nvPr/>
        </p:nvSpPr>
        <p:spPr>
          <a:xfrm>
            <a:off x="736600" y="609600"/>
            <a:ext cx="10795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的关键：把“方向一致性”和“新知识写入强度”分开测，再组合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5B4560-5C53-62D1-CB0B-F057C139A0D0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E82A999-2274-2865-9170-CA57A83CD0C1}"/>
              </a:ext>
            </a:extLst>
          </p:cNvPr>
          <p:cNvSpPr/>
          <p:nvPr/>
        </p:nvSpPr>
        <p:spPr>
          <a:xfrm>
            <a:off x="736600" y="1905000"/>
            <a:ext cx="2095500" cy="7366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视觉目标梯度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gᵥ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3BB9DFE-C579-8B4F-8721-AD0E2E378ABF}"/>
              </a:ext>
            </a:extLst>
          </p:cNvPr>
          <p:cNvSpPr/>
          <p:nvPr/>
        </p:nvSpPr>
        <p:spPr>
          <a:xfrm>
            <a:off x="736600" y="3048000"/>
            <a:ext cx="2095500" cy="7366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新知识梯度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g_new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23152FF-33FB-3B65-8CB9-0BC0AF532C5E}"/>
              </a:ext>
            </a:extLst>
          </p:cNvPr>
          <p:cNvCxnSpPr/>
          <p:nvPr/>
        </p:nvCxnSpPr>
        <p:spPr>
          <a:xfrm>
            <a:off x="2921000" y="2273300"/>
            <a:ext cx="1270000" cy="584200"/>
          </a:xfrm>
          <a:prstGeom prst="line">
            <a:avLst/>
          </a:prstGeom>
          <a:ln w="22860">
            <a:solidFill>
              <a:srgbClr val="3771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AF17ED6-7B49-F764-FF2D-38347E39FB6D}"/>
              </a:ext>
            </a:extLst>
          </p:cNvPr>
          <p:cNvCxnSpPr/>
          <p:nvPr/>
        </p:nvCxnSpPr>
        <p:spPr>
          <a:xfrm flipV="1">
            <a:off x="2921000" y="2857500"/>
            <a:ext cx="1270000" cy="558800"/>
          </a:xfrm>
          <a:prstGeom prst="line">
            <a:avLst/>
          </a:prstGeom>
          <a:ln w="22860">
            <a:solidFill>
              <a:srgbClr val="36A07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D2BB6AF-8611-2166-0C13-9DF336D41CC4}"/>
              </a:ext>
            </a:extLst>
          </p:cNvPr>
          <p:cNvSpPr/>
          <p:nvPr/>
        </p:nvSpPr>
        <p:spPr>
          <a:xfrm>
            <a:off x="4292600" y="1778000"/>
            <a:ext cx="3048000" cy="9144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方向项
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Sᵥ_cos = cos(gᵥ,g_new)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3F40874-3022-7FBB-5942-9779CC965481}"/>
              </a:ext>
            </a:extLst>
          </p:cNvPr>
          <p:cNvSpPr/>
          <p:nvPr/>
        </p:nvSpPr>
        <p:spPr>
          <a:xfrm>
            <a:off x="4292600" y="3022600"/>
            <a:ext cx="3048000" cy="914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幅值项
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Sᵥ_new_norm = ||g_new||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4BFD47-EBD2-314A-406E-BB67F2131CB6}"/>
              </a:ext>
            </a:extLst>
          </p:cNvPr>
          <p:cNvCxnSpPr/>
          <p:nvPr/>
        </p:nvCxnSpPr>
        <p:spPr>
          <a:xfrm>
            <a:off x="7429500" y="2235200"/>
            <a:ext cx="1181100" cy="584200"/>
          </a:xfrm>
          <a:prstGeom prst="line">
            <a:avLst/>
          </a:prstGeom>
          <a:ln w="22860">
            <a:solidFill>
              <a:srgbClr val="7652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24633CB-6B9E-77B5-8A31-BDAFCF16A71E}"/>
              </a:ext>
            </a:extLst>
          </p:cNvPr>
          <p:cNvCxnSpPr/>
          <p:nvPr/>
        </p:nvCxnSpPr>
        <p:spPr>
          <a:xfrm flipV="1">
            <a:off x="7429500" y="2819400"/>
            <a:ext cx="1181100" cy="660400"/>
          </a:xfrm>
          <a:prstGeom prst="line">
            <a:avLst/>
          </a:prstGeom>
          <a:ln w="22860">
            <a:solidFill>
              <a:srgbClr val="36A07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F660B4-9026-0F3A-39B8-D68CD3A591A0}"/>
              </a:ext>
            </a:extLst>
          </p:cNvPr>
          <p:cNvSpPr/>
          <p:nvPr/>
        </p:nvSpPr>
        <p:spPr>
          <a:xfrm>
            <a:off x="8712200" y="2209800"/>
            <a:ext cx="2794000" cy="12446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联合评分
</a:t>
            </a:r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|Sᵥ_cos| × Sᵥ_new_norm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CA7ED9-4F8F-FA62-2D07-14288112E6F2}"/>
              </a:ext>
            </a:extLst>
          </p:cNvPr>
          <p:cNvSpPr/>
          <p:nvPr/>
        </p:nvSpPr>
        <p:spPr>
          <a:xfrm>
            <a:off x="736600" y="4546600"/>
            <a:ext cx="3175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5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个基础视觉梯度公式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E256CCC-CC8F-3F73-ED57-B232910AEB17}"/>
              </a:ext>
            </a:extLst>
          </p:cNvPr>
          <p:cNvSpPr/>
          <p:nvPr/>
        </p:nvSpPr>
        <p:spPr>
          <a:xfrm>
            <a:off x="4089400" y="4546600"/>
            <a:ext cx="5842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b="1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b="1">
              <a:solidFill>
                <a:srgbClr val="5B677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F51400E-A87E-791C-2841-37BDC8D8323D}"/>
              </a:ext>
            </a:extLst>
          </p:cNvPr>
          <p:cNvSpPr/>
          <p:nvPr/>
        </p:nvSpPr>
        <p:spPr>
          <a:xfrm>
            <a:off x="4851400" y="4546600"/>
            <a:ext cx="3429000" cy="609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5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个深度加权 </a:t>
            </a:r>
            <a:r>
              <a:rPr lang="en-US" altLang="zh-CN" sz="15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15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3D90008-8D90-1F9D-4DBB-6518F28D846A}"/>
              </a:ext>
            </a:extLst>
          </p:cNvPr>
          <p:cNvSpPr/>
          <p:nvPr/>
        </p:nvSpPr>
        <p:spPr>
          <a:xfrm>
            <a:off x="8458200" y="4546600"/>
            <a:ext cx="3048000" cy="6096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 </a:t>
            </a:r>
            <a:r>
              <a:rPr lang="en-US" altLang="zh-CN" sz="14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4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个公式统一排序与真实编辑验证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DDAE0D-71E4-063A-9362-DF647781DFAC}"/>
              </a:ext>
            </a:extLst>
          </p:cNvPr>
          <p:cNvSpPr txBox="1"/>
          <p:nvPr/>
        </p:nvSpPr>
        <p:spPr>
          <a:xfrm>
            <a:off x="736600" y="5588000"/>
            <a:ext cx="1054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当前最优并不是“只靠深层先验”，而是无深度项的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M_abscos_x_newn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9721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67D8DA-4E61-65F3-A6A1-1949F83CDF42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5E4B57-F4B4-30EB-0425-CD463E7237E3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15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88BD24-A5FB-0B42-D735-6A64F3C2B2B1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EXAMPLE · MMKE-VISUAL × QWEN2.5-VL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E5CFC5-1508-94EE-1EA0-C3AED78F8F90}"/>
              </a:ext>
            </a:extLst>
          </p:cNvPr>
          <p:cNvSpPr txBox="1"/>
          <p:nvPr/>
        </p:nvSpPr>
        <p:spPr>
          <a:xfrm>
            <a:off x="736600" y="609600"/>
            <a:ext cx="10795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候选层热力图：不同方法覆盖不同深度，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聚焦浅层视觉写入区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4E606E-7CDE-A482-4A94-25AB0247F2D7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C58807-900A-D4BC-1637-899D1B7CDD3B}"/>
              </a:ext>
            </a:extLst>
          </p:cNvPr>
          <p:cNvSpPr txBox="1"/>
          <p:nvPr/>
        </p:nvSpPr>
        <p:spPr>
          <a:xfrm>
            <a:off x="19304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0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6380A8-34C4-3C4C-57F1-AF59D1E93D13}"/>
              </a:ext>
            </a:extLst>
          </p:cNvPr>
          <p:cNvSpPr txBox="1"/>
          <p:nvPr/>
        </p:nvSpPr>
        <p:spPr>
          <a:xfrm>
            <a:off x="24892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426379-AB48-DFDF-7E92-CEC737004ED7}"/>
              </a:ext>
            </a:extLst>
          </p:cNvPr>
          <p:cNvSpPr txBox="1"/>
          <p:nvPr/>
        </p:nvSpPr>
        <p:spPr>
          <a:xfrm>
            <a:off x="30480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4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BAEC95-4A7D-2CA0-B206-EF585D449C6B}"/>
              </a:ext>
            </a:extLst>
          </p:cNvPr>
          <p:cNvSpPr txBox="1"/>
          <p:nvPr/>
        </p:nvSpPr>
        <p:spPr>
          <a:xfrm>
            <a:off x="36068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6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76EA61-39ED-F60D-87F6-ACD0A0937E17}"/>
              </a:ext>
            </a:extLst>
          </p:cNvPr>
          <p:cNvSpPr txBox="1"/>
          <p:nvPr/>
        </p:nvSpPr>
        <p:spPr>
          <a:xfrm>
            <a:off x="41656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8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B420E7-230A-8BF1-3EB6-19D4A192C382}"/>
              </a:ext>
            </a:extLst>
          </p:cNvPr>
          <p:cNvSpPr txBox="1"/>
          <p:nvPr/>
        </p:nvSpPr>
        <p:spPr>
          <a:xfrm>
            <a:off x="47244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10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8EE628-0122-170F-91DC-92BE6B222E0D}"/>
              </a:ext>
            </a:extLst>
          </p:cNvPr>
          <p:cNvSpPr txBox="1"/>
          <p:nvPr/>
        </p:nvSpPr>
        <p:spPr>
          <a:xfrm>
            <a:off x="52832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12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B452D8-1431-C29F-D51F-F9231B87758B}"/>
              </a:ext>
            </a:extLst>
          </p:cNvPr>
          <p:cNvSpPr txBox="1"/>
          <p:nvPr/>
        </p:nvSpPr>
        <p:spPr>
          <a:xfrm>
            <a:off x="58420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14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B22200-7BAF-916A-9771-AF7083DF7A74}"/>
              </a:ext>
            </a:extLst>
          </p:cNvPr>
          <p:cNvSpPr txBox="1"/>
          <p:nvPr/>
        </p:nvSpPr>
        <p:spPr>
          <a:xfrm>
            <a:off x="64008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16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ACDD4D-F48B-5089-BD8D-9AC2B44B9F67}"/>
              </a:ext>
            </a:extLst>
          </p:cNvPr>
          <p:cNvSpPr txBox="1"/>
          <p:nvPr/>
        </p:nvSpPr>
        <p:spPr>
          <a:xfrm>
            <a:off x="69596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18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A17EF6B-2E17-A6C6-F3C0-07DC63F74A6D}"/>
              </a:ext>
            </a:extLst>
          </p:cNvPr>
          <p:cNvSpPr txBox="1"/>
          <p:nvPr/>
        </p:nvSpPr>
        <p:spPr>
          <a:xfrm>
            <a:off x="75184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20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A9AB8C-D744-4441-F683-354E3F3129C7}"/>
              </a:ext>
            </a:extLst>
          </p:cNvPr>
          <p:cNvSpPr txBox="1"/>
          <p:nvPr/>
        </p:nvSpPr>
        <p:spPr>
          <a:xfrm>
            <a:off x="80772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22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CBB4C8-0E1C-3507-F19F-2C4F89C8DC67}"/>
              </a:ext>
            </a:extLst>
          </p:cNvPr>
          <p:cNvSpPr txBox="1"/>
          <p:nvPr/>
        </p:nvSpPr>
        <p:spPr>
          <a:xfrm>
            <a:off x="86360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24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FBDAC4-3C22-76D9-9542-7ECFF78DBDA3}"/>
              </a:ext>
            </a:extLst>
          </p:cNvPr>
          <p:cNvSpPr txBox="1"/>
          <p:nvPr/>
        </p:nvSpPr>
        <p:spPr>
          <a:xfrm>
            <a:off x="91948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26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39384E-DB3A-C07C-9EF4-5C5C8EC47196}"/>
              </a:ext>
            </a:extLst>
          </p:cNvPr>
          <p:cNvSpPr txBox="1"/>
          <p:nvPr/>
        </p:nvSpPr>
        <p:spPr>
          <a:xfrm>
            <a:off x="97536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28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968DDE-9E00-2D04-1F87-06D4C7A28FA8}"/>
              </a:ext>
            </a:extLst>
          </p:cNvPr>
          <p:cNvSpPr txBox="1"/>
          <p:nvPr/>
        </p:nvSpPr>
        <p:spPr>
          <a:xfrm>
            <a:off x="10312400" y="15240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00">
                <a:solidFill>
                  <a:srgbClr val="96A0AB"/>
                </a:solidFill>
                <a:latin typeface="Arial" panose="020B0604020202020204" pitchFamily="34" charset="0"/>
              </a:rPr>
              <a:t>30</a:t>
            </a:r>
            <a:endParaRPr lang="zh-CN" altLang="en-US" sz="8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7D97BB1-B6E1-1040-4857-D83D358785DA}"/>
              </a:ext>
            </a:extLst>
          </p:cNvPr>
          <p:cNvSpPr txBox="1"/>
          <p:nvPr/>
        </p:nvSpPr>
        <p:spPr>
          <a:xfrm>
            <a:off x="736600" y="19177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Middle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171453-2323-541C-027C-4E54549FDD67}"/>
              </a:ext>
            </a:extLst>
          </p:cNvPr>
          <p:cNvSpPr/>
          <p:nvPr/>
        </p:nvSpPr>
        <p:spPr>
          <a:xfrm>
            <a:off x="1955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5AD477-FBD6-D237-CE5F-670D2F508C2D}"/>
              </a:ext>
            </a:extLst>
          </p:cNvPr>
          <p:cNvSpPr/>
          <p:nvPr/>
        </p:nvSpPr>
        <p:spPr>
          <a:xfrm>
            <a:off x="22352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BECD5E-A8ED-B90E-2867-7B985CA19973}"/>
              </a:ext>
            </a:extLst>
          </p:cNvPr>
          <p:cNvSpPr/>
          <p:nvPr/>
        </p:nvSpPr>
        <p:spPr>
          <a:xfrm>
            <a:off x="25146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21BFE1-42DA-0DF1-1155-84D0BBC1FEE6}"/>
              </a:ext>
            </a:extLst>
          </p:cNvPr>
          <p:cNvSpPr/>
          <p:nvPr/>
        </p:nvSpPr>
        <p:spPr>
          <a:xfrm>
            <a:off x="27940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A67970-36B7-3FB7-EB4A-C1506BB5B75C}"/>
              </a:ext>
            </a:extLst>
          </p:cNvPr>
          <p:cNvSpPr/>
          <p:nvPr/>
        </p:nvSpPr>
        <p:spPr>
          <a:xfrm>
            <a:off x="3073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5270DD4-48AA-DBA8-C9FC-1CE20181F31B}"/>
              </a:ext>
            </a:extLst>
          </p:cNvPr>
          <p:cNvSpPr/>
          <p:nvPr/>
        </p:nvSpPr>
        <p:spPr>
          <a:xfrm>
            <a:off x="3352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D31F5F-D270-B3BB-E3A0-867EFBCA7CD0}"/>
              </a:ext>
            </a:extLst>
          </p:cNvPr>
          <p:cNvSpPr/>
          <p:nvPr/>
        </p:nvSpPr>
        <p:spPr>
          <a:xfrm>
            <a:off x="36322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28996C-9C30-85A1-9DFF-B09DFF9D7A29}"/>
              </a:ext>
            </a:extLst>
          </p:cNvPr>
          <p:cNvSpPr/>
          <p:nvPr/>
        </p:nvSpPr>
        <p:spPr>
          <a:xfrm>
            <a:off x="39116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CC745A-9F6E-1316-6CD0-AE5B4F5F3C86}"/>
              </a:ext>
            </a:extLst>
          </p:cNvPr>
          <p:cNvSpPr/>
          <p:nvPr/>
        </p:nvSpPr>
        <p:spPr>
          <a:xfrm>
            <a:off x="41910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81E7C8E-428D-2756-4806-0C3F126178A6}"/>
              </a:ext>
            </a:extLst>
          </p:cNvPr>
          <p:cNvSpPr/>
          <p:nvPr/>
        </p:nvSpPr>
        <p:spPr>
          <a:xfrm>
            <a:off x="4470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462674-BF8E-C7ED-063F-76722A87707B}"/>
              </a:ext>
            </a:extLst>
          </p:cNvPr>
          <p:cNvSpPr/>
          <p:nvPr/>
        </p:nvSpPr>
        <p:spPr>
          <a:xfrm>
            <a:off x="4749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ED8150-B767-B810-721B-DE32E886426C}"/>
              </a:ext>
            </a:extLst>
          </p:cNvPr>
          <p:cNvSpPr/>
          <p:nvPr/>
        </p:nvSpPr>
        <p:spPr>
          <a:xfrm>
            <a:off x="50292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435024C-FFB8-B79E-2390-98A7D8238CEE}"/>
              </a:ext>
            </a:extLst>
          </p:cNvPr>
          <p:cNvSpPr/>
          <p:nvPr/>
        </p:nvSpPr>
        <p:spPr>
          <a:xfrm>
            <a:off x="53086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E1F2AA8-A009-1006-3BF0-CCB93569D72C}"/>
              </a:ext>
            </a:extLst>
          </p:cNvPr>
          <p:cNvSpPr/>
          <p:nvPr/>
        </p:nvSpPr>
        <p:spPr>
          <a:xfrm>
            <a:off x="55880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C2A3D6-98FE-F8EB-4BD4-B980137BCD86}"/>
              </a:ext>
            </a:extLst>
          </p:cNvPr>
          <p:cNvSpPr/>
          <p:nvPr/>
        </p:nvSpPr>
        <p:spPr>
          <a:xfrm>
            <a:off x="5867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61864E8-BA8C-8212-5667-EE0D50F97CD2}"/>
              </a:ext>
            </a:extLst>
          </p:cNvPr>
          <p:cNvSpPr/>
          <p:nvPr/>
        </p:nvSpPr>
        <p:spPr>
          <a:xfrm>
            <a:off x="6146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798A1AC-C1F6-CD6F-997C-93635A61A9E4}"/>
              </a:ext>
            </a:extLst>
          </p:cNvPr>
          <p:cNvSpPr/>
          <p:nvPr/>
        </p:nvSpPr>
        <p:spPr>
          <a:xfrm>
            <a:off x="6426200" y="1841500"/>
            <a:ext cx="241300" cy="355600"/>
          </a:xfrm>
          <a:prstGeom prst="rect">
            <a:avLst/>
          </a:prstGeom>
          <a:solidFill>
            <a:srgbClr val="96A0A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E02BC8-2AD3-BBA1-7140-C7B8395D0E7D}"/>
              </a:ext>
            </a:extLst>
          </p:cNvPr>
          <p:cNvSpPr/>
          <p:nvPr/>
        </p:nvSpPr>
        <p:spPr>
          <a:xfrm>
            <a:off x="6705600" y="1841500"/>
            <a:ext cx="241300" cy="355600"/>
          </a:xfrm>
          <a:prstGeom prst="rect">
            <a:avLst/>
          </a:prstGeom>
          <a:solidFill>
            <a:srgbClr val="96A0A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3B11E8F-7AC8-DA7B-28FF-9018A27188F0}"/>
              </a:ext>
            </a:extLst>
          </p:cNvPr>
          <p:cNvSpPr/>
          <p:nvPr/>
        </p:nvSpPr>
        <p:spPr>
          <a:xfrm>
            <a:off x="6985000" y="1841500"/>
            <a:ext cx="241300" cy="355600"/>
          </a:xfrm>
          <a:prstGeom prst="rect">
            <a:avLst/>
          </a:prstGeom>
          <a:solidFill>
            <a:srgbClr val="96A0A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2BE0BB-A5CF-444E-CD31-A93BF38EE1C0}"/>
              </a:ext>
            </a:extLst>
          </p:cNvPr>
          <p:cNvSpPr/>
          <p:nvPr/>
        </p:nvSpPr>
        <p:spPr>
          <a:xfrm>
            <a:off x="7264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CC2F120-B098-D624-470C-E0632DD606E8}"/>
              </a:ext>
            </a:extLst>
          </p:cNvPr>
          <p:cNvSpPr/>
          <p:nvPr/>
        </p:nvSpPr>
        <p:spPr>
          <a:xfrm>
            <a:off x="7543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FB9B973-99F3-4181-588B-1EE42353880F}"/>
              </a:ext>
            </a:extLst>
          </p:cNvPr>
          <p:cNvSpPr/>
          <p:nvPr/>
        </p:nvSpPr>
        <p:spPr>
          <a:xfrm>
            <a:off x="78232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5A52101-FC14-7575-9BB8-B2459B737B45}"/>
              </a:ext>
            </a:extLst>
          </p:cNvPr>
          <p:cNvSpPr/>
          <p:nvPr/>
        </p:nvSpPr>
        <p:spPr>
          <a:xfrm>
            <a:off x="81026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524173B-E81C-607C-4B97-21AEAF43B85D}"/>
              </a:ext>
            </a:extLst>
          </p:cNvPr>
          <p:cNvSpPr/>
          <p:nvPr/>
        </p:nvSpPr>
        <p:spPr>
          <a:xfrm>
            <a:off x="83820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4BB086A-A624-116E-E748-5B087E59AAFC}"/>
              </a:ext>
            </a:extLst>
          </p:cNvPr>
          <p:cNvSpPr/>
          <p:nvPr/>
        </p:nvSpPr>
        <p:spPr>
          <a:xfrm>
            <a:off x="8661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F647A2C-4164-E052-C139-890B1A58D979}"/>
              </a:ext>
            </a:extLst>
          </p:cNvPr>
          <p:cNvSpPr/>
          <p:nvPr/>
        </p:nvSpPr>
        <p:spPr>
          <a:xfrm>
            <a:off x="8940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5B2B535-7E04-5661-2E69-9DFD167989EA}"/>
              </a:ext>
            </a:extLst>
          </p:cNvPr>
          <p:cNvSpPr/>
          <p:nvPr/>
        </p:nvSpPr>
        <p:spPr>
          <a:xfrm>
            <a:off x="92202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10E392C-7B9F-7D32-4077-346CD6988D30}"/>
              </a:ext>
            </a:extLst>
          </p:cNvPr>
          <p:cNvSpPr/>
          <p:nvPr/>
        </p:nvSpPr>
        <p:spPr>
          <a:xfrm>
            <a:off x="94996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8B83DDA-93C8-FE60-86B4-241B5CC39E33}"/>
              </a:ext>
            </a:extLst>
          </p:cNvPr>
          <p:cNvSpPr/>
          <p:nvPr/>
        </p:nvSpPr>
        <p:spPr>
          <a:xfrm>
            <a:off x="97790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38CF50A-943D-EE66-F5B7-C29BF97C4367}"/>
              </a:ext>
            </a:extLst>
          </p:cNvPr>
          <p:cNvSpPr/>
          <p:nvPr/>
        </p:nvSpPr>
        <p:spPr>
          <a:xfrm>
            <a:off x="100584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6EFEDE7-A108-5C9F-7F8F-F3C2455387F6}"/>
              </a:ext>
            </a:extLst>
          </p:cNvPr>
          <p:cNvSpPr/>
          <p:nvPr/>
        </p:nvSpPr>
        <p:spPr>
          <a:xfrm>
            <a:off x="10337800" y="18415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C6EEA8F-AC66-97FD-CAA1-47DDC9BC70A0}"/>
              </a:ext>
            </a:extLst>
          </p:cNvPr>
          <p:cNvSpPr txBox="1"/>
          <p:nvPr/>
        </p:nvSpPr>
        <p:spPr>
          <a:xfrm>
            <a:off x="736600" y="24638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VisEdit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C6A7693-3254-9B50-9839-D53E64AAFE42}"/>
              </a:ext>
            </a:extLst>
          </p:cNvPr>
          <p:cNvSpPr/>
          <p:nvPr/>
        </p:nvSpPr>
        <p:spPr>
          <a:xfrm>
            <a:off x="1955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E4F8237-11CA-EE15-2F25-503B1BF46538}"/>
              </a:ext>
            </a:extLst>
          </p:cNvPr>
          <p:cNvSpPr/>
          <p:nvPr/>
        </p:nvSpPr>
        <p:spPr>
          <a:xfrm>
            <a:off x="22352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05F49C8-1755-5366-7F93-854770E4FC9F}"/>
              </a:ext>
            </a:extLst>
          </p:cNvPr>
          <p:cNvSpPr/>
          <p:nvPr/>
        </p:nvSpPr>
        <p:spPr>
          <a:xfrm>
            <a:off x="25146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605285D-8E93-23CA-F452-AE75DDFC31FF}"/>
              </a:ext>
            </a:extLst>
          </p:cNvPr>
          <p:cNvSpPr/>
          <p:nvPr/>
        </p:nvSpPr>
        <p:spPr>
          <a:xfrm>
            <a:off x="27940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C5E5856-7371-60C7-56B4-2E9100665271}"/>
              </a:ext>
            </a:extLst>
          </p:cNvPr>
          <p:cNvSpPr/>
          <p:nvPr/>
        </p:nvSpPr>
        <p:spPr>
          <a:xfrm>
            <a:off x="3073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8B29EB4-FAA7-3895-4DC1-6E7A37240FD8}"/>
              </a:ext>
            </a:extLst>
          </p:cNvPr>
          <p:cNvSpPr/>
          <p:nvPr/>
        </p:nvSpPr>
        <p:spPr>
          <a:xfrm>
            <a:off x="3352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A62743-2FF6-F13C-89DA-2949C97892F0}"/>
              </a:ext>
            </a:extLst>
          </p:cNvPr>
          <p:cNvSpPr/>
          <p:nvPr/>
        </p:nvSpPr>
        <p:spPr>
          <a:xfrm>
            <a:off x="36322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35339C4-F13E-AF52-B1C2-4596076AAF15}"/>
              </a:ext>
            </a:extLst>
          </p:cNvPr>
          <p:cNvSpPr/>
          <p:nvPr/>
        </p:nvSpPr>
        <p:spPr>
          <a:xfrm>
            <a:off x="39116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A5EBA12-077E-A766-186B-B3EDC008ED81}"/>
              </a:ext>
            </a:extLst>
          </p:cNvPr>
          <p:cNvSpPr/>
          <p:nvPr/>
        </p:nvSpPr>
        <p:spPr>
          <a:xfrm>
            <a:off x="41910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BFD755E-838A-00EB-4335-2A098CBB69AB}"/>
              </a:ext>
            </a:extLst>
          </p:cNvPr>
          <p:cNvSpPr/>
          <p:nvPr/>
        </p:nvSpPr>
        <p:spPr>
          <a:xfrm>
            <a:off x="4470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53921BF-1871-FAF8-AE84-263C16AEC918}"/>
              </a:ext>
            </a:extLst>
          </p:cNvPr>
          <p:cNvSpPr/>
          <p:nvPr/>
        </p:nvSpPr>
        <p:spPr>
          <a:xfrm>
            <a:off x="4749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5E153E4-2CAA-FE98-6346-1151428CEFED}"/>
              </a:ext>
            </a:extLst>
          </p:cNvPr>
          <p:cNvSpPr/>
          <p:nvPr/>
        </p:nvSpPr>
        <p:spPr>
          <a:xfrm>
            <a:off x="50292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9FABF25-FB99-E311-4492-9535C2D07B6B}"/>
              </a:ext>
            </a:extLst>
          </p:cNvPr>
          <p:cNvSpPr/>
          <p:nvPr/>
        </p:nvSpPr>
        <p:spPr>
          <a:xfrm>
            <a:off x="53086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39B4768-7E27-7312-99BF-F365789943A8}"/>
              </a:ext>
            </a:extLst>
          </p:cNvPr>
          <p:cNvSpPr/>
          <p:nvPr/>
        </p:nvSpPr>
        <p:spPr>
          <a:xfrm>
            <a:off x="55880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FB2AEC8-7350-8E08-3443-A3E9BEC0927B}"/>
              </a:ext>
            </a:extLst>
          </p:cNvPr>
          <p:cNvSpPr/>
          <p:nvPr/>
        </p:nvSpPr>
        <p:spPr>
          <a:xfrm>
            <a:off x="5867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CED4587-99B0-7461-67BC-AA54EE16C075}"/>
              </a:ext>
            </a:extLst>
          </p:cNvPr>
          <p:cNvSpPr/>
          <p:nvPr/>
        </p:nvSpPr>
        <p:spPr>
          <a:xfrm>
            <a:off x="6146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D62A94F-3F83-F769-9F30-A2670B93F173}"/>
              </a:ext>
            </a:extLst>
          </p:cNvPr>
          <p:cNvSpPr/>
          <p:nvPr/>
        </p:nvSpPr>
        <p:spPr>
          <a:xfrm>
            <a:off x="64262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6FED03-867C-C2C6-2B98-BE7458407C70}"/>
              </a:ext>
            </a:extLst>
          </p:cNvPr>
          <p:cNvSpPr/>
          <p:nvPr/>
        </p:nvSpPr>
        <p:spPr>
          <a:xfrm>
            <a:off x="67056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7E0730A-49FC-83B2-B72C-C45D207CF14E}"/>
              </a:ext>
            </a:extLst>
          </p:cNvPr>
          <p:cNvSpPr/>
          <p:nvPr/>
        </p:nvSpPr>
        <p:spPr>
          <a:xfrm>
            <a:off x="69850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DE51FC4-5B42-F058-F4F7-C04285D64D75}"/>
              </a:ext>
            </a:extLst>
          </p:cNvPr>
          <p:cNvSpPr/>
          <p:nvPr/>
        </p:nvSpPr>
        <p:spPr>
          <a:xfrm>
            <a:off x="7264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B034CE6-C084-B23B-8BA2-E9BA6E2C9744}"/>
              </a:ext>
            </a:extLst>
          </p:cNvPr>
          <p:cNvSpPr/>
          <p:nvPr/>
        </p:nvSpPr>
        <p:spPr>
          <a:xfrm>
            <a:off x="7543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BE03154-E21A-630C-4041-4DFDC012F39B}"/>
              </a:ext>
            </a:extLst>
          </p:cNvPr>
          <p:cNvSpPr/>
          <p:nvPr/>
        </p:nvSpPr>
        <p:spPr>
          <a:xfrm>
            <a:off x="78232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5215BF3-4DBE-963D-1BFE-D2079C4A1232}"/>
              </a:ext>
            </a:extLst>
          </p:cNvPr>
          <p:cNvSpPr/>
          <p:nvPr/>
        </p:nvSpPr>
        <p:spPr>
          <a:xfrm>
            <a:off x="81026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5724626-72E2-C3C1-AE7C-C71586A2280C}"/>
              </a:ext>
            </a:extLst>
          </p:cNvPr>
          <p:cNvSpPr/>
          <p:nvPr/>
        </p:nvSpPr>
        <p:spPr>
          <a:xfrm>
            <a:off x="83820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6425378-3543-CF58-199E-7AE233E3DE77}"/>
              </a:ext>
            </a:extLst>
          </p:cNvPr>
          <p:cNvSpPr/>
          <p:nvPr/>
        </p:nvSpPr>
        <p:spPr>
          <a:xfrm>
            <a:off x="8661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47BAC71-4A17-95A1-9F78-4CD99B568981}"/>
              </a:ext>
            </a:extLst>
          </p:cNvPr>
          <p:cNvSpPr/>
          <p:nvPr/>
        </p:nvSpPr>
        <p:spPr>
          <a:xfrm>
            <a:off x="8940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D19D812-03BB-6C24-5BC8-294B1FEB7ACF}"/>
              </a:ext>
            </a:extLst>
          </p:cNvPr>
          <p:cNvSpPr/>
          <p:nvPr/>
        </p:nvSpPr>
        <p:spPr>
          <a:xfrm>
            <a:off x="9220200" y="2387600"/>
            <a:ext cx="241300" cy="355600"/>
          </a:xfrm>
          <a:prstGeom prst="rect">
            <a:avLst/>
          </a:prstGeom>
          <a:solidFill>
            <a:srgbClr val="3771E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CCDF44D-592D-72C0-1932-77CB47D7B0DA}"/>
              </a:ext>
            </a:extLst>
          </p:cNvPr>
          <p:cNvSpPr/>
          <p:nvPr/>
        </p:nvSpPr>
        <p:spPr>
          <a:xfrm>
            <a:off x="9499600" y="2387600"/>
            <a:ext cx="241300" cy="355600"/>
          </a:xfrm>
          <a:prstGeom prst="rect">
            <a:avLst/>
          </a:prstGeom>
          <a:solidFill>
            <a:srgbClr val="3771E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5958B15-D1FC-6BC5-E479-03FF135CF2B4}"/>
              </a:ext>
            </a:extLst>
          </p:cNvPr>
          <p:cNvSpPr/>
          <p:nvPr/>
        </p:nvSpPr>
        <p:spPr>
          <a:xfrm>
            <a:off x="9779000" y="2387600"/>
            <a:ext cx="241300" cy="355600"/>
          </a:xfrm>
          <a:prstGeom prst="rect">
            <a:avLst/>
          </a:prstGeom>
          <a:solidFill>
            <a:srgbClr val="3771E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6F9EDFA7-5447-1FA3-1342-D3F1251BC3EA}"/>
              </a:ext>
            </a:extLst>
          </p:cNvPr>
          <p:cNvSpPr/>
          <p:nvPr/>
        </p:nvSpPr>
        <p:spPr>
          <a:xfrm>
            <a:off x="100584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415BA4C-5359-6248-6951-1AEBB30C0040}"/>
              </a:ext>
            </a:extLst>
          </p:cNvPr>
          <p:cNvSpPr/>
          <p:nvPr/>
        </p:nvSpPr>
        <p:spPr>
          <a:xfrm>
            <a:off x="10337800" y="23876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ED1FC8A4-36A2-945C-409B-A4EFBF3BB517}"/>
              </a:ext>
            </a:extLst>
          </p:cNvPr>
          <p:cNvSpPr txBox="1"/>
          <p:nvPr/>
        </p:nvSpPr>
        <p:spPr>
          <a:xfrm>
            <a:off x="736600" y="30099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SaLEM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91FD492-495C-EBE0-7638-58FD2454EC74}"/>
              </a:ext>
            </a:extLst>
          </p:cNvPr>
          <p:cNvSpPr/>
          <p:nvPr/>
        </p:nvSpPr>
        <p:spPr>
          <a:xfrm>
            <a:off x="1955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E47DD43-DE5E-998B-E4CE-72B6E1100E6C}"/>
              </a:ext>
            </a:extLst>
          </p:cNvPr>
          <p:cNvSpPr/>
          <p:nvPr/>
        </p:nvSpPr>
        <p:spPr>
          <a:xfrm>
            <a:off x="22352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2A3AA7A-8651-38FF-F02C-6D2D5704F79B}"/>
              </a:ext>
            </a:extLst>
          </p:cNvPr>
          <p:cNvSpPr/>
          <p:nvPr/>
        </p:nvSpPr>
        <p:spPr>
          <a:xfrm>
            <a:off x="25146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EB4B84D-27D5-98EE-3631-09E23A675616}"/>
              </a:ext>
            </a:extLst>
          </p:cNvPr>
          <p:cNvSpPr/>
          <p:nvPr/>
        </p:nvSpPr>
        <p:spPr>
          <a:xfrm>
            <a:off x="2794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7F64B8D-7546-AE05-8537-5E067EDC145B}"/>
              </a:ext>
            </a:extLst>
          </p:cNvPr>
          <p:cNvSpPr/>
          <p:nvPr/>
        </p:nvSpPr>
        <p:spPr>
          <a:xfrm>
            <a:off x="30734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BE0E23FC-CBAB-328C-418D-65E5A2482FEF}"/>
              </a:ext>
            </a:extLst>
          </p:cNvPr>
          <p:cNvSpPr/>
          <p:nvPr/>
        </p:nvSpPr>
        <p:spPr>
          <a:xfrm>
            <a:off x="3352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4EBEDF-AEB1-2720-82D1-2804AD50D3D5}"/>
              </a:ext>
            </a:extLst>
          </p:cNvPr>
          <p:cNvSpPr/>
          <p:nvPr/>
        </p:nvSpPr>
        <p:spPr>
          <a:xfrm>
            <a:off x="36322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4DEF0B7-5C73-E557-530E-F45675ADFEDF}"/>
              </a:ext>
            </a:extLst>
          </p:cNvPr>
          <p:cNvSpPr/>
          <p:nvPr/>
        </p:nvSpPr>
        <p:spPr>
          <a:xfrm>
            <a:off x="39116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3C027EF-467C-4004-8B38-D92644308E17}"/>
              </a:ext>
            </a:extLst>
          </p:cNvPr>
          <p:cNvSpPr/>
          <p:nvPr/>
        </p:nvSpPr>
        <p:spPr>
          <a:xfrm>
            <a:off x="4191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C2074B68-8286-7A10-5B27-4967143FC1C8}"/>
              </a:ext>
            </a:extLst>
          </p:cNvPr>
          <p:cNvSpPr/>
          <p:nvPr/>
        </p:nvSpPr>
        <p:spPr>
          <a:xfrm>
            <a:off x="44704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C320962-993C-5FAA-E4EC-3E8899A84ED8}"/>
              </a:ext>
            </a:extLst>
          </p:cNvPr>
          <p:cNvSpPr/>
          <p:nvPr/>
        </p:nvSpPr>
        <p:spPr>
          <a:xfrm>
            <a:off x="4749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9ED92B4-532A-496D-9B57-B4F9CBBC51F6}"/>
              </a:ext>
            </a:extLst>
          </p:cNvPr>
          <p:cNvSpPr/>
          <p:nvPr/>
        </p:nvSpPr>
        <p:spPr>
          <a:xfrm>
            <a:off x="5029200" y="2933700"/>
            <a:ext cx="241300" cy="355600"/>
          </a:xfrm>
          <a:prstGeom prst="rect">
            <a:avLst/>
          </a:prstGeom>
          <a:solidFill>
            <a:srgbClr val="168E8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9E5C6DD-F41F-7CBE-7FFA-9B3C0CC0D597}"/>
              </a:ext>
            </a:extLst>
          </p:cNvPr>
          <p:cNvSpPr/>
          <p:nvPr/>
        </p:nvSpPr>
        <p:spPr>
          <a:xfrm>
            <a:off x="5308600" y="2933700"/>
            <a:ext cx="241300" cy="355600"/>
          </a:xfrm>
          <a:prstGeom prst="rect">
            <a:avLst/>
          </a:prstGeom>
          <a:solidFill>
            <a:srgbClr val="168E8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3AD4DA0A-1A42-5498-5A51-36618187CD47}"/>
              </a:ext>
            </a:extLst>
          </p:cNvPr>
          <p:cNvSpPr/>
          <p:nvPr/>
        </p:nvSpPr>
        <p:spPr>
          <a:xfrm>
            <a:off x="5588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979370A-36C4-7717-6959-9E80148A88ED}"/>
              </a:ext>
            </a:extLst>
          </p:cNvPr>
          <p:cNvSpPr/>
          <p:nvPr/>
        </p:nvSpPr>
        <p:spPr>
          <a:xfrm>
            <a:off x="5867400" y="2933700"/>
            <a:ext cx="241300" cy="355600"/>
          </a:xfrm>
          <a:prstGeom prst="rect">
            <a:avLst/>
          </a:prstGeom>
          <a:solidFill>
            <a:srgbClr val="168E88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7E0A21B-12FB-0B87-B515-CEDBDE278040}"/>
              </a:ext>
            </a:extLst>
          </p:cNvPr>
          <p:cNvSpPr/>
          <p:nvPr/>
        </p:nvSpPr>
        <p:spPr>
          <a:xfrm>
            <a:off x="6146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21F9BAA-28D5-95B4-B4CD-38D2F095DBB0}"/>
              </a:ext>
            </a:extLst>
          </p:cNvPr>
          <p:cNvSpPr/>
          <p:nvPr/>
        </p:nvSpPr>
        <p:spPr>
          <a:xfrm>
            <a:off x="64262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4CECB63-2CA2-3F0D-1F3C-2B7103BAF0C1}"/>
              </a:ext>
            </a:extLst>
          </p:cNvPr>
          <p:cNvSpPr/>
          <p:nvPr/>
        </p:nvSpPr>
        <p:spPr>
          <a:xfrm>
            <a:off x="67056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79F176F-897D-B1BE-2888-7FFA7A29678A}"/>
              </a:ext>
            </a:extLst>
          </p:cNvPr>
          <p:cNvSpPr/>
          <p:nvPr/>
        </p:nvSpPr>
        <p:spPr>
          <a:xfrm>
            <a:off x="6985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FD3ED09B-EFC5-8093-3A21-A876103C1EDC}"/>
              </a:ext>
            </a:extLst>
          </p:cNvPr>
          <p:cNvSpPr/>
          <p:nvPr/>
        </p:nvSpPr>
        <p:spPr>
          <a:xfrm>
            <a:off x="72644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A1F25B6-9119-09DF-8C34-43DF4931E5C2}"/>
              </a:ext>
            </a:extLst>
          </p:cNvPr>
          <p:cNvSpPr/>
          <p:nvPr/>
        </p:nvSpPr>
        <p:spPr>
          <a:xfrm>
            <a:off x="7543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F597BF8-5E63-EC6D-0053-B6420FF1C8F9}"/>
              </a:ext>
            </a:extLst>
          </p:cNvPr>
          <p:cNvSpPr/>
          <p:nvPr/>
        </p:nvSpPr>
        <p:spPr>
          <a:xfrm>
            <a:off x="78232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E2932C85-357D-307E-38EC-FB6607BA2A24}"/>
              </a:ext>
            </a:extLst>
          </p:cNvPr>
          <p:cNvSpPr/>
          <p:nvPr/>
        </p:nvSpPr>
        <p:spPr>
          <a:xfrm>
            <a:off x="81026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53CF523-E4B3-0BA7-6B5E-747CEEC51CA9}"/>
              </a:ext>
            </a:extLst>
          </p:cNvPr>
          <p:cNvSpPr/>
          <p:nvPr/>
        </p:nvSpPr>
        <p:spPr>
          <a:xfrm>
            <a:off x="8382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BF31355A-AE22-7676-3C05-C0849D03F9E9}"/>
              </a:ext>
            </a:extLst>
          </p:cNvPr>
          <p:cNvSpPr/>
          <p:nvPr/>
        </p:nvSpPr>
        <p:spPr>
          <a:xfrm>
            <a:off x="86614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E888E335-F1D6-847B-D04A-D137FAC16037}"/>
              </a:ext>
            </a:extLst>
          </p:cNvPr>
          <p:cNvSpPr/>
          <p:nvPr/>
        </p:nvSpPr>
        <p:spPr>
          <a:xfrm>
            <a:off x="8940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7D1114F-B229-70DB-DFD8-428AD76D6105}"/>
              </a:ext>
            </a:extLst>
          </p:cNvPr>
          <p:cNvSpPr/>
          <p:nvPr/>
        </p:nvSpPr>
        <p:spPr>
          <a:xfrm>
            <a:off x="92202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64C96A5-E797-D3BC-E6ED-6781588293E7}"/>
              </a:ext>
            </a:extLst>
          </p:cNvPr>
          <p:cNvSpPr/>
          <p:nvPr/>
        </p:nvSpPr>
        <p:spPr>
          <a:xfrm>
            <a:off x="94996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42D2F5C-BCAE-C449-613E-CBCF0DF31619}"/>
              </a:ext>
            </a:extLst>
          </p:cNvPr>
          <p:cNvSpPr/>
          <p:nvPr/>
        </p:nvSpPr>
        <p:spPr>
          <a:xfrm>
            <a:off x="97790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A000213-C256-5260-8D08-D2DB2575A553}"/>
              </a:ext>
            </a:extLst>
          </p:cNvPr>
          <p:cNvSpPr/>
          <p:nvPr/>
        </p:nvSpPr>
        <p:spPr>
          <a:xfrm>
            <a:off x="100584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F40D1C6-6FD6-DAF8-05E0-3A5769D03DCC}"/>
              </a:ext>
            </a:extLst>
          </p:cNvPr>
          <p:cNvSpPr/>
          <p:nvPr/>
        </p:nvSpPr>
        <p:spPr>
          <a:xfrm>
            <a:off x="10337800" y="29337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E78C504-6332-9579-81E5-F817142454E8}"/>
              </a:ext>
            </a:extLst>
          </p:cNvPr>
          <p:cNvSpPr txBox="1"/>
          <p:nvPr/>
        </p:nvSpPr>
        <p:spPr>
          <a:xfrm>
            <a:off x="736600" y="35560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LGA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9BBC681-5C89-7813-1540-6BC8153853E5}"/>
              </a:ext>
            </a:extLst>
          </p:cNvPr>
          <p:cNvSpPr/>
          <p:nvPr/>
        </p:nvSpPr>
        <p:spPr>
          <a:xfrm>
            <a:off x="1955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489D3EA8-14C9-F0C8-ED97-7DE219A719B0}"/>
              </a:ext>
            </a:extLst>
          </p:cNvPr>
          <p:cNvSpPr/>
          <p:nvPr/>
        </p:nvSpPr>
        <p:spPr>
          <a:xfrm>
            <a:off x="2235200" y="3479800"/>
            <a:ext cx="241300" cy="355600"/>
          </a:xfrm>
          <a:prstGeom prst="rect">
            <a:avLst/>
          </a:prstGeom>
          <a:solidFill>
            <a:srgbClr val="7652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15901487-4BC9-3E8E-D052-7A4A0359DDDA}"/>
              </a:ext>
            </a:extLst>
          </p:cNvPr>
          <p:cNvSpPr/>
          <p:nvPr/>
        </p:nvSpPr>
        <p:spPr>
          <a:xfrm>
            <a:off x="2514600" y="3479800"/>
            <a:ext cx="241300" cy="355600"/>
          </a:xfrm>
          <a:prstGeom prst="rect">
            <a:avLst/>
          </a:prstGeom>
          <a:solidFill>
            <a:srgbClr val="7652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1A87109-3F1E-0E5F-B3EA-359ED24C3C76}"/>
              </a:ext>
            </a:extLst>
          </p:cNvPr>
          <p:cNvSpPr/>
          <p:nvPr/>
        </p:nvSpPr>
        <p:spPr>
          <a:xfrm>
            <a:off x="2794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02BE84D5-B473-B7F7-4199-1849878C3F56}"/>
              </a:ext>
            </a:extLst>
          </p:cNvPr>
          <p:cNvSpPr/>
          <p:nvPr/>
        </p:nvSpPr>
        <p:spPr>
          <a:xfrm>
            <a:off x="3073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C9D85073-BABF-7B5F-2428-CFFCC4043EBB}"/>
              </a:ext>
            </a:extLst>
          </p:cNvPr>
          <p:cNvSpPr/>
          <p:nvPr/>
        </p:nvSpPr>
        <p:spPr>
          <a:xfrm>
            <a:off x="3352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424A994E-BDEB-1EC1-F40E-36B827F8C0B7}"/>
              </a:ext>
            </a:extLst>
          </p:cNvPr>
          <p:cNvSpPr/>
          <p:nvPr/>
        </p:nvSpPr>
        <p:spPr>
          <a:xfrm>
            <a:off x="36322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FB34591-6B01-492E-F84D-3333FF256FBE}"/>
              </a:ext>
            </a:extLst>
          </p:cNvPr>
          <p:cNvSpPr/>
          <p:nvPr/>
        </p:nvSpPr>
        <p:spPr>
          <a:xfrm>
            <a:off x="39116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EEFE6CD1-2F2D-BCF1-B8B9-4EEA75B4CDA5}"/>
              </a:ext>
            </a:extLst>
          </p:cNvPr>
          <p:cNvSpPr/>
          <p:nvPr/>
        </p:nvSpPr>
        <p:spPr>
          <a:xfrm>
            <a:off x="4191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DFCC427D-C530-9C70-52AE-88DB0B54DA07}"/>
              </a:ext>
            </a:extLst>
          </p:cNvPr>
          <p:cNvSpPr/>
          <p:nvPr/>
        </p:nvSpPr>
        <p:spPr>
          <a:xfrm>
            <a:off x="4470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6BFE332-BC15-B9C2-B6CA-79F01C4E4C2D}"/>
              </a:ext>
            </a:extLst>
          </p:cNvPr>
          <p:cNvSpPr/>
          <p:nvPr/>
        </p:nvSpPr>
        <p:spPr>
          <a:xfrm>
            <a:off x="4749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F311A14-07A3-7AC1-175F-74B34380009A}"/>
              </a:ext>
            </a:extLst>
          </p:cNvPr>
          <p:cNvSpPr/>
          <p:nvPr/>
        </p:nvSpPr>
        <p:spPr>
          <a:xfrm>
            <a:off x="50292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75ECEA8-8C85-761E-D6F3-91365796392B}"/>
              </a:ext>
            </a:extLst>
          </p:cNvPr>
          <p:cNvSpPr/>
          <p:nvPr/>
        </p:nvSpPr>
        <p:spPr>
          <a:xfrm>
            <a:off x="53086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46B39395-9B22-5582-C51D-BC4B46B3CB22}"/>
              </a:ext>
            </a:extLst>
          </p:cNvPr>
          <p:cNvSpPr/>
          <p:nvPr/>
        </p:nvSpPr>
        <p:spPr>
          <a:xfrm>
            <a:off x="5588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7F5E4AF-63FC-4BF6-C9F8-985CEE7A19F6}"/>
              </a:ext>
            </a:extLst>
          </p:cNvPr>
          <p:cNvSpPr/>
          <p:nvPr/>
        </p:nvSpPr>
        <p:spPr>
          <a:xfrm>
            <a:off x="5867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71EDA262-9118-051C-0117-697266BFFA79}"/>
              </a:ext>
            </a:extLst>
          </p:cNvPr>
          <p:cNvSpPr/>
          <p:nvPr/>
        </p:nvSpPr>
        <p:spPr>
          <a:xfrm>
            <a:off x="6146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2DD05E9D-6E51-33A2-396E-1CC684E93331}"/>
              </a:ext>
            </a:extLst>
          </p:cNvPr>
          <p:cNvSpPr/>
          <p:nvPr/>
        </p:nvSpPr>
        <p:spPr>
          <a:xfrm>
            <a:off x="64262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63AD781C-3304-DFA7-ED9B-52638FC3D8D6}"/>
              </a:ext>
            </a:extLst>
          </p:cNvPr>
          <p:cNvSpPr/>
          <p:nvPr/>
        </p:nvSpPr>
        <p:spPr>
          <a:xfrm>
            <a:off x="67056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28BF9619-8524-9BDD-2337-247C9689865C}"/>
              </a:ext>
            </a:extLst>
          </p:cNvPr>
          <p:cNvSpPr/>
          <p:nvPr/>
        </p:nvSpPr>
        <p:spPr>
          <a:xfrm>
            <a:off x="6985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D402A5F2-3238-8E52-A9BF-9290C6140121}"/>
              </a:ext>
            </a:extLst>
          </p:cNvPr>
          <p:cNvSpPr/>
          <p:nvPr/>
        </p:nvSpPr>
        <p:spPr>
          <a:xfrm>
            <a:off x="7264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A585255-D9BE-F0E1-1B3D-151CBF4458F0}"/>
              </a:ext>
            </a:extLst>
          </p:cNvPr>
          <p:cNvSpPr/>
          <p:nvPr/>
        </p:nvSpPr>
        <p:spPr>
          <a:xfrm>
            <a:off x="7543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9F2EE96E-DC00-E227-A811-1109084C6380}"/>
              </a:ext>
            </a:extLst>
          </p:cNvPr>
          <p:cNvSpPr/>
          <p:nvPr/>
        </p:nvSpPr>
        <p:spPr>
          <a:xfrm>
            <a:off x="78232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EC14BB70-404A-CEEE-3FE4-D93C56D8BF83}"/>
              </a:ext>
            </a:extLst>
          </p:cNvPr>
          <p:cNvSpPr/>
          <p:nvPr/>
        </p:nvSpPr>
        <p:spPr>
          <a:xfrm>
            <a:off x="81026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8C92A4C6-474F-D840-60F6-E69A1BCE3331}"/>
              </a:ext>
            </a:extLst>
          </p:cNvPr>
          <p:cNvSpPr/>
          <p:nvPr/>
        </p:nvSpPr>
        <p:spPr>
          <a:xfrm>
            <a:off x="8382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A1748969-BAA1-42CC-3B52-3C705B6E3023}"/>
              </a:ext>
            </a:extLst>
          </p:cNvPr>
          <p:cNvSpPr/>
          <p:nvPr/>
        </p:nvSpPr>
        <p:spPr>
          <a:xfrm>
            <a:off x="8661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96533E0C-04AE-3DCF-32FF-218420681A0E}"/>
              </a:ext>
            </a:extLst>
          </p:cNvPr>
          <p:cNvSpPr/>
          <p:nvPr/>
        </p:nvSpPr>
        <p:spPr>
          <a:xfrm>
            <a:off x="89408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9CDA98EC-699D-EB2C-A67C-D2DA4504D09C}"/>
              </a:ext>
            </a:extLst>
          </p:cNvPr>
          <p:cNvSpPr/>
          <p:nvPr/>
        </p:nvSpPr>
        <p:spPr>
          <a:xfrm>
            <a:off x="92202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718FB38-4C46-7CE5-FFD7-3EE9D67ECD2D}"/>
              </a:ext>
            </a:extLst>
          </p:cNvPr>
          <p:cNvSpPr/>
          <p:nvPr/>
        </p:nvSpPr>
        <p:spPr>
          <a:xfrm>
            <a:off x="94996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103ED99-B7C8-1CAD-EE7E-E20608A8EDED}"/>
              </a:ext>
            </a:extLst>
          </p:cNvPr>
          <p:cNvSpPr/>
          <p:nvPr/>
        </p:nvSpPr>
        <p:spPr>
          <a:xfrm>
            <a:off x="97790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7CE00F7-D441-EFB2-75C4-90ED1887B220}"/>
              </a:ext>
            </a:extLst>
          </p:cNvPr>
          <p:cNvSpPr/>
          <p:nvPr/>
        </p:nvSpPr>
        <p:spPr>
          <a:xfrm>
            <a:off x="10058400" y="34798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FB1A198-3F95-648B-2C44-4C573BF846E7}"/>
              </a:ext>
            </a:extLst>
          </p:cNvPr>
          <p:cNvSpPr/>
          <p:nvPr/>
        </p:nvSpPr>
        <p:spPr>
          <a:xfrm>
            <a:off x="10337800" y="3479800"/>
            <a:ext cx="241300" cy="355600"/>
          </a:xfrm>
          <a:prstGeom prst="rect">
            <a:avLst/>
          </a:prstGeom>
          <a:solidFill>
            <a:srgbClr val="7652D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ED98CDF-4E99-B299-20A9-DDD9794D23D2}"/>
              </a:ext>
            </a:extLst>
          </p:cNvPr>
          <p:cNvSpPr txBox="1"/>
          <p:nvPr/>
        </p:nvSpPr>
        <p:spPr>
          <a:xfrm>
            <a:off x="736600" y="41021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Perturb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82A3BE72-74EC-8430-1CD3-A6C83177D606}"/>
              </a:ext>
            </a:extLst>
          </p:cNvPr>
          <p:cNvSpPr/>
          <p:nvPr/>
        </p:nvSpPr>
        <p:spPr>
          <a:xfrm>
            <a:off x="1955800" y="4025900"/>
            <a:ext cx="241300" cy="355600"/>
          </a:xfrm>
          <a:prstGeom prst="rect">
            <a:avLst/>
          </a:prstGeom>
          <a:solidFill>
            <a:srgbClr val="EE8F34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2BEB2FB-457E-A224-9B9A-8711EB3FA9B9}"/>
              </a:ext>
            </a:extLst>
          </p:cNvPr>
          <p:cNvSpPr/>
          <p:nvPr/>
        </p:nvSpPr>
        <p:spPr>
          <a:xfrm>
            <a:off x="2235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58E9C190-6387-E674-D94D-3B877F78F7AC}"/>
              </a:ext>
            </a:extLst>
          </p:cNvPr>
          <p:cNvSpPr/>
          <p:nvPr/>
        </p:nvSpPr>
        <p:spPr>
          <a:xfrm>
            <a:off x="2514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5FFB78F-EF75-6FA1-00A1-B681BDDE544A}"/>
              </a:ext>
            </a:extLst>
          </p:cNvPr>
          <p:cNvSpPr/>
          <p:nvPr/>
        </p:nvSpPr>
        <p:spPr>
          <a:xfrm>
            <a:off x="27940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0561F54F-93B3-20E4-AE33-C6E35068A6C3}"/>
              </a:ext>
            </a:extLst>
          </p:cNvPr>
          <p:cNvSpPr/>
          <p:nvPr/>
        </p:nvSpPr>
        <p:spPr>
          <a:xfrm>
            <a:off x="30734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EAA08325-201D-4501-91CA-FCE098930AC7}"/>
              </a:ext>
            </a:extLst>
          </p:cNvPr>
          <p:cNvSpPr/>
          <p:nvPr/>
        </p:nvSpPr>
        <p:spPr>
          <a:xfrm>
            <a:off x="3352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934B879-3735-CDF2-527B-7E1EBF3647B3}"/>
              </a:ext>
            </a:extLst>
          </p:cNvPr>
          <p:cNvSpPr/>
          <p:nvPr/>
        </p:nvSpPr>
        <p:spPr>
          <a:xfrm>
            <a:off x="3632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4CD25FE-BF1C-0CDA-34C8-E9529FB32048}"/>
              </a:ext>
            </a:extLst>
          </p:cNvPr>
          <p:cNvSpPr/>
          <p:nvPr/>
        </p:nvSpPr>
        <p:spPr>
          <a:xfrm>
            <a:off x="3911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8EC0E04-0CDE-91B9-41EA-E892A3923B93}"/>
              </a:ext>
            </a:extLst>
          </p:cNvPr>
          <p:cNvSpPr/>
          <p:nvPr/>
        </p:nvSpPr>
        <p:spPr>
          <a:xfrm>
            <a:off x="41910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A9BC5CE6-0C43-7A76-569A-1C6AD895B9BA}"/>
              </a:ext>
            </a:extLst>
          </p:cNvPr>
          <p:cNvSpPr/>
          <p:nvPr/>
        </p:nvSpPr>
        <p:spPr>
          <a:xfrm>
            <a:off x="44704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9E096BE-1924-3B48-9974-EE564B9348F2}"/>
              </a:ext>
            </a:extLst>
          </p:cNvPr>
          <p:cNvSpPr/>
          <p:nvPr/>
        </p:nvSpPr>
        <p:spPr>
          <a:xfrm>
            <a:off x="4749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C2E743F-1A5A-277B-754E-C155BD63A5CB}"/>
              </a:ext>
            </a:extLst>
          </p:cNvPr>
          <p:cNvSpPr/>
          <p:nvPr/>
        </p:nvSpPr>
        <p:spPr>
          <a:xfrm>
            <a:off x="5029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885A891-3A24-4071-F55E-1C76BE8D92D5}"/>
              </a:ext>
            </a:extLst>
          </p:cNvPr>
          <p:cNvSpPr/>
          <p:nvPr/>
        </p:nvSpPr>
        <p:spPr>
          <a:xfrm>
            <a:off x="5308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ABFD83EE-571D-D3E3-C4F4-ADFB575FE20E}"/>
              </a:ext>
            </a:extLst>
          </p:cNvPr>
          <p:cNvSpPr/>
          <p:nvPr/>
        </p:nvSpPr>
        <p:spPr>
          <a:xfrm>
            <a:off x="5588000" y="4025900"/>
            <a:ext cx="241300" cy="355600"/>
          </a:xfrm>
          <a:prstGeom prst="rect">
            <a:avLst/>
          </a:prstGeom>
          <a:solidFill>
            <a:srgbClr val="EE8F34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B8686C4E-94D9-5072-95C2-CF5AF7FE7A19}"/>
              </a:ext>
            </a:extLst>
          </p:cNvPr>
          <p:cNvSpPr/>
          <p:nvPr/>
        </p:nvSpPr>
        <p:spPr>
          <a:xfrm>
            <a:off x="5867400" y="4025900"/>
            <a:ext cx="241300" cy="355600"/>
          </a:xfrm>
          <a:prstGeom prst="rect">
            <a:avLst/>
          </a:prstGeom>
          <a:solidFill>
            <a:srgbClr val="EE8F34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28F9E40-D0C2-1784-711F-878B6A9CC1C2}"/>
              </a:ext>
            </a:extLst>
          </p:cNvPr>
          <p:cNvSpPr/>
          <p:nvPr/>
        </p:nvSpPr>
        <p:spPr>
          <a:xfrm>
            <a:off x="6146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61C8BEDE-EAD1-C663-60AC-B057DFD6FAE3}"/>
              </a:ext>
            </a:extLst>
          </p:cNvPr>
          <p:cNvSpPr/>
          <p:nvPr/>
        </p:nvSpPr>
        <p:spPr>
          <a:xfrm>
            <a:off x="6426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9175D215-68DE-05E2-7F5A-4DEB2CDDA15F}"/>
              </a:ext>
            </a:extLst>
          </p:cNvPr>
          <p:cNvSpPr/>
          <p:nvPr/>
        </p:nvSpPr>
        <p:spPr>
          <a:xfrm>
            <a:off x="6705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F1B392C1-FCD1-6B7F-F6B0-F81BD167AA8F}"/>
              </a:ext>
            </a:extLst>
          </p:cNvPr>
          <p:cNvSpPr/>
          <p:nvPr/>
        </p:nvSpPr>
        <p:spPr>
          <a:xfrm>
            <a:off x="69850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C10A272B-369D-7D6E-931A-012C7AC3F9DA}"/>
              </a:ext>
            </a:extLst>
          </p:cNvPr>
          <p:cNvSpPr/>
          <p:nvPr/>
        </p:nvSpPr>
        <p:spPr>
          <a:xfrm>
            <a:off x="72644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C97C3A46-0C18-FBE3-9B93-058FA8EF44E7}"/>
              </a:ext>
            </a:extLst>
          </p:cNvPr>
          <p:cNvSpPr/>
          <p:nvPr/>
        </p:nvSpPr>
        <p:spPr>
          <a:xfrm>
            <a:off x="7543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D0E68E0A-0C72-CF01-C652-22C4F5E38DF3}"/>
              </a:ext>
            </a:extLst>
          </p:cNvPr>
          <p:cNvSpPr/>
          <p:nvPr/>
        </p:nvSpPr>
        <p:spPr>
          <a:xfrm>
            <a:off x="7823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FC422EB1-6F73-A15D-3D5F-9ACF84765E61}"/>
              </a:ext>
            </a:extLst>
          </p:cNvPr>
          <p:cNvSpPr/>
          <p:nvPr/>
        </p:nvSpPr>
        <p:spPr>
          <a:xfrm>
            <a:off x="8102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CBC0CA76-F063-EF0D-0193-6FE63F189193}"/>
              </a:ext>
            </a:extLst>
          </p:cNvPr>
          <p:cNvSpPr/>
          <p:nvPr/>
        </p:nvSpPr>
        <p:spPr>
          <a:xfrm>
            <a:off x="83820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4481DA81-C9BB-F827-297B-31161A058F17}"/>
              </a:ext>
            </a:extLst>
          </p:cNvPr>
          <p:cNvSpPr/>
          <p:nvPr/>
        </p:nvSpPr>
        <p:spPr>
          <a:xfrm>
            <a:off x="86614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0AC2081D-237F-9F62-0E66-4878BFF00876}"/>
              </a:ext>
            </a:extLst>
          </p:cNvPr>
          <p:cNvSpPr/>
          <p:nvPr/>
        </p:nvSpPr>
        <p:spPr>
          <a:xfrm>
            <a:off x="8940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98B9694C-C988-944A-DD68-ABB6C5DAB125}"/>
              </a:ext>
            </a:extLst>
          </p:cNvPr>
          <p:cNvSpPr/>
          <p:nvPr/>
        </p:nvSpPr>
        <p:spPr>
          <a:xfrm>
            <a:off x="92202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0D58EE77-FABC-BBD7-D561-719027E94DAD}"/>
              </a:ext>
            </a:extLst>
          </p:cNvPr>
          <p:cNvSpPr/>
          <p:nvPr/>
        </p:nvSpPr>
        <p:spPr>
          <a:xfrm>
            <a:off x="94996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2D4620AE-2FC5-5F27-711C-249D5F1A2FC1}"/>
              </a:ext>
            </a:extLst>
          </p:cNvPr>
          <p:cNvSpPr/>
          <p:nvPr/>
        </p:nvSpPr>
        <p:spPr>
          <a:xfrm>
            <a:off x="97790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8A645F7F-C6FC-5D1D-C5FA-64554CF02543}"/>
              </a:ext>
            </a:extLst>
          </p:cNvPr>
          <p:cNvSpPr/>
          <p:nvPr/>
        </p:nvSpPr>
        <p:spPr>
          <a:xfrm>
            <a:off x="100584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71DDE55-9E50-7755-B9D5-859F7E59B414}"/>
              </a:ext>
            </a:extLst>
          </p:cNvPr>
          <p:cNvSpPr/>
          <p:nvPr/>
        </p:nvSpPr>
        <p:spPr>
          <a:xfrm>
            <a:off x="10337800" y="40259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9C3DDC39-6378-78A8-9C1E-97E7927C6BF1}"/>
              </a:ext>
            </a:extLst>
          </p:cNvPr>
          <p:cNvSpPr txBox="1"/>
          <p:nvPr/>
        </p:nvSpPr>
        <p:spPr>
          <a:xfrm>
            <a:off x="736600" y="46482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F2A37"/>
                </a:solidFill>
                <a:latin typeface="Arial" panose="020B0604020202020204" pitchFamily="34" charset="0"/>
              </a:rPr>
              <a:t>CMA</a:t>
            </a:r>
            <a:endParaRPr lang="zh-CN" altLang="en-US" sz="1200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BA8BD3CF-4A52-4DDD-E8B2-3B8C09166688}"/>
              </a:ext>
            </a:extLst>
          </p:cNvPr>
          <p:cNvSpPr/>
          <p:nvPr/>
        </p:nvSpPr>
        <p:spPr>
          <a:xfrm>
            <a:off x="1955800" y="4572000"/>
            <a:ext cx="241300" cy="355600"/>
          </a:xfrm>
          <a:prstGeom prst="rect">
            <a:avLst/>
          </a:prstGeom>
          <a:solidFill>
            <a:srgbClr val="D74949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764170F3-8788-7E2E-62A8-EB6EF489261F}"/>
              </a:ext>
            </a:extLst>
          </p:cNvPr>
          <p:cNvSpPr/>
          <p:nvPr/>
        </p:nvSpPr>
        <p:spPr>
          <a:xfrm>
            <a:off x="2235200" y="4572000"/>
            <a:ext cx="241300" cy="355600"/>
          </a:xfrm>
          <a:prstGeom prst="rect">
            <a:avLst/>
          </a:prstGeom>
          <a:solidFill>
            <a:srgbClr val="D74949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187FC083-2FB9-2012-3F0D-24F3CF509D73}"/>
              </a:ext>
            </a:extLst>
          </p:cNvPr>
          <p:cNvSpPr/>
          <p:nvPr/>
        </p:nvSpPr>
        <p:spPr>
          <a:xfrm>
            <a:off x="2514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A1BA2E4F-0863-A442-EE19-3983B72E53CC}"/>
              </a:ext>
            </a:extLst>
          </p:cNvPr>
          <p:cNvSpPr/>
          <p:nvPr/>
        </p:nvSpPr>
        <p:spPr>
          <a:xfrm>
            <a:off x="2794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FF83495F-A297-CEA2-0431-7D899C632F76}"/>
              </a:ext>
            </a:extLst>
          </p:cNvPr>
          <p:cNvSpPr/>
          <p:nvPr/>
        </p:nvSpPr>
        <p:spPr>
          <a:xfrm>
            <a:off x="3073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B7A38079-396F-C309-54BF-27207FE1521A}"/>
              </a:ext>
            </a:extLst>
          </p:cNvPr>
          <p:cNvSpPr/>
          <p:nvPr/>
        </p:nvSpPr>
        <p:spPr>
          <a:xfrm>
            <a:off x="3352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E01B862F-6977-FDBD-A318-49C65CC639FE}"/>
              </a:ext>
            </a:extLst>
          </p:cNvPr>
          <p:cNvSpPr/>
          <p:nvPr/>
        </p:nvSpPr>
        <p:spPr>
          <a:xfrm>
            <a:off x="3632200" y="4572000"/>
            <a:ext cx="241300" cy="355600"/>
          </a:xfrm>
          <a:prstGeom prst="rect">
            <a:avLst/>
          </a:prstGeom>
          <a:solidFill>
            <a:srgbClr val="D74949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B61B61F0-CA2F-7C20-C13B-7410CB8242BE}"/>
              </a:ext>
            </a:extLst>
          </p:cNvPr>
          <p:cNvSpPr/>
          <p:nvPr/>
        </p:nvSpPr>
        <p:spPr>
          <a:xfrm>
            <a:off x="3911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73A8859D-E34A-AD10-CDF8-8E99300FE73B}"/>
              </a:ext>
            </a:extLst>
          </p:cNvPr>
          <p:cNvSpPr/>
          <p:nvPr/>
        </p:nvSpPr>
        <p:spPr>
          <a:xfrm>
            <a:off x="4191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CEEA8DF1-55A4-F2E3-6076-EE7D020874FD}"/>
              </a:ext>
            </a:extLst>
          </p:cNvPr>
          <p:cNvSpPr/>
          <p:nvPr/>
        </p:nvSpPr>
        <p:spPr>
          <a:xfrm>
            <a:off x="4470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144116D5-1354-0CD0-7867-9C291537D5A7}"/>
              </a:ext>
            </a:extLst>
          </p:cNvPr>
          <p:cNvSpPr/>
          <p:nvPr/>
        </p:nvSpPr>
        <p:spPr>
          <a:xfrm>
            <a:off x="4749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B4C0C1DD-7F29-20E2-F026-A65E0EAA17A7}"/>
              </a:ext>
            </a:extLst>
          </p:cNvPr>
          <p:cNvSpPr/>
          <p:nvPr/>
        </p:nvSpPr>
        <p:spPr>
          <a:xfrm>
            <a:off x="50292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F34D6322-EE50-2CE4-F62F-FCD050E4608F}"/>
              </a:ext>
            </a:extLst>
          </p:cNvPr>
          <p:cNvSpPr/>
          <p:nvPr/>
        </p:nvSpPr>
        <p:spPr>
          <a:xfrm>
            <a:off x="5308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614BBC12-C8BD-FBEE-36ED-231A6D5D7922}"/>
              </a:ext>
            </a:extLst>
          </p:cNvPr>
          <p:cNvSpPr/>
          <p:nvPr/>
        </p:nvSpPr>
        <p:spPr>
          <a:xfrm>
            <a:off x="5588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B907DC4A-EC45-D5F4-666C-91C4AE46C5E4}"/>
              </a:ext>
            </a:extLst>
          </p:cNvPr>
          <p:cNvSpPr/>
          <p:nvPr/>
        </p:nvSpPr>
        <p:spPr>
          <a:xfrm>
            <a:off x="5867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5B483C97-0CAD-EB66-A598-8B0F771E0579}"/>
              </a:ext>
            </a:extLst>
          </p:cNvPr>
          <p:cNvSpPr/>
          <p:nvPr/>
        </p:nvSpPr>
        <p:spPr>
          <a:xfrm>
            <a:off x="6146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9C88986E-BA84-D1B2-CC85-329C58CD6E55}"/>
              </a:ext>
            </a:extLst>
          </p:cNvPr>
          <p:cNvSpPr/>
          <p:nvPr/>
        </p:nvSpPr>
        <p:spPr>
          <a:xfrm>
            <a:off x="64262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E781C193-5C14-C236-D0DE-8656784D6637}"/>
              </a:ext>
            </a:extLst>
          </p:cNvPr>
          <p:cNvSpPr/>
          <p:nvPr/>
        </p:nvSpPr>
        <p:spPr>
          <a:xfrm>
            <a:off x="6705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753334F3-8444-B3F2-C678-9853A8982508}"/>
              </a:ext>
            </a:extLst>
          </p:cNvPr>
          <p:cNvSpPr/>
          <p:nvPr/>
        </p:nvSpPr>
        <p:spPr>
          <a:xfrm>
            <a:off x="6985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6EBDFF50-DE92-DFE6-CBEC-568FBB013BE2}"/>
              </a:ext>
            </a:extLst>
          </p:cNvPr>
          <p:cNvSpPr/>
          <p:nvPr/>
        </p:nvSpPr>
        <p:spPr>
          <a:xfrm>
            <a:off x="7264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FC46F5EF-4AE0-B336-52D7-19DEE9C9B7B9}"/>
              </a:ext>
            </a:extLst>
          </p:cNvPr>
          <p:cNvSpPr/>
          <p:nvPr/>
        </p:nvSpPr>
        <p:spPr>
          <a:xfrm>
            <a:off x="7543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5318F230-337C-5D4A-2A5D-9749CA03DF57}"/>
              </a:ext>
            </a:extLst>
          </p:cNvPr>
          <p:cNvSpPr/>
          <p:nvPr/>
        </p:nvSpPr>
        <p:spPr>
          <a:xfrm>
            <a:off x="78232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80B4E26C-F6A8-9B52-D3CA-247AE8B8334F}"/>
              </a:ext>
            </a:extLst>
          </p:cNvPr>
          <p:cNvSpPr/>
          <p:nvPr/>
        </p:nvSpPr>
        <p:spPr>
          <a:xfrm>
            <a:off x="8102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FF777326-31D5-791A-DC8E-47DAE40F547A}"/>
              </a:ext>
            </a:extLst>
          </p:cNvPr>
          <p:cNvSpPr/>
          <p:nvPr/>
        </p:nvSpPr>
        <p:spPr>
          <a:xfrm>
            <a:off x="8382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C49264D9-E46B-7CF6-E7E3-044E68FB0C6F}"/>
              </a:ext>
            </a:extLst>
          </p:cNvPr>
          <p:cNvSpPr/>
          <p:nvPr/>
        </p:nvSpPr>
        <p:spPr>
          <a:xfrm>
            <a:off x="8661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CF349C97-CED5-2351-12E9-CD986A6DEA0B}"/>
              </a:ext>
            </a:extLst>
          </p:cNvPr>
          <p:cNvSpPr/>
          <p:nvPr/>
        </p:nvSpPr>
        <p:spPr>
          <a:xfrm>
            <a:off x="8940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7CDD7AB8-6DD8-5035-3483-F169CFC6A4F6}"/>
              </a:ext>
            </a:extLst>
          </p:cNvPr>
          <p:cNvSpPr/>
          <p:nvPr/>
        </p:nvSpPr>
        <p:spPr>
          <a:xfrm>
            <a:off x="92202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1C7152CC-6971-8316-8EA2-CEDFA7D67C04}"/>
              </a:ext>
            </a:extLst>
          </p:cNvPr>
          <p:cNvSpPr/>
          <p:nvPr/>
        </p:nvSpPr>
        <p:spPr>
          <a:xfrm>
            <a:off x="94996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F7B26145-6F81-5525-380F-52E9C75B748B}"/>
              </a:ext>
            </a:extLst>
          </p:cNvPr>
          <p:cNvSpPr/>
          <p:nvPr/>
        </p:nvSpPr>
        <p:spPr>
          <a:xfrm>
            <a:off x="97790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C591BECB-595C-1143-8A6D-B89D452D85A3}"/>
              </a:ext>
            </a:extLst>
          </p:cNvPr>
          <p:cNvSpPr/>
          <p:nvPr/>
        </p:nvSpPr>
        <p:spPr>
          <a:xfrm>
            <a:off x="100584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FCDE8657-6839-B414-D779-820C349028E8}"/>
              </a:ext>
            </a:extLst>
          </p:cNvPr>
          <p:cNvSpPr/>
          <p:nvPr/>
        </p:nvSpPr>
        <p:spPr>
          <a:xfrm>
            <a:off x="10337800" y="45720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5A3AF08B-07BB-C363-3C7A-E65EB0D39E0C}"/>
              </a:ext>
            </a:extLst>
          </p:cNvPr>
          <p:cNvSpPr txBox="1"/>
          <p:nvPr/>
        </p:nvSpPr>
        <p:spPr>
          <a:xfrm>
            <a:off x="736600" y="5194300"/>
            <a:ext cx="107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1F2A37"/>
                </a:solidFill>
                <a:latin typeface="Arial" panose="020B0604020202020204" pitchFamily="34" charset="0"/>
              </a:rPr>
              <a:t>Ours</a:t>
            </a:r>
            <a:endParaRPr lang="zh-CN" altLang="en-US" sz="1200" b="1">
              <a:solidFill>
                <a:srgbClr val="1F2A37"/>
              </a:solidFill>
              <a:latin typeface="Arial" panose="020B0604020202020204" pitchFamily="34" charset="0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F9A432D6-8346-16B2-0E91-1812E7BDAF72}"/>
              </a:ext>
            </a:extLst>
          </p:cNvPr>
          <p:cNvSpPr/>
          <p:nvPr/>
        </p:nvSpPr>
        <p:spPr>
          <a:xfrm>
            <a:off x="1955800" y="5118100"/>
            <a:ext cx="241300" cy="355600"/>
          </a:xfrm>
          <a:prstGeom prst="rect">
            <a:avLst/>
          </a:prstGeom>
          <a:solidFill>
            <a:srgbClr val="36A07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59999D2-54F7-D2E6-5E9E-9A8E8B8D943C}"/>
              </a:ext>
            </a:extLst>
          </p:cNvPr>
          <p:cNvSpPr/>
          <p:nvPr/>
        </p:nvSpPr>
        <p:spPr>
          <a:xfrm>
            <a:off x="2235200" y="5118100"/>
            <a:ext cx="241300" cy="355600"/>
          </a:xfrm>
          <a:prstGeom prst="rect">
            <a:avLst/>
          </a:prstGeom>
          <a:solidFill>
            <a:srgbClr val="36A07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11EC6D62-4A9C-624D-BD92-6CB775AB2D19}"/>
              </a:ext>
            </a:extLst>
          </p:cNvPr>
          <p:cNvSpPr/>
          <p:nvPr/>
        </p:nvSpPr>
        <p:spPr>
          <a:xfrm>
            <a:off x="2514600" y="5118100"/>
            <a:ext cx="241300" cy="355600"/>
          </a:xfrm>
          <a:prstGeom prst="rect">
            <a:avLst/>
          </a:prstGeom>
          <a:solidFill>
            <a:srgbClr val="36A07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E62901A3-CD8D-45F9-4808-6FE39FC5E78C}"/>
              </a:ext>
            </a:extLst>
          </p:cNvPr>
          <p:cNvSpPr/>
          <p:nvPr/>
        </p:nvSpPr>
        <p:spPr>
          <a:xfrm>
            <a:off x="2794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07893F54-BB40-F1C3-B457-2BC192888AC5}"/>
              </a:ext>
            </a:extLst>
          </p:cNvPr>
          <p:cNvSpPr/>
          <p:nvPr/>
        </p:nvSpPr>
        <p:spPr>
          <a:xfrm>
            <a:off x="3073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2F9400DC-6390-08CA-831B-77C53202709D}"/>
              </a:ext>
            </a:extLst>
          </p:cNvPr>
          <p:cNvSpPr/>
          <p:nvPr/>
        </p:nvSpPr>
        <p:spPr>
          <a:xfrm>
            <a:off x="3352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E048DCC0-62F9-EF6E-8E6A-05F424872CDC}"/>
              </a:ext>
            </a:extLst>
          </p:cNvPr>
          <p:cNvSpPr/>
          <p:nvPr/>
        </p:nvSpPr>
        <p:spPr>
          <a:xfrm>
            <a:off x="36322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F7D2125F-4275-DE2A-6134-62E30A5E2AA5}"/>
              </a:ext>
            </a:extLst>
          </p:cNvPr>
          <p:cNvSpPr/>
          <p:nvPr/>
        </p:nvSpPr>
        <p:spPr>
          <a:xfrm>
            <a:off x="39116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C3A841FA-A162-8F5C-1504-A7A79B88B38D}"/>
              </a:ext>
            </a:extLst>
          </p:cNvPr>
          <p:cNvSpPr/>
          <p:nvPr/>
        </p:nvSpPr>
        <p:spPr>
          <a:xfrm>
            <a:off x="4191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5960AA5A-D7CF-584A-9F0E-61D412A6123A}"/>
              </a:ext>
            </a:extLst>
          </p:cNvPr>
          <p:cNvSpPr/>
          <p:nvPr/>
        </p:nvSpPr>
        <p:spPr>
          <a:xfrm>
            <a:off x="4470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147B58BA-221B-85C6-8C7B-2976E48596C4}"/>
              </a:ext>
            </a:extLst>
          </p:cNvPr>
          <p:cNvSpPr/>
          <p:nvPr/>
        </p:nvSpPr>
        <p:spPr>
          <a:xfrm>
            <a:off x="4749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E6374BBB-F889-355D-0110-ECFC4F54A493}"/>
              </a:ext>
            </a:extLst>
          </p:cNvPr>
          <p:cNvSpPr/>
          <p:nvPr/>
        </p:nvSpPr>
        <p:spPr>
          <a:xfrm>
            <a:off x="50292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D342F35-53BF-7961-8429-10847518DFAC}"/>
              </a:ext>
            </a:extLst>
          </p:cNvPr>
          <p:cNvSpPr/>
          <p:nvPr/>
        </p:nvSpPr>
        <p:spPr>
          <a:xfrm>
            <a:off x="53086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F424F75E-E13B-2585-6DB9-2AE9300A6350}"/>
              </a:ext>
            </a:extLst>
          </p:cNvPr>
          <p:cNvSpPr/>
          <p:nvPr/>
        </p:nvSpPr>
        <p:spPr>
          <a:xfrm>
            <a:off x="5588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5BBA9DD8-C80F-80E6-BB00-97704A270A68}"/>
              </a:ext>
            </a:extLst>
          </p:cNvPr>
          <p:cNvSpPr/>
          <p:nvPr/>
        </p:nvSpPr>
        <p:spPr>
          <a:xfrm>
            <a:off x="5867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305FC6CF-35ED-969D-B204-90BC9017F8ED}"/>
              </a:ext>
            </a:extLst>
          </p:cNvPr>
          <p:cNvSpPr/>
          <p:nvPr/>
        </p:nvSpPr>
        <p:spPr>
          <a:xfrm>
            <a:off x="6146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63DA67FC-02F8-943E-AAA4-3CD63E4AD372}"/>
              </a:ext>
            </a:extLst>
          </p:cNvPr>
          <p:cNvSpPr/>
          <p:nvPr/>
        </p:nvSpPr>
        <p:spPr>
          <a:xfrm>
            <a:off x="64262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8F562E2-73DB-B142-205F-1B460A494013}"/>
              </a:ext>
            </a:extLst>
          </p:cNvPr>
          <p:cNvSpPr/>
          <p:nvPr/>
        </p:nvSpPr>
        <p:spPr>
          <a:xfrm>
            <a:off x="67056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55C5B972-B865-F082-F23D-DC2B8FB72FD8}"/>
              </a:ext>
            </a:extLst>
          </p:cNvPr>
          <p:cNvSpPr/>
          <p:nvPr/>
        </p:nvSpPr>
        <p:spPr>
          <a:xfrm>
            <a:off x="6985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62D407C-BD54-5859-D602-3EE30B62D1FB}"/>
              </a:ext>
            </a:extLst>
          </p:cNvPr>
          <p:cNvSpPr/>
          <p:nvPr/>
        </p:nvSpPr>
        <p:spPr>
          <a:xfrm>
            <a:off x="7264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E70CDFB-7B77-F179-46B6-46DFD00644BC}"/>
              </a:ext>
            </a:extLst>
          </p:cNvPr>
          <p:cNvSpPr/>
          <p:nvPr/>
        </p:nvSpPr>
        <p:spPr>
          <a:xfrm>
            <a:off x="7543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DDF30568-2AF8-7CB2-D3ED-78EB77CE2075}"/>
              </a:ext>
            </a:extLst>
          </p:cNvPr>
          <p:cNvSpPr/>
          <p:nvPr/>
        </p:nvSpPr>
        <p:spPr>
          <a:xfrm>
            <a:off x="78232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C8AFA76E-9D62-3D41-766E-D007F1BE12ED}"/>
              </a:ext>
            </a:extLst>
          </p:cNvPr>
          <p:cNvSpPr/>
          <p:nvPr/>
        </p:nvSpPr>
        <p:spPr>
          <a:xfrm>
            <a:off x="81026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4BA15C45-BCFB-BDDA-CD65-9EE43D6862D0}"/>
              </a:ext>
            </a:extLst>
          </p:cNvPr>
          <p:cNvSpPr/>
          <p:nvPr/>
        </p:nvSpPr>
        <p:spPr>
          <a:xfrm>
            <a:off x="8382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59DAD049-120A-E16F-0185-20C79F207162}"/>
              </a:ext>
            </a:extLst>
          </p:cNvPr>
          <p:cNvSpPr/>
          <p:nvPr/>
        </p:nvSpPr>
        <p:spPr>
          <a:xfrm>
            <a:off x="8661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4A0FDF34-C9FA-5F24-1632-A871B1F6842E}"/>
              </a:ext>
            </a:extLst>
          </p:cNvPr>
          <p:cNvSpPr/>
          <p:nvPr/>
        </p:nvSpPr>
        <p:spPr>
          <a:xfrm>
            <a:off x="8940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45A3B8B5-9062-9B57-B27E-16465B6E8269}"/>
              </a:ext>
            </a:extLst>
          </p:cNvPr>
          <p:cNvSpPr/>
          <p:nvPr/>
        </p:nvSpPr>
        <p:spPr>
          <a:xfrm>
            <a:off x="92202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3092FAB-C603-1E7E-F563-F2E5F8A17BDE}"/>
              </a:ext>
            </a:extLst>
          </p:cNvPr>
          <p:cNvSpPr/>
          <p:nvPr/>
        </p:nvSpPr>
        <p:spPr>
          <a:xfrm>
            <a:off x="94996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E446AAFC-AF9C-8391-CDD6-8D047BA42A3E}"/>
              </a:ext>
            </a:extLst>
          </p:cNvPr>
          <p:cNvSpPr/>
          <p:nvPr/>
        </p:nvSpPr>
        <p:spPr>
          <a:xfrm>
            <a:off x="97790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71D95F96-0825-97A4-442A-2CAFDFBE0220}"/>
              </a:ext>
            </a:extLst>
          </p:cNvPr>
          <p:cNvSpPr/>
          <p:nvPr/>
        </p:nvSpPr>
        <p:spPr>
          <a:xfrm>
            <a:off x="100584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6C09986B-0E54-8DDB-24B0-20EFA3A59CE3}"/>
              </a:ext>
            </a:extLst>
          </p:cNvPr>
          <p:cNvSpPr/>
          <p:nvPr/>
        </p:nvSpPr>
        <p:spPr>
          <a:xfrm>
            <a:off x="10337800" y="5118100"/>
            <a:ext cx="241300" cy="355600"/>
          </a:xfrm>
          <a:prstGeom prst="rect">
            <a:avLst/>
          </a:prstGeom>
          <a:solidFill>
            <a:srgbClr val="F6F8FC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2C2A02EB-399B-E65B-E635-F3DB04BC0E2A}"/>
              </a:ext>
            </a:extLst>
          </p:cNvPr>
          <p:cNvSpPr/>
          <p:nvPr/>
        </p:nvSpPr>
        <p:spPr>
          <a:xfrm>
            <a:off x="736600" y="5880100"/>
            <a:ext cx="1016000" cy="406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解读</a:t>
            </a: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015FAD5A-81EF-560B-1B4F-D90AFAC90916}"/>
              </a:ext>
            </a:extLst>
          </p:cNvPr>
          <p:cNvSpPr txBox="1"/>
          <p:nvPr/>
        </p:nvSpPr>
        <p:spPr>
          <a:xfrm>
            <a:off x="1905000" y="5905500"/>
            <a:ext cx="9588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该例用于展示候选多样性，不作为 </a:t>
            </a:r>
            <a:r>
              <a:rPr lang="en-US" altLang="zh-CN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12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优势的唯一证据；最终以跨组合真实编辑汇总判断。</a:t>
            </a:r>
          </a:p>
        </p:txBody>
      </p:sp>
    </p:spTree>
    <p:extLst>
      <p:ext uri="{BB962C8B-B14F-4D97-AF65-F5344CB8AC3E}">
        <p14:creationId xmlns:p14="http://schemas.microsoft.com/office/powerpoint/2010/main" val="292797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96FE5BB-9837-840D-BFB1-38C979D1283D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71E2AA-97B9-48E2-8D77-1C0A8AC94B83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16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2BADF7-CABF-598D-19ED-BDB3B5A412CA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COMPREHENSIVE METHOD COMPARISON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49F0AA-CE86-13CA-5FF6-78EA70E214B9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方法对比矩阵：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兼具视觉特异性与方向建模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257DA8-0779-16D3-B537-B4816BFA927D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52301E-4C63-95F9-A70F-52A0E95622FB}"/>
              </a:ext>
            </a:extLst>
          </p:cNvPr>
          <p:cNvSpPr/>
          <p:nvPr/>
        </p:nvSpPr>
        <p:spPr>
          <a:xfrm>
            <a:off x="609600" y="1676400"/>
            <a:ext cx="14224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D73B7F1-932C-3439-E588-133A158886E9}"/>
              </a:ext>
            </a:extLst>
          </p:cNvPr>
          <p:cNvSpPr/>
          <p:nvPr/>
        </p:nvSpPr>
        <p:spPr>
          <a:xfrm>
            <a:off x="2032000" y="1676400"/>
            <a:ext cx="14224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0CFC4A-2B6D-B82C-9257-0ADBF9E0D05C}"/>
              </a:ext>
            </a:extLst>
          </p:cNvPr>
          <p:cNvSpPr/>
          <p:nvPr/>
        </p:nvSpPr>
        <p:spPr>
          <a:xfrm>
            <a:off x="3454400" y="1676400"/>
            <a:ext cx="13208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视觉特异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5E824C5-F452-782F-3ED8-93843ECB0460}"/>
              </a:ext>
            </a:extLst>
          </p:cNvPr>
          <p:cNvSpPr/>
          <p:nvPr/>
        </p:nvSpPr>
        <p:spPr>
          <a:xfrm>
            <a:off x="4775200" y="1676400"/>
            <a:ext cx="13208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新旧关系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06F8AE-0E1F-C23E-7091-AB02D38D6DB1}"/>
              </a:ext>
            </a:extLst>
          </p:cNvPr>
          <p:cNvSpPr/>
          <p:nvPr/>
        </p:nvSpPr>
        <p:spPr>
          <a:xfrm>
            <a:off x="6096000" y="1676400"/>
            <a:ext cx="13208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干预</a:t>
            </a:r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因果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C0E0E1D-271C-DAEB-9CAE-71F7431F504C}"/>
              </a:ext>
            </a:extLst>
          </p:cNvPr>
          <p:cNvSpPr/>
          <p:nvPr/>
        </p:nvSpPr>
        <p:spPr>
          <a:xfrm>
            <a:off x="7416800" y="1676400"/>
            <a:ext cx="13208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相对成本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7560553-2ED4-B491-810A-3D980B932F9A}"/>
              </a:ext>
            </a:extLst>
          </p:cNvPr>
          <p:cNvSpPr/>
          <p:nvPr/>
        </p:nvSpPr>
        <p:spPr>
          <a:xfrm>
            <a:off x="8737600" y="1676400"/>
            <a:ext cx="21590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主要局限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62F710-0BE1-9CB4-93FC-3BF6B0582265}"/>
              </a:ext>
            </a:extLst>
          </p:cNvPr>
          <p:cNvSpPr/>
          <p:nvPr/>
        </p:nvSpPr>
        <p:spPr>
          <a:xfrm>
            <a:off x="609600" y="21844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3FB6363-9FBD-7F62-FCD0-76B7990F664B}"/>
              </a:ext>
            </a:extLst>
          </p:cNvPr>
          <p:cNvSpPr/>
          <p:nvPr/>
        </p:nvSpPr>
        <p:spPr>
          <a:xfrm>
            <a:off x="2032000" y="21844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BB7D69D-DF85-80BB-2372-8A8FCCD0D7E8}"/>
              </a:ext>
            </a:extLst>
          </p:cNvPr>
          <p:cNvSpPr/>
          <p:nvPr/>
        </p:nvSpPr>
        <p:spPr>
          <a:xfrm>
            <a:off x="3454400" y="21844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AF99AFF-C152-7B32-BE12-00BC2D6710C3}"/>
              </a:ext>
            </a:extLst>
          </p:cNvPr>
          <p:cNvSpPr/>
          <p:nvPr/>
        </p:nvSpPr>
        <p:spPr>
          <a:xfrm>
            <a:off x="4775200" y="21844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14FB287-4BBE-E925-C27F-465CFA18CE3C}"/>
              </a:ext>
            </a:extLst>
          </p:cNvPr>
          <p:cNvSpPr/>
          <p:nvPr/>
        </p:nvSpPr>
        <p:spPr>
          <a:xfrm>
            <a:off x="6096000" y="21844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2023FA7-DB2B-1D85-DB56-2764AE46FDAB}"/>
              </a:ext>
            </a:extLst>
          </p:cNvPr>
          <p:cNvSpPr/>
          <p:nvPr/>
        </p:nvSpPr>
        <p:spPr>
          <a:xfrm>
            <a:off x="7416800" y="21844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极低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3C26869-371B-C5C1-DC3C-857CC5F80B3F}"/>
              </a:ext>
            </a:extLst>
          </p:cNvPr>
          <p:cNvSpPr/>
          <p:nvPr/>
        </p:nvSpPr>
        <p:spPr>
          <a:xfrm>
            <a:off x="8737600" y="2184400"/>
            <a:ext cx="21590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忽略样本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4D6BF73-1124-50A4-B47F-371BA1DCD86E}"/>
              </a:ext>
            </a:extLst>
          </p:cNvPr>
          <p:cNvSpPr/>
          <p:nvPr/>
        </p:nvSpPr>
        <p:spPr>
          <a:xfrm>
            <a:off x="609600" y="27051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7C597A2-9CCB-71A5-5837-0EB577962863}"/>
              </a:ext>
            </a:extLst>
          </p:cNvPr>
          <p:cNvSpPr/>
          <p:nvPr/>
        </p:nvSpPr>
        <p:spPr>
          <a:xfrm>
            <a:off x="2032000" y="27051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4E2DFA6-060D-59E4-9CBD-36B2410D72CB}"/>
              </a:ext>
            </a:extLst>
          </p:cNvPr>
          <p:cNvSpPr/>
          <p:nvPr/>
        </p:nvSpPr>
        <p:spPr>
          <a:xfrm>
            <a:off x="3454400" y="27051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3A87892-5436-552C-04CA-597702FCEA6D}"/>
              </a:ext>
            </a:extLst>
          </p:cNvPr>
          <p:cNvSpPr/>
          <p:nvPr/>
        </p:nvSpPr>
        <p:spPr>
          <a:xfrm>
            <a:off x="4775200" y="27051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B5ED6FC-F1DD-ABA5-3331-E524333CEE51}"/>
              </a:ext>
            </a:extLst>
          </p:cNvPr>
          <p:cNvSpPr/>
          <p:nvPr/>
        </p:nvSpPr>
        <p:spPr>
          <a:xfrm>
            <a:off x="6096000" y="27051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4790D70-EBCC-DDE4-FE32-61DA83C26123}"/>
              </a:ext>
            </a:extLst>
          </p:cNvPr>
          <p:cNvSpPr/>
          <p:nvPr/>
        </p:nvSpPr>
        <p:spPr>
          <a:xfrm>
            <a:off x="7416800" y="27051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C024D7B-DE21-434A-E03D-003C89CC62DD}"/>
              </a:ext>
            </a:extLst>
          </p:cNvPr>
          <p:cNvSpPr/>
          <p:nvPr/>
        </p:nvSpPr>
        <p:spPr>
          <a:xfrm>
            <a:off x="8737600" y="2705100"/>
            <a:ext cx="21590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贡献≠可编辑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C090549-43F5-E82E-772B-52B4C4CB2B09}"/>
              </a:ext>
            </a:extLst>
          </p:cNvPr>
          <p:cNvSpPr/>
          <p:nvPr/>
        </p:nvSpPr>
        <p:spPr>
          <a:xfrm>
            <a:off x="609600" y="32258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B2A24DC-0764-7720-E316-A5172A7034F4}"/>
              </a:ext>
            </a:extLst>
          </p:cNvPr>
          <p:cNvSpPr/>
          <p:nvPr/>
        </p:nvSpPr>
        <p:spPr>
          <a:xfrm>
            <a:off x="2032000" y="32258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470FDFC-8F95-0787-239E-BE660A3B2F74}"/>
              </a:ext>
            </a:extLst>
          </p:cNvPr>
          <p:cNvSpPr/>
          <p:nvPr/>
        </p:nvSpPr>
        <p:spPr>
          <a:xfrm>
            <a:off x="3454400" y="32258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D46818F-4147-9AD7-A35C-63C729D90B6A}"/>
              </a:ext>
            </a:extLst>
          </p:cNvPr>
          <p:cNvSpPr/>
          <p:nvPr/>
        </p:nvSpPr>
        <p:spPr>
          <a:xfrm>
            <a:off x="4775200" y="32258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7D15946-A283-1E92-5793-09C014EFED78}"/>
              </a:ext>
            </a:extLst>
          </p:cNvPr>
          <p:cNvSpPr/>
          <p:nvPr/>
        </p:nvSpPr>
        <p:spPr>
          <a:xfrm>
            <a:off x="6096000" y="32258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68D8249-5BA1-B510-D30B-D90BDE115B1D}"/>
              </a:ext>
            </a:extLst>
          </p:cNvPr>
          <p:cNvSpPr/>
          <p:nvPr/>
        </p:nvSpPr>
        <p:spPr>
          <a:xfrm>
            <a:off x="7416800" y="32258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62CEDCB-73CF-00E9-8DB1-966389409EC2}"/>
              </a:ext>
            </a:extLst>
          </p:cNvPr>
          <p:cNvSpPr/>
          <p:nvPr/>
        </p:nvSpPr>
        <p:spPr>
          <a:xfrm>
            <a:off x="8737600" y="3225800"/>
            <a:ext cx="21590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尺度偏置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CF43566-B073-C921-B3A3-2906D60E0BA1}"/>
              </a:ext>
            </a:extLst>
          </p:cNvPr>
          <p:cNvSpPr/>
          <p:nvPr/>
        </p:nvSpPr>
        <p:spPr>
          <a:xfrm>
            <a:off x="609600" y="37465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B0B3E5D-C9EB-41C6-E889-37346E35A20F}"/>
              </a:ext>
            </a:extLst>
          </p:cNvPr>
          <p:cNvSpPr/>
          <p:nvPr/>
        </p:nvSpPr>
        <p:spPr>
          <a:xfrm>
            <a:off x="2032000" y="37465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双梯度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1AD6C94-530E-E4DA-9687-EC9670C3BC77}"/>
              </a:ext>
            </a:extLst>
          </p:cNvPr>
          <p:cNvSpPr/>
          <p:nvPr/>
        </p:nvSpPr>
        <p:spPr>
          <a:xfrm>
            <a:off x="3454400" y="37465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E36EDC8-08B1-16B3-2397-8C9489C537F9}"/>
              </a:ext>
            </a:extLst>
          </p:cNvPr>
          <p:cNvSpPr/>
          <p:nvPr/>
        </p:nvSpPr>
        <p:spPr>
          <a:xfrm>
            <a:off x="4775200" y="37465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31E0225-0E50-039F-E445-0E8D0E0A658C}"/>
              </a:ext>
            </a:extLst>
          </p:cNvPr>
          <p:cNvSpPr/>
          <p:nvPr/>
        </p:nvSpPr>
        <p:spPr>
          <a:xfrm>
            <a:off x="6096000" y="37465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C591D65-412D-68B9-BB7C-5C652D4B0FBC}"/>
              </a:ext>
            </a:extLst>
          </p:cNvPr>
          <p:cNvSpPr/>
          <p:nvPr/>
        </p:nvSpPr>
        <p:spPr>
          <a:xfrm>
            <a:off x="7416800" y="37465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455BE8B-571B-FF0D-1E5E-5A4AA26977A7}"/>
              </a:ext>
            </a:extLst>
          </p:cNvPr>
          <p:cNvSpPr/>
          <p:nvPr/>
        </p:nvSpPr>
        <p:spPr>
          <a:xfrm>
            <a:off x="8737600" y="3746500"/>
            <a:ext cx="21590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视觉性有限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DD77BEF-6444-91D0-4795-4E7E6F5611A7}"/>
              </a:ext>
            </a:extLst>
          </p:cNvPr>
          <p:cNvSpPr/>
          <p:nvPr/>
        </p:nvSpPr>
        <p:spPr>
          <a:xfrm>
            <a:off x="609600" y="42672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59DA764-53DC-0BA0-33DD-1C3530080C83}"/>
              </a:ext>
            </a:extLst>
          </p:cNvPr>
          <p:cNvSpPr/>
          <p:nvPr/>
        </p:nvSpPr>
        <p:spPr>
          <a:xfrm>
            <a:off x="2032000" y="4267200"/>
            <a:ext cx="14224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扰动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0EF9CFD-33E8-94E6-2674-7A5732DDAC1B}"/>
              </a:ext>
            </a:extLst>
          </p:cNvPr>
          <p:cNvSpPr/>
          <p:nvPr/>
        </p:nvSpPr>
        <p:spPr>
          <a:xfrm>
            <a:off x="3454400" y="42672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242FE76-25D6-DB5A-4E40-D12D63E1B0DA}"/>
              </a:ext>
            </a:extLst>
          </p:cNvPr>
          <p:cNvSpPr/>
          <p:nvPr/>
        </p:nvSpPr>
        <p:spPr>
          <a:xfrm>
            <a:off x="4775200" y="42672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17B630E-BD82-E6A5-93FA-89C64345D235}"/>
              </a:ext>
            </a:extLst>
          </p:cNvPr>
          <p:cNvSpPr/>
          <p:nvPr/>
        </p:nvSpPr>
        <p:spPr>
          <a:xfrm>
            <a:off x="6096000" y="42672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75B3DA7C-3232-8DE4-7578-1A3190E2F0E9}"/>
              </a:ext>
            </a:extLst>
          </p:cNvPr>
          <p:cNvSpPr/>
          <p:nvPr/>
        </p:nvSpPr>
        <p:spPr>
          <a:xfrm>
            <a:off x="7416800" y="4267200"/>
            <a:ext cx="13208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6C313C5E-9DD1-03A0-611E-43BFEDC8BE12}"/>
              </a:ext>
            </a:extLst>
          </p:cNvPr>
          <p:cNvSpPr/>
          <p:nvPr/>
        </p:nvSpPr>
        <p:spPr>
          <a:xfrm>
            <a:off x="8737600" y="4267200"/>
            <a:ext cx="2159000" cy="5207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敏感≠最佳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BE13CD74-21BF-AC3E-010A-4EE5AE58B81C}"/>
              </a:ext>
            </a:extLst>
          </p:cNvPr>
          <p:cNvSpPr/>
          <p:nvPr/>
        </p:nvSpPr>
        <p:spPr>
          <a:xfrm>
            <a:off x="609600" y="47879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endParaRPr lang="zh-CN" altLang="en-US" sz="11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FD7CCAA2-A27A-7822-B7A4-89523C7CEA1E}"/>
              </a:ext>
            </a:extLst>
          </p:cNvPr>
          <p:cNvSpPr/>
          <p:nvPr/>
        </p:nvSpPr>
        <p:spPr>
          <a:xfrm>
            <a:off x="2032000" y="4787900"/>
            <a:ext cx="14224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状态恢复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6CE73D4-A579-4FF2-9351-53176095B156}"/>
              </a:ext>
            </a:extLst>
          </p:cNvPr>
          <p:cNvSpPr/>
          <p:nvPr/>
        </p:nvSpPr>
        <p:spPr>
          <a:xfrm>
            <a:off x="3454400" y="47879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4DAA60E-E77C-D78B-100B-663D4A8D2CE8}"/>
              </a:ext>
            </a:extLst>
          </p:cNvPr>
          <p:cNvSpPr/>
          <p:nvPr/>
        </p:nvSpPr>
        <p:spPr>
          <a:xfrm>
            <a:off x="4775200" y="47879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53D8D86-EB3C-3D34-5B8F-911ECE1CBA47}"/>
              </a:ext>
            </a:extLst>
          </p:cNvPr>
          <p:cNvSpPr/>
          <p:nvPr/>
        </p:nvSpPr>
        <p:spPr>
          <a:xfrm>
            <a:off x="6096000" y="47879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344D719-F317-9E95-C07A-7D4E0AEF40CF}"/>
              </a:ext>
            </a:extLst>
          </p:cNvPr>
          <p:cNvSpPr/>
          <p:nvPr/>
        </p:nvSpPr>
        <p:spPr>
          <a:xfrm>
            <a:off x="7416800" y="4787900"/>
            <a:ext cx="13208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很高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87DE4265-68E6-DD09-1AFD-6C80D7E8253F}"/>
              </a:ext>
            </a:extLst>
          </p:cNvPr>
          <p:cNvSpPr/>
          <p:nvPr/>
        </p:nvSpPr>
        <p:spPr>
          <a:xfrm>
            <a:off x="8737600" y="4787900"/>
            <a:ext cx="2159000" cy="5207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覆盖率低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91806281-08C6-9439-36B7-45F1A9F65953}"/>
              </a:ext>
            </a:extLst>
          </p:cNvPr>
          <p:cNvSpPr/>
          <p:nvPr/>
        </p:nvSpPr>
        <p:spPr>
          <a:xfrm>
            <a:off x="609600" y="5308600"/>
            <a:ext cx="14224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1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</a:t>
            </a:r>
            <a:endParaRPr lang="zh-CN" altLang="en-US" sz="11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362A191-6E1B-E40C-DBD6-E8765F790DB9}"/>
              </a:ext>
            </a:extLst>
          </p:cNvPr>
          <p:cNvSpPr/>
          <p:nvPr/>
        </p:nvSpPr>
        <p:spPr>
          <a:xfrm>
            <a:off x="2032000" y="5308600"/>
            <a:ext cx="14224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视觉双梯度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EADFF88F-FF0D-504D-8046-5A9F67095CE2}"/>
              </a:ext>
            </a:extLst>
          </p:cNvPr>
          <p:cNvSpPr/>
          <p:nvPr/>
        </p:nvSpPr>
        <p:spPr>
          <a:xfrm>
            <a:off x="3454400" y="5308600"/>
            <a:ext cx="13208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57ACA71B-F1BA-0D58-7140-DE47DC3F293B}"/>
              </a:ext>
            </a:extLst>
          </p:cNvPr>
          <p:cNvSpPr/>
          <p:nvPr/>
        </p:nvSpPr>
        <p:spPr>
          <a:xfrm>
            <a:off x="4775200" y="5308600"/>
            <a:ext cx="13208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FE424E51-1BAD-DD6D-5F02-35EFD86DE330}"/>
              </a:ext>
            </a:extLst>
          </p:cNvPr>
          <p:cNvSpPr/>
          <p:nvPr/>
        </p:nvSpPr>
        <p:spPr>
          <a:xfrm>
            <a:off x="6096000" y="5308600"/>
            <a:ext cx="13208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ED135C4-A58A-1FD9-941F-A01756DCB5A3}"/>
              </a:ext>
            </a:extLst>
          </p:cNvPr>
          <p:cNvSpPr/>
          <p:nvPr/>
        </p:nvSpPr>
        <p:spPr>
          <a:xfrm>
            <a:off x="7416800" y="5308600"/>
            <a:ext cx="13208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B987A4E-6013-C781-1A9A-4F39E63E2AE6}"/>
              </a:ext>
            </a:extLst>
          </p:cNvPr>
          <p:cNvSpPr/>
          <p:nvPr/>
        </p:nvSpPr>
        <p:spPr>
          <a:xfrm>
            <a:off x="8737600" y="5308600"/>
            <a:ext cx="2159000" cy="5207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1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需扩大实证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6B42A43-965D-BDBF-DD5F-3F6921E030C9}"/>
              </a:ext>
            </a:extLst>
          </p:cNvPr>
          <p:cNvSpPr txBox="1"/>
          <p:nvPr/>
        </p:nvSpPr>
        <p:spPr>
          <a:xfrm>
            <a:off x="609600" y="5969000"/>
            <a:ext cx="508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● 强   △ 部分具备   </a:t>
            </a:r>
            <a:r>
              <a:rPr lang="en-US" altLang="zh-CN" sz="10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 </a:t>
            </a:r>
            <a:r>
              <a:rPr lang="zh-CN" altLang="en-US" sz="10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不具备 </a:t>
            </a:r>
            <a:r>
              <a:rPr lang="en-US" altLang="zh-CN" sz="10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不直接建模</a:t>
            </a:r>
          </a:p>
        </p:txBody>
      </p:sp>
    </p:spTree>
    <p:extLst>
      <p:ext uri="{BB962C8B-B14F-4D97-AF65-F5344CB8AC3E}">
        <p14:creationId xmlns:p14="http://schemas.microsoft.com/office/powerpoint/2010/main" val="1555363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1A52010-9D4F-2EB3-91CB-BBE7B4B2C64D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7CCE92-D5E9-D2E9-D173-B6DFE5D2A8EA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17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A0D408-0F11-D0BC-1CB6-5A6DD2A1D4B7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EMPIRICAL COMPARISON · K=3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CAB32E-FBFB-3800-682D-A05015FDD07D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跨基线真实编辑：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对六种基线平均差均为正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16BB2B-FE7C-0073-DCB4-AF555EB28C51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0EDAE20-137F-B38E-E837-578D5A5EC5E9}"/>
              </a:ext>
            </a:extLst>
          </p:cNvPr>
          <p:cNvSpPr/>
          <p:nvPr/>
        </p:nvSpPr>
        <p:spPr>
          <a:xfrm>
            <a:off x="736600" y="1778000"/>
            <a:ext cx="19050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961729-5F3A-B769-04A8-71E62B07E3BB}"/>
              </a:ext>
            </a:extLst>
          </p:cNvPr>
          <p:cNvSpPr/>
          <p:nvPr/>
        </p:nvSpPr>
        <p:spPr>
          <a:xfrm>
            <a:off x="27305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138D751-ED91-F3DD-ED23-B9F34DB467B9}"/>
              </a:ext>
            </a:extLst>
          </p:cNvPr>
          <p:cNvSpPr/>
          <p:nvPr/>
        </p:nvSpPr>
        <p:spPr>
          <a:xfrm>
            <a:off x="40513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VisEdit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1A882DB-00F5-B771-CC69-576B9911C8E1}"/>
              </a:ext>
            </a:extLst>
          </p:cNvPr>
          <p:cNvSpPr/>
          <p:nvPr/>
        </p:nvSpPr>
        <p:spPr>
          <a:xfrm>
            <a:off x="53721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SaLEM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604FB9-895F-A34D-95A6-DB25A0660A7F}"/>
              </a:ext>
            </a:extLst>
          </p:cNvPr>
          <p:cNvSpPr/>
          <p:nvPr/>
        </p:nvSpPr>
        <p:spPr>
          <a:xfrm>
            <a:off x="66929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LGA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C4C5855-CE23-E0BA-4432-B65D5DF069EF}"/>
              </a:ext>
            </a:extLst>
          </p:cNvPr>
          <p:cNvSpPr/>
          <p:nvPr/>
        </p:nvSpPr>
        <p:spPr>
          <a:xfrm>
            <a:off x="80137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Perturb-KL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8462AA-136C-04FE-799C-73323DFA6C70}"/>
              </a:ext>
            </a:extLst>
          </p:cNvPr>
          <p:cNvSpPr/>
          <p:nvPr/>
        </p:nvSpPr>
        <p:spPr>
          <a:xfrm>
            <a:off x="9334500" y="1778000"/>
            <a:ext cx="13208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</a:t>
            </a:r>
            <a:endParaRPr lang="zh-CN" altLang="en-US" sz="12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FC91D5C-94DC-03D7-3BF3-8890E3E513A2}"/>
              </a:ext>
            </a:extLst>
          </p:cNvPr>
          <p:cNvSpPr/>
          <p:nvPr/>
        </p:nvSpPr>
        <p:spPr>
          <a:xfrm>
            <a:off x="736600" y="2311400"/>
            <a:ext cx="1905000" cy="9144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l-GR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</a:t>
            </a:r>
            <a:endParaRPr lang="zh-CN" altLang="en-US" sz="14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1B25BE2-8B6E-16DF-6AC0-86BCDDD9C1BA}"/>
              </a:ext>
            </a:extLst>
          </p:cNvPr>
          <p:cNvSpPr/>
          <p:nvPr/>
        </p:nvSpPr>
        <p:spPr>
          <a:xfrm>
            <a:off x="2730500" y="2311400"/>
            <a:ext cx="1320800" cy="914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+2.66</a:t>
            </a:r>
            <a:endParaRPr lang="zh-CN" altLang="en-US" sz="16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8A586BF-5DFA-4A77-F272-04CC34C772E4}"/>
              </a:ext>
            </a:extLst>
          </p:cNvPr>
          <p:cNvSpPr/>
          <p:nvPr/>
        </p:nvSpPr>
        <p:spPr>
          <a:xfrm>
            <a:off x="4051300" y="2311400"/>
            <a:ext cx="1320800" cy="9144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+4.13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59BDD45-B0AC-7B44-B3CC-D59F80DCA206}"/>
              </a:ext>
            </a:extLst>
          </p:cNvPr>
          <p:cNvSpPr/>
          <p:nvPr/>
        </p:nvSpPr>
        <p:spPr>
          <a:xfrm>
            <a:off x="5372100" y="2311400"/>
            <a:ext cx="1320800" cy="914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+2.79</a:t>
            </a:r>
            <a:endParaRPr lang="zh-CN" altLang="en-US" sz="16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11FC997-B950-FAFA-51C4-1B3E5B05E7CF}"/>
              </a:ext>
            </a:extLst>
          </p:cNvPr>
          <p:cNvSpPr/>
          <p:nvPr/>
        </p:nvSpPr>
        <p:spPr>
          <a:xfrm>
            <a:off x="6692900" y="2311400"/>
            <a:ext cx="1320800" cy="914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+1.28</a:t>
            </a:r>
            <a:endParaRPr lang="zh-CN" altLang="en-US" sz="16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AB63AA-1000-14B5-5847-023473285331}"/>
              </a:ext>
            </a:extLst>
          </p:cNvPr>
          <p:cNvSpPr/>
          <p:nvPr/>
        </p:nvSpPr>
        <p:spPr>
          <a:xfrm>
            <a:off x="8013700" y="2311400"/>
            <a:ext cx="1320800" cy="9144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+4.02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9E06357-532F-19F3-A33C-5FED13DE7B4B}"/>
              </a:ext>
            </a:extLst>
          </p:cNvPr>
          <p:cNvSpPr/>
          <p:nvPr/>
        </p:nvSpPr>
        <p:spPr>
          <a:xfrm>
            <a:off x="9334500" y="2311400"/>
            <a:ext cx="1320800" cy="9144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+3.54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530C103-8E5E-BCD8-1C0D-75CA316A9E05}"/>
              </a:ext>
            </a:extLst>
          </p:cNvPr>
          <p:cNvSpPr/>
          <p:nvPr/>
        </p:nvSpPr>
        <p:spPr>
          <a:xfrm>
            <a:off x="736600" y="3225800"/>
            <a:ext cx="1905000" cy="9144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l-GR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 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Mean@3</a:t>
            </a:r>
            <a:endParaRPr lang="zh-CN" altLang="en-US" sz="14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726AA8B-F535-D5C3-306B-F6D9D8621B50}"/>
              </a:ext>
            </a:extLst>
          </p:cNvPr>
          <p:cNvSpPr/>
          <p:nvPr/>
        </p:nvSpPr>
        <p:spPr>
          <a:xfrm>
            <a:off x="2730500" y="3225800"/>
            <a:ext cx="1320800" cy="914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+0.60</a:t>
            </a:r>
            <a:endParaRPr lang="zh-CN" altLang="en-US" sz="16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CAB1063-D713-7706-BEA9-B147F927E7BB}"/>
              </a:ext>
            </a:extLst>
          </p:cNvPr>
          <p:cNvSpPr/>
          <p:nvPr/>
        </p:nvSpPr>
        <p:spPr>
          <a:xfrm>
            <a:off x="4051300" y="3225800"/>
            <a:ext cx="1320800" cy="914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+1.80</a:t>
            </a:r>
            <a:endParaRPr lang="zh-CN" altLang="en-US" sz="16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5EFFC01-C8B5-FF57-A774-8692022554ED}"/>
              </a:ext>
            </a:extLst>
          </p:cNvPr>
          <p:cNvSpPr/>
          <p:nvPr/>
        </p:nvSpPr>
        <p:spPr>
          <a:xfrm>
            <a:off x="5372100" y="3225800"/>
            <a:ext cx="1320800" cy="914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+1.34</a:t>
            </a:r>
            <a:endParaRPr lang="zh-CN" altLang="en-US" sz="16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3AE5841-F434-2AAE-47C9-6905E8E4878E}"/>
              </a:ext>
            </a:extLst>
          </p:cNvPr>
          <p:cNvSpPr/>
          <p:nvPr/>
        </p:nvSpPr>
        <p:spPr>
          <a:xfrm>
            <a:off x="6692900" y="3225800"/>
            <a:ext cx="1320800" cy="9144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+2.35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339FD5B-1EF4-9012-E31B-A7069420CCBB}"/>
              </a:ext>
            </a:extLst>
          </p:cNvPr>
          <p:cNvSpPr/>
          <p:nvPr/>
        </p:nvSpPr>
        <p:spPr>
          <a:xfrm>
            <a:off x="8013700" y="3225800"/>
            <a:ext cx="1320800" cy="9144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+2.77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E54FD95-D72B-8CC8-4B01-7622EFBA636F}"/>
              </a:ext>
            </a:extLst>
          </p:cNvPr>
          <p:cNvSpPr/>
          <p:nvPr/>
        </p:nvSpPr>
        <p:spPr>
          <a:xfrm>
            <a:off x="9334500" y="3225800"/>
            <a:ext cx="1320800" cy="9144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+2.96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BC8DCCE-36C4-4C2F-86BC-773E46A53A6C}"/>
              </a:ext>
            </a:extLst>
          </p:cNvPr>
          <p:cNvSpPr/>
          <p:nvPr/>
        </p:nvSpPr>
        <p:spPr>
          <a:xfrm>
            <a:off x="736600" y="4140200"/>
            <a:ext cx="1905000" cy="9144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92934BE-2E8C-783D-B1CA-759A96003DAF}"/>
              </a:ext>
            </a:extLst>
          </p:cNvPr>
          <p:cNvSpPr/>
          <p:nvPr/>
        </p:nvSpPr>
        <p:spPr>
          <a:xfrm>
            <a:off x="27305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6/0/3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39D2A88-3431-E9A5-E467-7C2D3AFFDACB}"/>
              </a:ext>
            </a:extLst>
          </p:cNvPr>
          <p:cNvSpPr/>
          <p:nvPr/>
        </p:nvSpPr>
        <p:spPr>
          <a:xfrm>
            <a:off x="40513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5/0/4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B38C02E-A98B-3457-064F-0AE781E60930}"/>
              </a:ext>
            </a:extLst>
          </p:cNvPr>
          <p:cNvSpPr/>
          <p:nvPr/>
        </p:nvSpPr>
        <p:spPr>
          <a:xfrm>
            <a:off x="53721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6/0/3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1847C65-016B-EF18-9244-5DADF04F8B76}"/>
              </a:ext>
            </a:extLst>
          </p:cNvPr>
          <p:cNvSpPr/>
          <p:nvPr/>
        </p:nvSpPr>
        <p:spPr>
          <a:xfrm>
            <a:off x="66929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6/1/2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56F7346-00C8-E173-72BF-E200069D401A}"/>
              </a:ext>
            </a:extLst>
          </p:cNvPr>
          <p:cNvSpPr/>
          <p:nvPr/>
        </p:nvSpPr>
        <p:spPr>
          <a:xfrm>
            <a:off x="80137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3/5/1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6683271-1069-6468-5F74-EFA87B5DD4A6}"/>
              </a:ext>
            </a:extLst>
          </p:cNvPr>
          <p:cNvSpPr/>
          <p:nvPr/>
        </p:nvSpPr>
        <p:spPr>
          <a:xfrm>
            <a:off x="9334500" y="4140200"/>
            <a:ext cx="132080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4/3/2</a:t>
            </a:r>
            <a:endParaRPr lang="zh-CN" altLang="en-US" sz="16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41E99ED-5939-4536-8B7F-CA75B3A4A1B7}"/>
              </a:ext>
            </a:extLst>
          </p:cNvPr>
          <p:cNvSpPr/>
          <p:nvPr/>
        </p:nvSpPr>
        <p:spPr>
          <a:xfrm>
            <a:off x="736600" y="5308600"/>
            <a:ext cx="1905000" cy="5334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5621985-B793-B2B6-3A64-B32EA678E009}"/>
              </a:ext>
            </a:extLst>
          </p:cNvPr>
          <p:cNvSpPr/>
          <p:nvPr/>
        </p:nvSpPr>
        <p:spPr>
          <a:xfrm>
            <a:off x="2730500" y="5308600"/>
            <a:ext cx="3810000" cy="533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Best@3  +3.07</a:t>
            </a:r>
            <a:endParaRPr lang="zh-CN" altLang="en-US" sz="1600" b="1">
              <a:solidFill>
                <a:srgbClr val="36A07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1F68F8F-CE1D-D2E9-D21E-EB7E574E5FFB}"/>
              </a:ext>
            </a:extLst>
          </p:cNvPr>
          <p:cNvSpPr/>
          <p:nvPr/>
        </p:nvSpPr>
        <p:spPr>
          <a:xfrm>
            <a:off x="6731000" y="5308600"/>
            <a:ext cx="3924300" cy="533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sz="1600" b="1">
                <a:solidFill>
                  <a:srgbClr val="3771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Mean@3  +1.97</a:t>
            </a:r>
            <a:endParaRPr lang="zh-CN" altLang="en-US" sz="1600" b="1">
              <a:solidFill>
                <a:srgbClr val="3771E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371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821E71-5A78-C4AC-D2CE-1FEED3931033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FE539B-AEC4-06F6-FB7B-84C900567368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18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0A648A-54F5-B11E-5C9B-2419DAEB1AB9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 SCORECARD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B81E28-33E3-D413-2D87-7538F9A4BD0A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为什么说 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更好：多维证据方向一致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7F84-909F-2BD0-DB5A-08BFD0307B1A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F725F4-0471-D201-DA01-3E7620BDDB66}"/>
              </a:ext>
            </a:extLst>
          </p:cNvPr>
          <p:cNvSpPr/>
          <p:nvPr/>
        </p:nvSpPr>
        <p:spPr>
          <a:xfrm>
            <a:off x="736600" y="1841500"/>
            <a:ext cx="4953000" cy="444500"/>
          </a:xfrm>
          <a:prstGeom prst="roundRect">
            <a:avLst/>
          </a:prstGeom>
          <a:solidFill>
            <a:srgbClr val="7652D2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公式质量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3F5CF87-2A63-2FD2-0CAC-DA79768A8EC7}"/>
              </a:ext>
            </a:extLst>
          </p:cNvPr>
          <p:cNvSpPr/>
          <p:nvPr/>
        </p:nvSpPr>
        <p:spPr>
          <a:xfrm>
            <a:off x="736600" y="2336800"/>
            <a:ext cx="4953000" cy="1092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平均 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Spearman 0.323
11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个公式中第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AB502C1-0561-3293-6D66-C7DEC86F74DB}"/>
              </a:ext>
            </a:extLst>
          </p:cNvPr>
          <p:cNvSpPr/>
          <p:nvPr/>
        </p:nvSpPr>
        <p:spPr>
          <a:xfrm>
            <a:off x="6045200" y="1841500"/>
            <a:ext cx="4953000" cy="444500"/>
          </a:xfrm>
          <a:prstGeom prst="roundRect">
            <a:avLst/>
          </a:prstGeom>
          <a:solidFill>
            <a:srgbClr val="168E88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跨组合稳定性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759AA60-84E5-1381-002C-C6706EF8791F}"/>
              </a:ext>
            </a:extLst>
          </p:cNvPr>
          <p:cNvSpPr/>
          <p:nvPr/>
        </p:nvSpPr>
        <p:spPr>
          <a:xfrm>
            <a:off x="6045200" y="2336800"/>
            <a:ext cx="4953000" cy="1092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15/18 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为正相关
覆盖多模型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F18537-9479-957C-4666-B1009B8F6D88}"/>
              </a:ext>
            </a:extLst>
          </p:cNvPr>
          <p:cNvSpPr/>
          <p:nvPr/>
        </p:nvSpPr>
        <p:spPr>
          <a:xfrm>
            <a:off x="736600" y="3644900"/>
            <a:ext cx="4953000" cy="4445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真实编辑收益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15F04E-57B5-DF28-5D20-C6D3F9040A82}"/>
              </a:ext>
            </a:extLst>
          </p:cNvPr>
          <p:cNvSpPr/>
          <p:nvPr/>
        </p:nvSpPr>
        <p:spPr>
          <a:xfrm>
            <a:off x="736600" y="4140200"/>
            <a:ext cx="4953000" cy="1092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6/6 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基线平均差为正
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 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Mean 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同时提升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CA3C283-6EE4-E167-6FA9-EDAC4E44456E}"/>
              </a:ext>
            </a:extLst>
          </p:cNvPr>
          <p:cNvSpPr/>
          <p:nvPr/>
        </p:nvSpPr>
        <p:spPr>
          <a:xfrm>
            <a:off x="6045200" y="3644900"/>
            <a:ext cx="4953000" cy="444500"/>
          </a:xfrm>
          <a:prstGeom prst="roundRect">
            <a:avLst/>
          </a:prstGeom>
          <a:solidFill>
            <a:srgbClr val="EE8F34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失败风险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EF03BA3-5646-1856-FC6D-9485B310640F}"/>
              </a:ext>
            </a:extLst>
          </p:cNvPr>
          <p:cNvSpPr/>
          <p:nvPr/>
        </p:nvSpPr>
        <p:spPr>
          <a:xfrm>
            <a:off x="6045200" y="4140200"/>
            <a:ext cx="4953000" cy="1092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72.2% 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不败
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胜 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9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 </a:t>
            </a:r>
            <a:r>
              <a:rPr lang="en-US" altLang="zh-CN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15</a:t>
            </a:r>
            <a:r>
              <a:rPr lang="zh-CN" altLang="en-US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010739-3AAC-57EA-62A0-A6D31104D324}"/>
              </a:ext>
            </a:extLst>
          </p:cNvPr>
          <p:cNvSpPr/>
          <p:nvPr/>
        </p:nvSpPr>
        <p:spPr>
          <a:xfrm>
            <a:off x="736600" y="5562600"/>
            <a:ext cx="1524000" cy="4572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结论措辞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423ACC-BCBF-4F44-67AA-487B4EB61F76}"/>
              </a:ext>
            </a:extLst>
          </p:cNvPr>
          <p:cNvSpPr txBox="1"/>
          <p:nvPr/>
        </p:nvSpPr>
        <p:spPr>
          <a:xfrm>
            <a:off x="2463800" y="5575300"/>
            <a:ext cx="889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现有结果支持“</a:t>
            </a:r>
            <a:r>
              <a:rPr lang="en-US" altLang="zh-CN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Ours </a:t>
            </a:r>
            <a:r>
              <a:rPr lang="zh-CN" altLang="en-US" sz="1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更有希望、更稳定地命中高性能候选层”，而不是宣称已完成统计显著性证明。</a:t>
            </a:r>
          </a:p>
        </p:txBody>
      </p:sp>
    </p:spTree>
    <p:extLst>
      <p:ext uri="{BB962C8B-B14F-4D97-AF65-F5344CB8AC3E}">
        <p14:creationId xmlns:p14="http://schemas.microsoft.com/office/powerpoint/2010/main" val="329681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157036-A120-3C0A-3FF4-7C17156A4625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2B52CB-BCCA-B175-399D-11AD8BF13FC8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19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80C93-C25A-1BC0-D890-9CF6FBC34653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EVIDENCE BOUNDARIES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BB6575-83D2-4165-2043-1A5992CD0315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证据边界：把优势讲清楚，也把尚未完成的证明讲清楚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474F4E-51EA-E5FC-E916-CE6DE3267363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5D41FCA-9040-3BE3-1D23-C1CCF81B685D}"/>
              </a:ext>
            </a:extLst>
          </p:cNvPr>
          <p:cNvSpPr/>
          <p:nvPr/>
        </p:nvSpPr>
        <p:spPr>
          <a:xfrm>
            <a:off x="736600" y="1778000"/>
            <a:ext cx="4826000" cy="5334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已经支持的结论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22C1B63-B14E-200B-BE47-2C280EFC9B70}"/>
              </a:ext>
            </a:extLst>
          </p:cNvPr>
          <p:cNvSpPr/>
          <p:nvPr/>
        </p:nvSpPr>
        <p:spPr>
          <a:xfrm>
            <a:off x="6629400" y="1778000"/>
            <a:ext cx="4826000" cy="533400"/>
          </a:xfrm>
          <a:prstGeom prst="roundRect">
            <a:avLst/>
          </a:prstGeom>
          <a:solidFill>
            <a:srgbClr val="EE8F34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仍需补强的证据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7A6FA49-A774-8F81-9807-DB4A0487AE21}"/>
              </a:ext>
            </a:extLst>
          </p:cNvPr>
          <p:cNvSpPr/>
          <p:nvPr/>
        </p:nvSpPr>
        <p:spPr>
          <a:xfrm>
            <a:off x="736600" y="2438400"/>
            <a:ext cx="4826000" cy="5842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个公式已统一比较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0E1F644-64CC-4357-8365-A7DF5F5FF8E9}"/>
              </a:ext>
            </a:extLst>
          </p:cNvPr>
          <p:cNvSpPr/>
          <p:nvPr/>
        </p:nvSpPr>
        <p:spPr>
          <a:xfrm>
            <a:off x="6629400" y="2438400"/>
            <a:ext cx="4826000" cy="5842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Top-3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完整结果仅覆盖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9/19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FAF06D-9BAB-7A78-721E-3DFC45964640}"/>
              </a:ext>
            </a:extLst>
          </p:cNvPr>
          <p:cNvSpPr/>
          <p:nvPr/>
        </p:nvSpPr>
        <p:spPr>
          <a:xfrm>
            <a:off x="736600" y="3175000"/>
            <a:ext cx="4826000" cy="5842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Ours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主公式平均相关性最高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D0EA7F-A42F-4602-A67F-DF81979B5864}"/>
              </a:ext>
            </a:extLst>
          </p:cNvPr>
          <p:cNvSpPr/>
          <p:nvPr/>
        </p:nvSpPr>
        <p:spPr>
          <a:xfrm>
            <a:off x="6629400" y="3175000"/>
            <a:ext cx="4826000" cy="5842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 严格配对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Wilcoxon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均未达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p&lt;0.05</a:t>
            </a:r>
            <a:endParaRPr lang="zh-CN" altLang="en-US" sz="13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F51864-FA43-DABA-0CB5-138B5C3BE440}"/>
              </a:ext>
            </a:extLst>
          </p:cNvPr>
          <p:cNvSpPr/>
          <p:nvPr/>
        </p:nvSpPr>
        <p:spPr>
          <a:xfrm>
            <a:off x="736600" y="3911600"/>
            <a:ext cx="4826000" cy="5842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六个基线平均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Best/Mean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差均为正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5378366-B6AC-764E-1EF3-18F3E99EE855}"/>
              </a:ext>
            </a:extLst>
          </p:cNvPr>
          <p:cNvSpPr/>
          <p:nvPr/>
        </p:nvSpPr>
        <p:spPr>
          <a:xfrm>
            <a:off x="6629400" y="3911600"/>
            <a:ext cx="4826000" cy="5842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 measured-layer oracle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不是全层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oracle</a:t>
            </a:r>
            <a:endParaRPr lang="zh-CN" altLang="en-US" sz="13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0F5EC6D-58C1-E2C6-AC15-9FD65C439B6C}"/>
              </a:ext>
            </a:extLst>
          </p:cNvPr>
          <p:cNvSpPr/>
          <p:nvPr/>
        </p:nvSpPr>
        <p:spPr>
          <a:xfrm>
            <a:off x="736600" y="4648200"/>
            <a:ext cx="4826000" cy="5842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真实编辑使用独立 </a:t>
            </a:r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test/eval</a:t>
            </a:r>
            <a:endParaRPr lang="zh-CN" altLang="en-US" sz="1300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01ACCCB-8CAF-2624-1DFC-6398707A4D94}"/>
              </a:ext>
            </a:extLst>
          </p:cNvPr>
          <p:cNvSpPr/>
          <p:nvPr/>
        </p:nvSpPr>
        <p:spPr>
          <a:xfrm>
            <a:off x="6629400" y="4648200"/>
            <a:ext cx="4826000" cy="5842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r>
              <a:rPr lang="en-US" altLang="zh-CN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△ PaliGemma main / stable </a:t>
            </a:r>
            <a:r>
              <a:rPr lang="zh-CN" altLang="en-US" sz="1300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必须分开报告</a:t>
            </a:r>
          </a:p>
        </p:txBody>
      </p:sp>
    </p:spTree>
    <p:extLst>
      <p:ext uri="{BB962C8B-B14F-4D97-AF65-F5344CB8AC3E}">
        <p14:creationId xmlns:p14="http://schemas.microsoft.com/office/powerpoint/2010/main" val="2093668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9E9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86AEE6-A4C7-B4CD-ED98-5133F0964FE9}"/>
              </a:ext>
            </a:extLst>
          </p:cNvPr>
          <p:cNvSpPr txBox="1"/>
          <p:nvPr/>
        </p:nvSpPr>
        <p:spPr>
          <a:xfrm>
            <a:off x="889000" y="13335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70AF7B-2E79-5E03-67B5-A7E1E32067D5}"/>
              </a:ext>
            </a:extLst>
          </p:cNvPr>
          <p:cNvSpPr txBox="1"/>
          <p:nvPr/>
        </p:nvSpPr>
        <p:spPr>
          <a:xfrm>
            <a:off x="889000" y="1968500"/>
            <a:ext cx="1016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4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定位之后：知识增强视觉语言模型编辑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5EA00C-C3BB-D57A-48DE-00AEA8E1D67F}"/>
              </a:ext>
            </a:extLst>
          </p:cNvPr>
          <p:cNvSpPr txBox="1"/>
          <p:nvPr/>
        </p:nvSpPr>
        <p:spPr>
          <a:xfrm>
            <a:off x="889000" y="31242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把候选层转化为可控、可解释、可复现的知识编辑系统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164AF38-5FA1-8707-999A-7F0195829D9A}"/>
              </a:ext>
            </a:extLst>
          </p:cNvPr>
          <p:cNvSpPr/>
          <p:nvPr/>
        </p:nvSpPr>
        <p:spPr>
          <a:xfrm>
            <a:off x="889000" y="4445000"/>
            <a:ext cx="7874000" cy="711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知识子图 → 双路径注入 → 多维评测 → 交互分析</a:t>
            </a:r>
          </a:p>
        </p:txBody>
      </p:sp>
    </p:spTree>
    <p:extLst>
      <p:ext uri="{BB962C8B-B14F-4D97-AF65-F5344CB8AC3E}">
        <p14:creationId xmlns:p14="http://schemas.microsoft.com/office/powerpoint/2010/main" val="1031665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8C359B-E311-35ED-B6AA-429F8C364836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D6EA69-803A-5889-AEF0-15752629EF10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21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674FA1-F2CF-DC64-D405-F7C2F8D886E7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KNOWLEDGE SUBGRAPH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60DB37-D7B6-1AA1-754C-A29F55879707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 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：从编辑样本构建可追溯的知识子图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500577-EFA1-B396-017E-188158600846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7B8258A-7E76-32A9-D0C6-2A26EC39832C}"/>
              </a:ext>
            </a:extLst>
          </p:cNvPr>
          <p:cNvSpPr/>
          <p:nvPr/>
        </p:nvSpPr>
        <p:spPr>
          <a:xfrm>
            <a:off x="736600" y="2413000"/>
            <a:ext cx="2159000" cy="1168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编辑样本
图像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新事实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B29C305-D170-68E1-4233-A5F077996AAB}"/>
              </a:ext>
            </a:extLst>
          </p:cNvPr>
          <p:cNvCxnSpPr/>
          <p:nvPr/>
        </p:nvCxnSpPr>
        <p:spPr>
          <a:xfrm>
            <a:off x="2984500" y="2997200"/>
            <a:ext cx="6096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0A747BE-3922-63F9-C63A-A79F82CE447D}"/>
              </a:ext>
            </a:extLst>
          </p:cNvPr>
          <p:cNvSpPr/>
          <p:nvPr/>
        </p:nvSpPr>
        <p:spPr>
          <a:xfrm>
            <a:off x="3670300" y="2413000"/>
            <a:ext cx="2159000" cy="11684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实体对齐
视觉实体 ↔ 文本实体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BCCB1CB-E851-6FA6-1C9F-2F25987931FE}"/>
              </a:ext>
            </a:extLst>
          </p:cNvPr>
          <p:cNvCxnSpPr/>
          <p:nvPr/>
        </p:nvCxnSpPr>
        <p:spPr>
          <a:xfrm>
            <a:off x="5918200" y="2997200"/>
            <a:ext cx="6096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B4616-4CDE-B29E-A005-D1A608F382E8}"/>
              </a:ext>
            </a:extLst>
          </p:cNvPr>
          <p:cNvSpPr/>
          <p:nvPr/>
        </p:nvSpPr>
        <p:spPr>
          <a:xfrm>
            <a:off x="6604000" y="2413000"/>
            <a:ext cx="2159000" cy="11684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关系扩展
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1-hop / 2-hop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3B96507-2756-8FDF-CA17-1EBDA95CC01E}"/>
              </a:ext>
            </a:extLst>
          </p:cNvPr>
          <p:cNvCxnSpPr/>
          <p:nvPr/>
        </p:nvCxnSpPr>
        <p:spPr>
          <a:xfrm>
            <a:off x="8851900" y="2997200"/>
            <a:ext cx="6096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67FFFB5-6479-0807-ED3B-D423C3CC797A}"/>
              </a:ext>
            </a:extLst>
          </p:cNvPr>
          <p:cNvSpPr/>
          <p:nvPr/>
        </p:nvSpPr>
        <p:spPr>
          <a:xfrm>
            <a:off x="9537700" y="2413000"/>
            <a:ext cx="2159000" cy="1168400"/>
          </a:xfrm>
          <a:prstGeom prst="roundRect">
            <a:avLst/>
          </a:prstGeom>
          <a:solidFill>
            <a:srgbClr val="FFF2D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可追溯子图
实体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来源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5E06053-5359-06F7-EA97-0ECDFE16F387}"/>
              </a:ext>
            </a:extLst>
          </p:cNvPr>
          <p:cNvSpPr/>
          <p:nvPr/>
        </p:nvSpPr>
        <p:spPr>
          <a:xfrm>
            <a:off x="5588000" y="4381500"/>
            <a:ext cx="812800" cy="812800"/>
          </a:xfrm>
          <a:prstGeom prst="ellipse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主实体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EF527ED-8506-8C7D-85A9-DED60D1396AA}"/>
              </a:ext>
            </a:extLst>
          </p:cNvPr>
          <p:cNvCxnSpPr/>
          <p:nvPr/>
        </p:nvCxnSpPr>
        <p:spPr>
          <a:xfrm flipV="1">
            <a:off x="6223000" y="4356100"/>
            <a:ext cx="1295400" cy="406400"/>
          </a:xfrm>
          <a:prstGeom prst="line">
            <a:avLst/>
          </a:prstGeom>
          <a:ln w="15240">
            <a:solidFill>
              <a:srgbClr val="96A0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6840458A-1031-E85B-65E5-1BD9475B2B44}"/>
              </a:ext>
            </a:extLst>
          </p:cNvPr>
          <p:cNvSpPr/>
          <p:nvPr/>
        </p:nvSpPr>
        <p:spPr>
          <a:xfrm>
            <a:off x="7112000" y="4127500"/>
            <a:ext cx="812800" cy="812800"/>
          </a:xfrm>
          <a:prstGeom prst="ellipse">
            <a:avLst/>
          </a:prstGeom>
          <a:solidFill>
            <a:srgbClr val="36A0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新事实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9BF08F8-499B-8194-E42B-F01629DB950F}"/>
              </a:ext>
            </a:extLst>
          </p:cNvPr>
          <p:cNvCxnSpPr/>
          <p:nvPr/>
        </p:nvCxnSpPr>
        <p:spPr>
          <a:xfrm>
            <a:off x="6223000" y="4762500"/>
            <a:ext cx="2438400" cy="419100"/>
          </a:xfrm>
          <a:prstGeom prst="line">
            <a:avLst/>
          </a:prstGeom>
          <a:ln w="15240">
            <a:solidFill>
              <a:srgbClr val="96A0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FDF9FD3D-79E6-EE47-4FBF-387A820CD521}"/>
              </a:ext>
            </a:extLst>
          </p:cNvPr>
          <p:cNvSpPr/>
          <p:nvPr/>
        </p:nvSpPr>
        <p:spPr>
          <a:xfrm>
            <a:off x="8255000" y="4953000"/>
            <a:ext cx="812800" cy="812800"/>
          </a:xfrm>
          <a:prstGeom prst="ellipse">
            <a:avLst/>
          </a:prstGeom>
          <a:solidFill>
            <a:srgbClr val="EE8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</a:t>
            </a:r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A709F13-C797-85C1-17E3-0CCE0B39299D}"/>
              </a:ext>
            </a:extLst>
          </p:cNvPr>
          <p:cNvCxnSpPr/>
          <p:nvPr/>
        </p:nvCxnSpPr>
        <p:spPr>
          <a:xfrm>
            <a:off x="6223000" y="4762500"/>
            <a:ext cx="723900" cy="800100"/>
          </a:xfrm>
          <a:prstGeom prst="line">
            <a:avLst/>
          </a:prstGeom>
          <a:ln w="15240">
            <a:solidFill>
              <a:srgbClr val="96A0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30299373-37AC-386A-0576-D3FF15B976C3}"/>
              </a:ext>
            </a:extLst>
          </p:cNvPr>
          <p:cNvSpPr/>
          <p:nvPr/>
        </p:nvSpPr>
        <p:spPr>
          <a:xfrm>
            <a:off x="6540500" y="5334000"/>
            <a:ext cx="812800" cy="812800"/>
          </a:xfrm>
          <a:prstGeom prst="ellipse">
            <a:avLst/>
          </a:prstGeom>
          <a:solidFill>
            <a:srgbClr val="765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42B47FB-0204-D84E-34ED-D2934BA101FC}"/>
              </a:ext>
            </a:extLst>
          </p:cNvPr>
          <p:cNvCxnSpPr/>
          <p:nvPr/>
        </p:nvCxnSpPr>
        <p:spPr>
          <a:xfrm flipH="1">
            <a:off x="4914900" y="4762500"/>
            <a:ext cx="1308100" cy="673100"/>
          </a:xfrm>
          <a:prstGeom prst="line">
            <a:avLst/>
          </a:prstGeom>
          <a:ln w="15240">
            <a:solidFill>
              <a:srgbClr val="96A0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FFDF78C7-3F60-D005-69CD-2799A0E40ABC}"/>
              </a:ext>
            </a:extLst>
          </p:cNvPr>
          <p:cNvSpPr/>
          <p:nvPr/>
        </p:nvSpPr>
        <p:spPr>
          <a:xfrm>
            <a:off x="4508500" y="5207000"/>
            <a:ext cx="812800" cy="812800"/>
          </a:xfrm>
          <a:prstGeom prst="ellipse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zh-CN" altLang="en-US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</a:t>
            </a:r>
            <a:r>
              <a:rPr lang="en-US" altLang="zh-CN"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4503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3CDFF9-1FB1-BF8C-FA12-0DD1BE16F94B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181C2A-A0D0-8C18-FB1F-B0797218A1D2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22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525859-C8D9-9D1D-5E9F-C0342B62D585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DUAL-ROUTE EDITING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61213-64E4-AC2C-2082-BB9B9FEA10D4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 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：候选层上的参数记忆与外部知识双路径注入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42C16F-0D82-3755-8C68-748F75EDC628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72F9599-F645-5717-1F52-ECFD9A6CA2B2}"/>
              </a:ext>
            </a:extLst>
          </p:cNvPr>
          <p:cNvSpPr/>
          <p:nvPr/>
        </p:nvSpPr>
        <p:spPr>
          <a:xfrm>
            <a:off x="736600" y="2819400"/>
            <a:ext cx="2159000" cy="8636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候选编辑层 </a:t>
            </a:r>
            <a:r>
              <a:rPr lang="en-US" altLang="zh-CN" sz="17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l*</a:t>
            </a:r>
            <a:endParaRPr lang="zh-CN" altLang="en-US" sz="17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A863106-153A-97EB-ECBE-9E23598FF0B7}"/>
              </a:ext>
            </a:extLst>
          </p:cNvPr>
          <p:cNvCxnSpPr/>
          <p:nvPr/>
        </p:nvCxnSpPr>
        <p:spPr>
          <a:xfrm flipV="1">
            <a:off x="2984500" y="2311400"/>
            <a:ext cx="1333500" cy="939800"/>
          </a:xfrm>
          <a:prstGeom prst="line">
            <a:avLst/>
          </a:prstGeom>
          <a:ln w="25400">
            <a:solidFill>
              <a:srgbClr val="7652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9FE058B-D123-C160-1215-3BAF59038374}"/>
              </a:ext>
            </a:extLst>
          </p:cNvPr>
          <p:cNvCxnSpPr/>
          <p:nvPr/>
        </p:nvCxnSpPr>
        <p:spPr>
          <a:xfrm>
            <a:off x="2984500" y="3251200"/>
            <a:ext cx="1333500" cy="965200"/>
          </a:xfrm>
          <a:prstGeom prst="line">
            <a:avLst/>
          </a:prstGeom>
          <a:ln w="25400">
            <a:solidFill>
              <a:srgbClr val="3771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20A2CA6-D347-8409-7880-C02B8E3EC663}"/>
              </a:ext>
            </a:extLst>
          </p:cNvPr>
          <p:cNvSpPr/>
          <p:nvPr/>
        </p:nvSpPr>
        <p:spPr>
          <a:xfrm>
            <a:off x="4419600" y="1651000"/>
            <a:ext cx="3175000" cy="1295400"/>
          </a:xfrm>
          <a:prstGeom prst="roundRect">
            <a:avLst/>
          </a:prstGeom>
          <a:solidFill>
            <a:srgbClr val="F1EC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 </a:t>
            </a:r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：参数内编辑
轻量适配器写入新事实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E75CCA0-B553-637D-3617-BBB2920DF205}"/>
              </a:ext>
            </a:extLst>
          </p:cNvPr>
          <p:cNvSpPr/>
          <p:nvPr/>
        </p:nvSpPr>
        <p:spPr>
          <a:xfrm>
            <a:off x="4419600" y="3632200"/>
            <a:ext cx="3175000" cy="1295400"/>
          </a:xfrm>
          <a:prstGeom prst="roundRect">
            <a:avLst/>
          </a:prstGeom>
          <a:solidFill>
            <a:srgbClr val="E7E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路径 </a:t>
            </a:r>
            <a:r>
              <a:rPr lang="en-US" altLang="zh-CN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：知识检索增强
子图证据动态注入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7725152-FDFF-D392-703E-054B21CBF579}"/>
              </a:ext>
            </a:extLst>
          </p:cNvPr>
          <p:cNvCxnSpPr/>
          <p:nvPr/>
        </p:nvCxnSpPr>
        <p:spPr>
          <a:xfrm>
            <a:off x="7683500" y="2298700"/>
            <a:ext cx="1206500" cy="952500"/>
          </a:xfrm>
          <a:prstGeom prst="line">
            <a:avLst/>
          </a:prstGeom>
          <a:ln w="25400">
            <a:solidFill>
              <a:srgbClr val="7652D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8FA25C0-E580-2873-5CB0-FBAC7F44B8B3}"/>
              </a:ext>
            </a:extLst>
          </p:cNvPr>
          <p:cNvCxnSpPr/>
          <p:nvPr/>
        </p:nvCxnSpPr>
        <p:spPr>
          <a:xfrm flipV="1">
            <a:off x="7683500" y="3251200"/>
            <a:ext cx="1206500" cy="1028700"/>
          </a:xfrm>
          <a:prstGeom prst="line">
            <a:avLst/>
          </a:prstGeom>
          <a:ln w="25400">
            <a:solidFill>
              <a:srgbClr val="3771E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C0321EB-5AB5-5736-27AD-915D79DC1E60}"/>
              </a:ext>
            </a:extLst>
          </p:cNvPr>
          <p:cNvSpPr/>
          <p:nvPr/>
        </p:nvSpPr>
        <p:spPr>
          <a:xfrm>
            <a:off x="8991600" y="2578100"/>
            <a:ext cx="2603500" cy="1346200"/>
          </a:xfrm>
          <a:prstGeom prst="roundRect">
            <a:avLst/>
          </a:prstGeom>
          <a:solidFill>
            <a:srgbClr val="E7F8E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6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门控融合
按问题与视觉证据分配权重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0C6508F-626D-7C3D-033C-5EC12A48054A}"/>
              </a:ext>
            </a:extLst>
          </p:cNvPr>
          <p:cNvSpPr/>
          <p:nvPr/>
        </p:nvSpPr>
        <p:spPr>
          <a:xfrm>
            <a:off x="1879600" y="5448300"/>
            <a:ext cx="8509000" cy="609600"/>
          </a:xfrm>
          <a:prstGeom prst="roundRect">
            <a:avLst/>
          </a:prstGeom>
          <a:solidFill>
            <a:srgbClr val="F6F8FC"/>
          </a:solidFill>
          <a:ln w="15875">
            <a:solidFill>
              <a:srgbClr val="DAE2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目标：可靠写入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泛化保持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局部性约束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可追溯证据</a:t>
            </a:r>
          </a:p>
        </p:txBody>
      </p:sp>
    </p:spTree>
    <p:extLst>
      <p:ext uri="{BB962C8B-B14F-4D97-AF65-F5344CB8AC3E}">
        <p14:creationId xmlns:p14="http://schemas.microsoft.com/office/powerpoint/2010/main" val="4190635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02C881-3932-0477-B64D-6E8146FB2EF7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D66238-2FC6-FB9A-111A-564BC04CCC90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23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50535A-8686-2C95-CE0B-4C5D67FEDED6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INTERACTIVE VISUAL ANALYTICS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EBFFF8-C2AE-2BF4-04A6-23CCE2569421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 </a:t>
            </a:r>
            <a:r>
              <a:rPr lang="en-US" altLang="zh-CN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：把“为什么选这一层”做成交互式可视分析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625E44-2A8B-5B0C-7964-61870B0DDFC2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21BFB5-FF81-3D17-CB9D-A8F493603127}"/>
              </a:ext>
            </a:extLst>
          </p:cNvPr>
          <p:cNvSpPr/>
          <p:nvPr/>
        </p:nvSpPr>
        <p:spPr>
          <a:xfrm>
            <a:off x="736600" y="1841500"/>
            <a:ext cx="2476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筛选器
模型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数据集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8C56B4-D8B7-0A28-D725-96A5E5159E6C}"/>
              </a:ext>
            </a:extLst>
          </p:cNvPr>
          <p:cNvSpPr/>
          <p:nvPr/>
        </p:nvSpPr>
        <p:spPr>
          <a:xfrm>
            <a:off x="3429000" y="1841500"/>
            <a:ext cx="2476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层热力图
分数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×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真实编辑效果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D253EC6-A6E4-1A02-2AB9-4BCCE67C88A2}"/>
              </a:ext>
            </a:extLst>
          </p:cNvPr>
          <p:cNvSpPr/>
          <p:nvPr/>
        </p:nvSpPr>
        <p:spPr>
          <a:xfrm>
            <a:off x="6121400" y="1841500"/>
            <a:ext cx="2476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方法对比
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重合 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Regret / WTL</a:t>
            </a:r>
            <a:endParaRPr lang="zh-CN" altLang="en-US" sz="1500" b="1">
              <a:solidFill>
                <a:srgbClr val="1F2A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0F18772-B4B7-B486-4E60-9F0831BDEC31}"/>
              </a:ext>
            </a:extLst>
          </p:cNvPr>
          <p:cNvSpPr/>
          <p:nvPr/>
        </p:nvSpPr>
        <p:spPr>
          <a:xfrm>
            <a:off x="8813800" y="1841500"/>
            <a:ext cx="2476500" cy="133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证据追踪
</a:t>
            </a:r>
            <a:r>
              <a:rPr lang="en-US" altLang="zh-CN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checkpoint / eval / </a:t>
            </a:r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异常状态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6075044-6C4D-B9FB-8FA6-26380CE09220}"/>
              </a:ext>
            </a:extLst>
          </p:cNvPr>
          <p:cNvCxnSpPr/>
          <p:nvPr/>
        </p:nvCxnSpPr>
        <p:spPr>
          <a:xfrm>
            <a:off x="3225800" y="2514600"/>
            <a:ext cx="1778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769CEC4-2DB4-C405-D603-A3EF21A61F0C}"/>
              </a:ext>
            </a:extLst>
          </p:cNvPr>
          <p:cNvCxnSpPr/>
          <p:nvPr/>
        </p:nvCxnSpPr>
        <p:spPr>
          <a:xfrm>
            <a:off x="5918200" y="2514600"/>
            <a:ext cx="1778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4556F55-B85B-A8B4-3D7F-E22324B2188A}"/>
              </a:ext>
            </a:extLst>
          </p:cNvPr>
          <p:cNvCxnSpPr/>
          <p:nvPr/>
        </p:nvCxnSpPr>
        <p:spPr>
          <a:xfrm>
            <a:off x="8610600" y="2514600"/>
            <a:ext cx="1778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9C9FBBC-D374-4B3A-6988-5BC4E7DAD5DA}"/>
              </a:ext>
            </a:extLst>
          </p:cNvPr>
          <p:cNvSpPr txBox="1"/>
          <p:nvPr/>
        </p:nvSpPr>
        <p:spPr>
          <a:xfrm>
            <a:off x="736600" y="3759200"/>
            <a:ext cx="495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5B677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示意：预测分数与真实编辑效果的联合层图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03CAF32-19C0-B638-32D6-F843D7F54384}"/>
              </a:ext>
            </a:extLst>
          </p:cNvPr>
          <p:cNvCxnSpPr/>
          <p:nvPr/>
        </p:nvCxnSpPr>
        <p:spPr>
          <a:xfrm flipV="1">
            <a:off x="1117600" y="5359400"/>
            <a:ext cx="660400" cy="762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DB1B7F9-4C6A-D14F-FA54-332671E6222C}"/>
              </a:ext>
            </a:extLst>
          </p:cNvPr>
          <p:cNvCxnSpPr/>
          <p:nvPr/>
        </p:nvCxnSpPr>
        <p:spPr>
          <a:xfrm flipV="1">
            <a:off x="1117600" y="5295900"/>
            <a:ext cx="660400" cy="635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08DD60A-81CA-5A0D-EB87-4D00A03A88A7}"/>
              </a:ext>
            </a:extLst>
          </p:cNvPr>
          <p:cNvCxnSpPr/>
          <p:nvPr/>
        </p:nvCxnSpPr>
        <p:spPr>
          <a:xfrm flipV="1">
            <a:off x="1778000" y="5232400"/>
            <a:ext cx="660400" cy="1270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5E45BC3-B29C-4E69-44F6-8FB4A17CD101}"/>
              </a:ext>
            </a:extLst>
          </p:cNvPr>
          <p:cNvCxnSpPr/>
          <p:nvPr/>
        </p:nvCxnSpPr>
        <p:spPr>
          <a:xfrm flipV="1">
            <a:off x="1778000" y="5194300"/>
            <a:ext cx="660400" cy="1016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8937C6E-A662-7F94-C67C-39BF70FFA760}"/>
              </a:ext>
            </a:extLst>
          </p:cNvPr>
          <p:cNvCxnSpPr/>
          <p:nvPr/>
        </p:nvCxnSpPr>
        <p:spPr>
          <a:xfrm flipV="1">
            <a:off x="2438400" y="5054600"/>
            <a:ext cx="660400" cy="1778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D0273A3-61E7-0F92-4657-C6C0C09FBC39}"/>
              </a:ext>
            </a:extLst>
          </p:cNvPr>
          <p:cNvCxnSpPr/>
          <p:nvPr/>
        </p:nvCxnSpPr>
        <p:spPr>
          <a:xfrm flipV="1">
            <a:off x="2438400" y="5105400"/>
            <a:ext cx="660400" cy="889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6B1CCA7C-E361-C442-B2DB-D8C8926BD5FD}"/>
              </a:ext>
            </a:extLst>
          </p:cNvPr>
          <p:cNvCxnSpPr/>
          <p:nvPr/>
        </p:nvCxnSpPr>
        <p:spPr>
          <a:xfrm flipV="1">
            <a:off x="3098800" y="4851400"/>
            <a:ext cx="660400" cy="2032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9EE5EDF-3B5B-ADCF-C6AF-51A86529C58F}"/>
              </a:ext>
            </a:extLst>
          </p:cNvPr>
          <p:cNvCxnSpPr/>
          <p:nvPr/>
        </p:nvCxnSpPr>
        <p:spPr>
          <a:xfrm flipV="1">
            <a:off x="3098800" y="4940300"/>
            <a:ext cx="660400" cy="1651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603483D-EB9A-48A7-5C2C-69DD6244D048}"/>
              </a:ext>
            </a:extLst>
          </p:cNvPr>
          <p:cNvCxnSpPr/>
          <p:nvPr/>
        </p:nvCxnSpPr>
        <p:spPr>
          <a:xfrm flipV="1">
            <a:off x="3759200" y="4673600"/>
            <a:ext cx="660400" cy="1778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F6FAE1D-3AF1-F491-8033-C77CE2DB3800}"/>
              </a:ext>
            </a:extLst>
          </p:cNvPr>
          <p:cNvCxnSpPr/>
          <p:nvPr/>
        </p:nvCxnSpPr>
        <p:spPr>
          <a:xfrm flipV="1">
            <a:off x="3759200" y="4737100"/>
            <a:ext cx="660400" cy="2032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091B7B4-59A5-6042-1FA4-6BE081B032FC}"/>
              </a:ext>
            </a:extLst>
          </p:cNvPr>
          <p:cNvCxnSpPr/>
          <p:nvPr/>
        </p:nvCxnSpPr>
        <p:spPr>
          <a:xfrm flipV="1">
            <a:off x="4419600" y="4521200"/>
            <a:ext cx="660400" cy="1524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581BE57-1C18-8638-51DA-1EC0CC2756AD}"/>
              </a:ext>
            </a:extLst>
          </p:cNvPr>
          <p:cNvCxnSpPr/>
          <p:nvPr/>
        </p:nvCxnSpPr>
        <p:spPr>
          <a:xfrm flipV="1">
            <a:off x="4419600" y="4597400"/>
            <a:ext cx="660400" cy="1397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8B240FC-0AAE-18F8-FEB5-7A41A3E0266E}"/>
              </a:ext>
            </a:extLst>
          </p:cNvPr>
          <p:cNvCxnSpPr/>
          <p:nvPr/>
        </p:nvCxnSpPr>
        <p:spPr>
          <a:xfrm>
            <a:off x="5080000" y="4521200"/>
            <a:ext cx="660400" cy="2413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233ADA1-09C9-E0AC-63B6-1703EB301732}"/>
              </a:ext>
            </a:extLst>
          </p:cNvPr>
          <p:cNvCxnSpPr/>
          <p:nvPr/>
        </p:nvCxnSpPr>
        <p:spPr>
          <a:xfrm>
            <a:off x="5080000" y="4597400"/>
            <a:ext cx="660400" cy="1016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94391D5-B92F-4A72-4C7C-326C49996D29}"/>
              </a:ext>
            </a:extLst>
          </p:cNvPr>
          <p:cNvCxnSpPr/>
          <p:nvPr/>
        </p:nvCxnSpPr>
        <p:spPr>
          <a:xfrm>
            <a:off x="5740400" y="4762500"/>
            <a:ext cx="660400" cy="2159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8A68C33E-DA0F-AF28-80E6-3F426EDEABFD}"/>
              </a:ext>
            </a:extLst>
          </p:cNvPr>
          <p:cNvCxnSpPr/>
          <p:nvPr/>
        </p:nvCxnSpPr>
        <p:spPr>
          <a:xfrm>
            <a:off x="5740400" y="4699000"/>
            <a:ext cx="660400" cy="1778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92EBA12-CB89-30E7-F68F-06482828ED00}"/>
              </a:ext>
            </a:extLst>
          </p:cNvPr>
          <p:cNvCxnSpPr/>
          <p:nvPr/>
        </p:nvCxnSpPr>
        <p:spPr>
          <a:xfrm>
            <a:off x="6400800" y="4978400"/>
            <a:ext cx="660400" cy="1778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4475423-821D-FA3E-1317-414279E8A091}"/>
              </a:ext>
            </a:extLst>
          </p:cNvPr>
          <p:cNvCxnSpPr/>
          <p:nvPr/>
        </p:nvCxnSpPr>
        <p:spPr>
          <a:xfrm>
            <a:off x="6400800" y="4876800"/>
            <a:ext cx="660400" cy="1905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6E142B7-D0D9-3CEB-2C8E-262264C854A0}"/>
              </a:ext>
            </a:extLst>
          </p:cNvPr>
          <p:cNvCxnSpPr/>
          <p:nvPr/>
        </p:nvCxnSpPr>
        <p:spPr>
          <a:xfrm>
            <a:off x="7061200" y="5156200"/>
            <a:ext cx="660400" cy="1524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54CD177-F477-31B3-CC1C-78829B972831}"/>
              </a:ext>
            </a:extLst>
          </p:cNvPr>
          <p:cNvCxnSpPr/>
          <p:nvPr/>
        </p:nvCxnSpPr>
        <p:spPr>
          <a:xfrm>
            <a:off x="7061200" y="5067300"/>
            <a:ext cx="660400" cy="1524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489C0DD-F8EF-D464-3041-E53D2313C95B}"/>
              </a:ext>
            </a:extLst>
          </p:cNvPr>
          <p:cNvCxnSpPr/>
          <p:nvPr/>
        </p:nvCxnSpPr>
        <p:spPr>
          <a:xfrm>
            <a:off x="7721600" y="5308600"/>
            <a:ext cx="660400" cy="635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1A19171-991A-A991-D04A-24B9D01B3228}"/>
              </a:ext>
            </a:extLst>
          </p:cNvPr>
          <p:cNvCxnSpPr/>
          <p:nvPr/>
        </p:nvCxnSpPr>
        <p:spPr>
          <a:xfrm>
            <a:off x="7721600" y="5219700"/>
            <a:ext cx="660400" cy="1143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5CB03B1-B295-C7C6-3173-C501DC312727}"/>
              </a:ext>
            </a:extLst>
          </p:cNvPr>
          <p:cNvCxnSpPr/>
          <p:nvPr/>
        </p:nvCxnSpPr>
        <p:spPr>
          <a:xfrm>
            <a:off x="8382000" y="5372100"/>
            <a:ext cx="660400" cy="762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2C9BD36-F10E-5402-5A48-E297988D7643}"/>
              </a:ext>
            </a:extLst>
          </p:cNvPr>
          <p:cNvCxnSpPr/>
          <p:nvPr/>
        </p:nvCxnSpPr>
        <p:spPr>
          <a:xfrm>
            <a:off x="8382000" y="5334000"/>
            <a:ext cx="660400" cy="508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334D99F-F43C-53B8-20E7-3CBFCB9E1A07}"/>
              </a:ext>
            </a:extLst>
          </p:cNvPr>
          <p:cNvCxnSpPr/>
          <p:nvPr/>
        </p:nvCxnSpPr>
        <p:spPr>
          <a:xfrm>
            <a:off x="9042400" y="5448300"/>
            <a:ext cx="660400" cy="25400"/>
          </a:xfrm>
          <a:prstGeom prst="line">
            <a:avLst/>
          </a:prstGeom>
          <a:ln w="25400">
            <a:solidFill>
              <a:srgbClr val="765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5FAC233-98FE-D82F-6433-7178F55141B9}"/>
              </a:ext>
            </a:extLst>
          </p:cNvPr>
          <p:cNvCxnSpPr/>
          <p:nvPr/>
        </p:nvCxnSpPr>
        <p:spPr>
          <a:xfrm>
            <a:off x="9042400" y="5384800"/>
            <a:ext cx="660400" cy="38100"/>
          </a:xfrm>
          <a:prstGeom prst="line">
            <a:avLst/>
          </a:prstGeom>
          <a:ln w="25400">
            <a:solidFill>
              <a:srgbClr val="36A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AB1D6382-61A6-1E92-175B-0BEF5A114782}"/>
              </a:ext>
            </a:extLst>
          </p:cNvPr>
          <p:cNvSpPr txBox="1"/>
          <p:nvPr/>
        </p:nvSpPr>
        <p:spPr>
          <a:xfrm>
            <a:off x="8953500" y="44450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7652D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定位分数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56E042-BB69-ABE8-9C8C-C583FA65F117}"/>
              </a:ext>
            </a:extLst>
          </p:cNvPr>
          <p:cNvSpPr txBox="1"/>
          <p:nvPr/>
        </p:nvSpPr>
        <p:spPr>
          <a:xfrm>
            <a:off x="10071100" y="4445000"/>
            <a:ext cx="1041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36A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编辑效果</a:t>
            </a:r>
          </a:p>
        </p:txBody>
      </p:sp>
    </p:spTree>
    <p:extLst>
      <p:ext uri="{BB962C8B-B14F-4D97-AF65-F5344CB8AC3E}">
        <p14:creationId xmlns:p14="http://schemas.microsoft.com/office/powerpoint/2010/main" val="1774664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2408AD2-4D59-2DB8-F867-E324A376318C}"/>
              </a:ext>
            </a:extLst>
          </p:cNvPr>
          <p:cNvSpPr txBox="1"/>
          <p:nvPr/>
        </p:nvSpPr>
        <p:spPr>
          <a:xfrm>
            <a:off x="736600" y="64770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96A0A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视觉编辑层定位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8EC653-5AB6-85FB-4270-546C7E51D6B7}"/>
              </a:ext>
            </a:extLst>
          </p:cNvPr>
          <p:cNvSpPr txBox="1"/>
          <p:nvPr/>
        </p:nvSpPr>
        <p:spPr>
          <a:xfrm>
            <a:off x="112268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96A0AB"/>
                </a:solidFill>
                <a:latin typeface="Arial" panose="020B0604020202020204" pitchFamily="34" charset="0"/>
              </a:rPr>
              <a:t>24</a:t>
            </a:r>
            <a:endParaRPr lang="zh-CN" altLang="en-US" sz="900">
              <a:solidFill>
                <a:srgbClr val="96A0AB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73AFC7-152B-5647-EF94-988AD57B411A}"/>
              </a:ext>
            </a:extLst>
          </p:cNvPr>
          <p:cNvSpPr txBox="1"/>
          <p:nvPr/>
        </p:nvSpPr>
        <p:spPr>
          <a:xfrm>
            <a:off x="736600" y="3175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168E8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ROADMAP</a:t>
            </a:r>
            <a:endParaRPr lang="zh-CN" altLang="en-US" sz="1100" b="1">
              <a:solidFill>
                <a:srgbClr val="168E8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83CF1C-D478-9051-296A-4218D8F42D0C}"/>
              </a:ext>
            </a:extLst>
          </p:cNvPr>
          <p:cNvSpPr txBox="1"/>
          <p:nvPr/>
        </p:nvSpPr>
        <p:spPr>
          <a:xfrm>
            <a:off x="736600" y="609600"/>
            <a:ext cx="10795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2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工作计划：先补齐证据，再完成知识增强编辑闭环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7930E3-6273-8F1A-CA5D-2C0ED202E59C}"/>
              </a:ext>
            </a:extLst>
          </p:cNvPr>
          <p:cNvSpPr/>
          <p:nvPr/>
        </p:nvSpPr>
        <p:spPr>
          <a:xfrm>
            <a:off x="736600" y="1524000"/>
            <a:ext cx="533400" cy="50800"/>
          </a:xfrm>
          <a:prstGeom prst="rect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814D757-C274-E220-5B12-73C88FECAA8E}"/>
              </a:ext>
            </a:extLst>
          </p:cNvPr>
          <p:cNvSpPr/>
          <p:nvPr/>
        </p:nvSpPr>
        <p:spPr>
          <a:xfrm>
            <a:off x="1397000" y="1841500"/>
            <a:ext cx="508000" cy="508000"/>
          </a:xfrm>
          <a:prstGeom prst="ellipse">
            <a:avLst/>
          </a:prstGeom>
          <a:solidFill>
            <a:srgbClr val="3771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6763036-DAE5-580D-0864-238455B8A1A0}"/>
              </a:ext>
            </a:extLst>
          </p:cNvPr>
          <p:cNvCxnSpPr/>
          <p:nvPr/>
        </p:nvCxnSpPr>
        <p:spPr>
          <a:xfrm>
            <a:off x="2006600" y="2095500"/>
            <a:ext cx="787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A4E4F5-FDCA-E17C-62A5-75DBFA7C968D}"/>
              </a:ext>
            </a:extLst>
          </p:cNvPr>
          <p:cNvSpPr/>
          <p:nvPr/>
        </p:nvSpPr>
        <p:spPr>
          <a:xfrm>
            <a:off x="736600" y="2717800"/>
            <a:ext cx="1841500" cy="431800"/>
          </a:xfrm>
          <a:prstGeom prst="roundRect">
            <a:avLst/>
          </a:prstGeom>
          <a:solidFill>
            <a:srgbClr val="3771E5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34ABC3-1DFD-9D82-4119-1255E564D1F8}"/>
              </a:ext>
            </a:extLst>
          </p:cNvPr>
          <p:cNvSpPr/>
          <p:nvPr/>
        </p:nvSpPr>
        <p:spPr>
          <a:xfrm>
            <a:off x="736600" y="3200400"/>
            <a:ext cx="18415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77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补齐候选层真实实验
</a:t>
            </a:r>
            <a:r>
              <a:rPr lang="en-US" altLang="zh-CN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组合覆盖、失败层重跑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FB47FB9-3ACD-14CC-EF7A-D23C8E036774}"/>
              </a:ext>
            </a:extLst>
          </p:cNvPr>
          <p:cNvSpPr/>
          <p:nvPr/>
        </p:nvSpPr>
        <p:spPr>
          <a:xfrm>
            <a:off x="3581400" y="1841500"/>
            <a:ext cx="508000" cy="508000"/>
          </a:xfrm>
          <a:prstGeom prst="ellipse">
            <a:avLst/>
          </a:prstGeom>
          <a:solidFill>
            <a:srgbClr val="7652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40CBC4A-E474-C849-05B7-5F86F13E2939}"/>
              </a:ext>
            </a:extLst>
          </p:cNvPr>
          <p:cNvCxnSpPr/>
          <p:nvPr/>
        </p:nvCxnSpPr>
        <p:spPr>
          <a:xfrm>
            <a:off x="4191000" y="2095500"/>
            <a:ext cx="787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67BB64-549C-9C23-1EEF-1A14F97B03BA}"/>
              </a:ext>
            </a:extLst>
          </p:cNvPr>
          <p:cNvSpPr/>
          <p:nvPr/>
        </p:nvSpPr>
        <p:spPr>
          <a:xfrm>
            <a:off x="2921000" y="2717800"/>
            <a:ext cx="1841500" cy="431800"/>
          </a:xfrm>
          <a:prstGeom prst="roundRect">
            <a:avLst/>
          </a:prstGeom>
          <a:solidFill>
            <a:srgbClr val="7652D2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E5E01C3-D05F-A63F-7747-B6BDA4AF0F47}"/>
              </a:ext>
            </a:extLst>
          </p:cNvPr>
          <p:cNvSpPr/>
          <p:nvPr/>
        </p:nvSpPr>
        <p:spPr>
          <a:xfrm>
            <a:off x="2921000" y="3200400"/>
            <a:ext cx="18415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652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完成统计与消融
</a:t>
            </a:r>
            <a:r>
              <a:rPr lang="en-US" altLang="zh-CN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公式、</a:t>
            </a:r>
            <a:r>
              <a:rPr lang="en-US" altLang="zh-CN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</a:t>
            </a:r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、显著性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3421534-C3EB-9830-BC41-A8C3B07233D1}"/>
              </a:ext>
            </a:extLst>
          </p:cNvPr>
          <p:cNvSpPr/>
          <p:nvPr/>
        </p:nvSpPr>
        <p:spPr>
          <a:xfrm>
            <a:off x="5765800" y="1841500"/>
            <a:ext cx="508000" cy="508000"/>
          </a:xfrm>
          <a:prstGeom prst="ellipse">
            <a:avLst/>
          </a:prstGeom>
          <a:solidFill>
            <a:srgbClr val="168E8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701E30B-BFE3-E23A-4630-CD20732E9852}"/>
              </a:ext>
            </a:extLst>
          </p:cNvPr>
          <p:cNvCxnSpPr/>
          <p:nvPr/>
        </p:nvCxnSpPr>
        <p:spPr>
          <a:xfrm>
            <a:off x="6375400" y="2095500"/>
            <a:ext cx="787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B56FC7-49C7-99B6-124E-42A611350F1F}"/>
              </a:ext>
            </a:extLst>
          </p:cNvPr>
          <p:cNvSpPr/>
          <p:nvPr/>
        </p:nvSpPr>
        <p:spPr>
          <a:xfrm>
            <a:off x="5105400" y="2717800"/>
            <a:ext cx="1841500" cy="431800"/>
          </a:xfrm>
          <a:prstGeom prst="roundRect">
            <a:avLst/>
          </a:prstGeom>
          <a:solidFill>
            <a:srgbClr val="168E88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BD8A8BF-8056-5642-49B8-D78215A812C6}"/>
              </a:ext>
            </a:extLst>
          </p:cNvPr>
          <p:cNvSpPr/>
          <p:nvPr/>
        </p:nvSpPr>
        <p:spPr>
          <a:xfrm>
            <a:off x="5105400" y="3200400"/>
            <a:ext cx="18415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8E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构建知识子图
实体对齐与证据追踪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69B98BD-6472-7401-6DE5-3E43E869A576}"/>
              </a:ext>
            </a:extLst>
          </p:cNvPr>
          <p:cNvSpPr/>
          <p:nvPr/>
        </p:nvSpPr>
        <p:spPr>
          <a:xfrm>
            <a:off x="7950200" y="1841500"/>
            <a:ext cx="508000" cy="508000"/>
          </a:xfrm>
          <a:prstGeom prst="ellipse">
            <a:avLst/>
          </a:prstGeom>
          <a:solidFill>
            <a:srgbClr val="36A07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35A5464-9C93-A1B0-699A-65E962CAA997}"/>
              </a:ext>
            </a:extLst>
          </p:cNvPr>
          <p:cNvCxnSpPr/>
          <p:nvPr/>
        </p:nvCxnSpPr>
        <p:spPr>
          <a:xfrm>
            <a:off x="8559800" y="2095500"/>
            <a:ext cx="787400" cy="0"/>
          </a:xfrm>
          <a:prstGeom prst="line">
            <a:avLst/>
          </a:prstGeom>
          <a:ln w="22860">
            <a:solidFill>
              <a:srgbClr val="96A0A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731E17A-A4DD-6313-B069-D99181886887}"/>
              </a:ext>
            </a:extLst>
          </p:cNvPr>
          <p:cNvSpPr/>
          <p:nvPr/>
        </p:nvSpPr>
        <p:spPr>
          <a:xfrm>
            <a:off x="7289800" y="2717800"/>
            <a:ext cx="1841500" cy="431800"/>
          </a:xfrm>
          <a:prstGeom prst="roundRect">
            <a:avLst/>
          </a:prstGeom>
          <a:solidFill>
            <a:srgbClr val="36A070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2BFDB45-9458-3ECD-DBBC-C89A7DCFF41F}"/>
              </a:ext>
            </a:extLst>
          </p:cNvPr>
          <p:cNvSpPr/>
          <p:nvPr/>
        </p:nvSpPr>
        <p:spPr>
          <a:xfrm>
            <a:off x="7289800" y="3200400"/>
            <a:ext cx="18415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6A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双路径编辑系统
参数记忆 </a:t>
            </a:r>
            <a:r>
              <a:rPr lang="en-US" altLang="zh-CN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图谱检索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B76C6B5C-AEB6-F7F1-C233-3A3F6D0BC5CA}"/>
              </a:ext>
            </a:extLst>
          </p:cNvPr>
          <p:cNvSpPr/>
          <p:nvPr/>
        </p:nvSpPr>
        <p:spPr>
          <a:xfrm>
            <a:off x="10134600" y="1841500"/>
            <a:ext cx="508000" cy="508000"/>
          </a:xfrm>
          <a:prstGeom prst="ellipse">
            <a:avLst/>
          </a:prstGeom>
          <a:solidFill>
            <a:srgbClr val="EE8F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7C6FA7B-2B18-ECFB-CDC9-3EB61F566504}"/>
              </a:ext>
            </a:extLst>
          </p:cNvPr>
          <p:cNvSpPr/>
          <p:nvPr/>
        </p:nvSpPr>
        <p:spPr>
          <a:xfrm>
            <a:off x="9474200" y="2717800"/>
            <a:ext cx="1841500" cy="431800"/>
          </a:xfrm>
          <a:prstGeom prst="roundRect">
            <a:avLst/>
          </a:prstGeom>
          <a:solidFill>
            <a:srgbClr val="EE8F34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2EEB6E-EAB7-6B43-8C57-64400C1091FA}"/>
              </a:ext>
            </a:extLst>
          </p:cNvPr>
          <p:cNvSpPr/>
          <p:nvPr/>
        </p:nvSpPr>
        <p:spPr>
          <a:xfrm>
            <a:off x="9474200" y="3200400"/>
            <a:ext cx="1841500" cy="1244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E8F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3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可视分析与论文
解释、复现、对比结论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68CAE7E-DEA9-FE03-EC4A-06041007EF09}"/>
              </a:ext>
            </a:extLst>
          </p:cNvPr>
          <p:cNvSpPr/>
          <p:nvPr/>
        </p:nvSpPr>
        <p:spPr>
          <a:xfrm>
            <a:off x="736600" y="5181600"/>
            <a:ext cx="1524000" cy="508000"/>
          </a:xfrm>
          <a:prstGeom prst="roundRect">
            <a:avLst/>
          </a:prstGeom>
          <a:solidFill>
            <a:srgbClr val="0D263E"/>
          </a:solidFill>
          <a:ln w="15875">
            <a:solidFill>
              <a:srgbClr val="0D26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63500" rIns="101600" bIns="6350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最终目标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8C9F5D5-1291-88A2-9A83-BA6D26FAC439}"/>
              </a:ext>
            </a:extLst>
          </p:cNvPr>
          <p:cNvSpPr txBox="1"/>
          <p:nvPr/>
        </p:nvSpPr>
        <p:spPr>
          <a:xfrm>
            <a:off x="2476500" y="5156200"/>
            <a:ext cx="8890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1F2A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证明定位方法能更高效地命中高性能编辑层，并将其转化为可控、可解释、可复现的知识增强视觉语言模型编辑框架。</a:t>
            </a:r>
          </a:p>
        </p:txBody>
      </p:sp>
    </p:spTree>
    <p:extLst>
      <p:ext uri="{BB962C8B-B14F-4D97-AF65-F5344CB8AC3E}">
        <p14:creationId xmlns:p14="http://schemas.microsoft.com/office/powerpoint/2010/main" val="188870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3409</Words>
  <Application>Microsoft Office PowerPoint</Application>
  <PresentationFormat>自定义</PresentationFormat>
  <Paragraphs>449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 周</dc:creator>
  <cp:lastModifiedBy>楠 周</cp:lastModifiedBy>
  <cp:revision>1</cp:revision>
  <dcterms:created xsi:type="dcterms:W3CDTF">2026-08-01T02:01:15Z</dcterms:created>
  <dcterms:modified xsi:type="dcterms:W3CDTF">2026-08-01T02:01:15Z</dcterms:modified>
</cp:coreProperties>
</file>
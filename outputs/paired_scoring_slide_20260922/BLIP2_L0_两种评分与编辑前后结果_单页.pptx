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A44B6-A12E-4FEB-BBFD-EEB54C41A26E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7A837-A76C-4A2D-82CA-727F8E6AA7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讲解顺序：左侧每个位置都看正确前缀，错误不沿生成链累积。右侧从头生成，使用自己的历史，错误可能累积。左侧模型分词器</a:t>
            </a:r>
            <a:r>
              <a:rPr lang="en-US" altLang="zh-CN"/>
              <a:t>token</a:t>
            </a:r>
            <a:r>
              <a:rPr lang="zh-CN" altLang="en-US"/>
              <a:t>位置准确率，右侧归一化词级重叠</a:t>
            </a:r>
            <a:r>
              <a:rPr lang="en-US" altLang="zh-CN"/>
              <a:t>F1</a:t>
            </a:r>
            <a:r>
              <a:rPr lang="zh-CN" altLang="en-US"/>
              <a:t>。
</a:t>
            </a:r>
            <a:r>
              <a:rPr lang="en-US" altLang="zh-CN"/>
              <a:t>F1</a:t>
            </a:r>
            <a:r>
              <a:rPr lang="zh-CN" altLang="en-US"/>
              <a:t>例子：参考</a:t>
            </a:r>
            <a:r>
              <a:rPr lang="en-US" altLang="zh-CN"/>
              <a:t>red sports car</a:t>
            </a:r>
            <a:r>
              <a:rPr lang="zh-CN" altLang="en-US"/>
              <a:t>，生成</a:t>
            </a:r>
            <a:r>
              <a:rPr lang="en-US" altLang="zh-CN"/>
              <a:t>red car</a:t>
            </a:r>
            <a:r>
              <a:rPr lang="zh-CN" altLang="en-US"/>
              <a:t>，</a:t>
            </a:r>
            <a:r>
              <a:rPr lang="en-US" altLang="zh-CN"/>
              <a:t>P=1</a:t>
            </a:r>
            <a:r>
              <a:rPr lang="zh-CN" altLang="en-US"/>
              <a:t>，</a:t>
            </a:r>
            <a:r>
              <a:rPr lang="en-US" altLang="zh-CN"/>
              <a:t>R=2/3</a:t>
            </a:r>
            <a:r>
              <a:rPr lang="zh-CN" altLang="en-US"/>
              <a:t>，</a:t>
            </a:r>
            <a:r>
              <a:rPr lang="en-US" altLang="zh-CN"/>
              <a:t>F1=80%</a:t>
            </a:r>
            <a:r>
              <a:rPr lang="zh-CN" altLang="en-US"/>
              <a:t>。</a:t>
            </a:r>
            <a:r>
              <a:rPr lang="en-US" altLang="zh-CN"/>
              <a:t>P=</a:t>
            </a:r>
            <a:r>
              <a:rPr lang="zh-CN" altLang="en-US"/>
              <a:t>重叠词数</a:t>
            </a:r>
            <a:r>
              <a:rPr lang="en-US" altLang="zh-CN"/>
              <a:t>/</a:t>
            </a:r>
            <a:r>
              <a:rPr lang="zh-CN" altLang="en-US"/>
              <a:t>生成词数，</a:t>
            </a:r>
            <a:r>
              <a:rPr lang="en-US" altLang="zh-CN"/>
              <a:t>R=</a:t>
            </a:r>
            <a:r>
              <a:rPr lang="zh-CN" altLang="en-US"/>
              <a:t>重叠词数</a:t>
            </a:r>
            <a:r>
              <a:rPr lang="en-US" altLang="zh-CN"/>
              <a:t>/</a:t>
            </a:r>
            <a:r>
              <a:rPr lang="zh-CN" altLang="en-US"/>
              <a:t>参考词数。忽略大小写、删除英文标点、去掉</a:t>
            </a:r>
            <a:r>
              <a:rPr lang="en-US" altLang="zh-CN"/>
              <a:t>a/an/the</a:t>
            </a:r>
            <a:r>
              <a:rPr lang="zh-CN" altLang="en-US"/>
              <a:t>，再按空格切词。不直接检查词序和语义。
每题先算评分，再汇总。</a:t>
            </a:r>
            <a:r>
              <a:rPr lang="en-US" altLang="zh-CN"/>
              <a:t>955</a:t>
            </a:r>
            <a:r>
              <a:rPr lang="zh-CN" altLang="en-US"/>
              <a:t>个唯一</a:t>
            </a:r>
            <a:r>
              <a:rPr lang="en-US" altLang="zh-CN"/>
              <a:t>sample_id</a:t>
            </a:r>
            <a:r>
              <a:rPr lang="zh-CN" altLang="en-US"/>
              <a:t>，无重复无缺失。图片和文本关联问答各</a:t>
            </a:r>
            <a:r>
              <a:rPr lang="en-US" altLang="zh-CN"/>
              <a:t>1910</a:t>
            </a:r>
            <a:r>
              <a:rPr lang="zh-CN" altLang="en-US"/>
              <a:t>道，其余各</a:t>
            </a:r>
            <a:r>
              <a:rPr lang="en-US" altLang="zh-CN"/>
              <a:t>955</a:t>
            </a:r>
            <a:r>
              <a:rPr lang="zh-CN" altLang="en-US"/>
              <a:t>道。</a:t>
            </a:r>
            <a:r>
              <a:rPr lang="en-US" altLang="zh-CN"/>
              <a:t>95%</a:t>
            </a:r>
            <a:r>
              <a:rPr lang="zh-CN" altLang="en-US"/>
              <a:t>区间以</a:t>
            </a:r>
            <a:r>
              <a:rPr lang="en-US" altLang="zh-CN"/>
              <a:t>sample_id</a:t>
            </a:r>
            <a:r>
              <a:rPr lang="zh-CN" altLang="en-US"/>
              <a:t>簇进行</a:t>
            </a:r>
            <a:r>
              <a:rPr lang="en-US" altLang="zh-CN"/>
              <a:t>2000</a:t>
            </a:r>
            <a:r>
              <a:rPr lang="zh-CN" altLang="en-US"/>
              <a:t>次配对</a:t>
            </a:r>
            <a:r>
              <a:rPr lang="en-US" altLang="zh-CN"/>
              <a:t>bootstrap</a:t>
            </a:r>
            <a:r>
              <a:rPr lang="zh-CN" altLang="en-US"/>
              <a:t>，</a:t>
            </a:r>
            <a:r>
              <a:rPr lang="en-US" altLang="zh-CN"/>
              <a:t>seed42</a:t>
            </a:r>
            <a:r>
              <a:rPr lang="zh-CN" altLang="en-US"/>
              <a:t>，未作多重比较校正。
直接目标</a:t>
            </a:r>
            <a:r>
              <a:rPr lang="en-US" altLang="zh-CN"/>
              <a:t>TF</a:t>
            </a:r>
            <a:r>
              <a:rPr lang="zh-CN" altLang="en-US"/>
              <a:t>提升</a:t>
            </a:r>
            <a:r>
              <a:rPr lang="en-US" altLang="zh-CN"/>
              <a:t>6.720986</a:t>
            </a:r>
            <a:r>
              <a:rPr lang="zh-CN" altLang="en-US"/>
              <a:t>个百分点，</a:t>
            </a:r>
            <a:r>
              <a:rPr lang="en-US" altLang="zh-CN"/>
              <a:t>95%CI[6.497885,6.954636]</a:t>
            </a:r>
            <a:r>
              <a:rPr lang="zh-CN" altLang="en-US"/>
              <a:t>。生成</a:t>
            </a:r>
            <a:r>
              <a:rPr lang="en-US" altLang="zh-CN"/>
              <a:t>F1</a:t>
            </a:r>
            <a:r>
              <a:rPr lang="zh-CN" altLang="en-US"/>
              <a:t>提升</a:t>
            </a:r>
            <a:r>
              <a:rPr lang="en-US" altLang="zh-CN"/>
              <a:t>9.613811</a:t>
            </a:r>
            <a:r>
              <a:rPr lang="zh-CN" altLang="en-US"/>
              <a:t>个百分点，</a:t>
            </a:r>
            <a:r>
              <a:rPr lang="en-US" altLang="zh-CN"/>
              <a:t>CI[9.055780,10.215116]</a:t>
            </a:r>
            <a:r>
              <a:rPr lang="zh-CN" altLang="en-US"/>
              <a:t>。</a:t>
            </a:r>
            <a:r>
              <a:rPr lang="en-US" altLang="zh-CN"/>
              <a:t>1-hop</a:t>
            </a:r>
            <a:r>
              <a:rPr lang="zh-CN" altLang="en-US"/>
              <a:t>生成</a:t>
            </a:r>
            <a:r>
              <a:rPr lang="en-US" altLang="zh-CN"/>
              <a:t>F1</a:t>
            </a:r>
            <a:r>
              <a:rPr lang="zh-CN" altLang="en-US"/>
              <a:t>变化−</a:t>
            </a:r>
            <a:r>
              <a:rPr lang="en-US" altLang="zh-CN"/>
              <a:t>0.051315</a:t>
            </a:r>
            <a:r>
              <a:rPr lang="zh-CN" altLang="en-US"/>
              <a:t>个百分点，</a:t>
            </a:r>
            <a:r>
              <a:rPr lang="en-US" altLang="zh-CN"/>
              <a:t>CI[−0.239182,0.152115]</a:t>
            </a:r>
            <a:r>
              <a:rPr lang="zh-CN" altLang="en-US"/>
              <a:t>。
自由生成：贪心，</a:t>
            </a:r>
            <a:r>
              <a:rPr lang="en-US" altLang="zh-CN"/>
              <a:t>beam1</a:t>
            </a:r>
            <a:r>
              <a:rPr lang="zh-CN" altLang="en-US"/>
              <a:t>，不采样，描述类最多</a:t>
            </a:r>
            <a:r>
              <a:rPr lang="en-US" altLang="zh-CN"/>
              <a:t>512</a:t>
            </a:r>
            <a:r>
              <a:rPr lang="zh-CN" altLang="en-US"/>
              <a:t>个新</a:t>
            </a:r>
            <a:r>
              <a:rPr lang="en-US" altLang="zh-CN"/>
              <a:t>token</a:t>
            </a:r>
            <a:r>
              <a:rPr lang="zh-CN" altLang="en-US"/>
              <a:t>，其他</a:t>
            </a:r>
            <a:r>
              <a:rPr lang="en-US" altLang="zh-CN"/>
              <a:t>QA64</a:t>
            </a:r>
            <a:r>
              <a:rPr lang="zh-CN" altLang="en-US"/>
              <a:t>个。直接目标达到长度上限：编辑前</a:t>
            </a:r>
            <a:r>
              <a:rPr lang="en-US" altLang="zh-CN"/>
              <a:t>863/955</a:t>
            </a:r>
            <a:r>
              <a:rPr lang="zh-CN" altLang="en-US"/>
              <a:t>，编辑后</a:t>
            </a:r>
            <a:r>
              <a:rPr lang="en-US" altLang="zh-CN"/>
              <a:t>732/955</a:t>
            </a:r>
            <a:r>
              <a:rPr lang="zh-CN" altLang="en-US"/>
              <a:t>。</a:t>
            </a:r>
            <a:r>
              <a:rPr lang="en-US" altLang="zh-CN"/>
              <a:t>EM=0%</a:t>
            </a:r>
            <a:r>
              <a:rPr lang="zh-CN" altLang="en-US"/>
              <a:t>不能直接等同于所有回答语义错误。
五指标：</a:t>
            </a:r>
            <a:r>
              <a:rPr lang="en-US" altLang="zh-CN"/>
              <a:t>Rel57.709792</a:t>
            </a:r>
            <a:r>
              <a:rPr lang="zh-CN" altLang="en-US"/>
              <a:t>，</a:t>
            </a:r>
            <a:r>
              <a:rPr lang="en-US" altLang="zh-CN"/>
              <a:t>T-Gen57.633340</a:t>
            </a:r>
            <a:r>
              <a:rPr lang="zh-CN" altLang="en-US"/>
              <a:t>，</a:t>
            </a:r>
            <a:r>
              <a:rPr lang="en-US" altLang="zh-CN"/>
              <a:t>M-Gen57.622334</a:t>
            </a:r>
            <a:r>
              <a:rPr lang="zh-CN" altLang="en-US"/>
              <a:t>，</a:t>
            </a:r>
            <a:r>
              <a:rPr lang="en-US" altLang="zh-CN"/>
              <a:t>T-Loc100</a:t>
            </a:r>
            <a:r>
              <a:rPr lang="zh-CN" altLang="en-US"/>
              <a:t>，</a:t>
            </a:r>
            <a:r>
              <a:rPr lang="en-US" altLang="zh-CN"/>
              <a:t>M-Loc60.427408</a:t>
            </a:r>
            <a:r>
              <a:rPr lang="zh-CN" altLang="en-US"/>
              <a:t>，</a:t>
            </a:r>
            <a:r>
              <a:rPr lang="en-US" altLang="zh-CN"/>
              <a:t>Average66.678575</a:t>
            </a:r>
            <a:r>
              <a:rPr lang="zh-CN" altLang="en-US"/>
              <a:t>。
冻结编辑器</a:t>
            </a:r>
            <a:r>
              <a:rPr lang="en-US" altLang="zh-CN"/>
              <a:t>BLIP2-OPT-2.7B L0</a:t>
            </a:r>
            <a:r>
              <a:rPr lang="zh-CN" altLang="en-US"/>
              <a:t>，</a:t>
            </a:r>
            <a:r>
              <a:rPr lang="en-US" altLang="zh-CN"/>
              <a:t>epoch24/step7632/EMA6.124232</a:t>
            </a:r>
            <a:r>
              <a:rPr lang="zh-CN" altLang="en-US"/>
              <a:t>。复用第一阶段</a:t>
            </a:r>
            <a:r>
              <a:rPr lang="en-US" altLang="zh-CN"/>
              <a:t>checkpoint</a:t>
            </a:r>
            <a:r>
              <a:rPr lang="zh-CN" altLang="en-US"/>
              <a:t>，不是第二阶段图谱方法训练成绩。官方</a:t>
            </a:r>
            <a:r>
              <a:rPr lang="en-US" altLang="zh-CN"/>
              <a:t>955</a:t>
            </a:r>
            <a:r>
              <a:rPr lang="zh-CN" altLang="en-US"/>
              <a:t>条与历史</a:t>
            </a:r>
            <a:r>
              <a:rPr lang="en-US" altLang="zh-CN"/>
              <a:t>954</a:t>
            </a:r>
            <a:r>
              <a:rPr lang="zh-CN" altLang="en-US"/>
              <a:t>条不可无说明覆盖。诊断结果不用于重新选层或调参。
来源：服务器</a:t>
            </a:r>
            <a:r>
              <a:rPr lang="en-US" altLang="zh-CN"/>
              <a:t>/datapool/home/ph_teacher3/Lwy/zhounan/Visedit2/VisEdit-main/phase2_p3/g1_paired_official955_20260921/paired_evidence_report.md</a:t>
            </a:r>
            <a:r>
              <a:rPr lang="zh-CN" altLang="en-US"/>
              <a:t>及</a:t>
            </a:r>
            <a:r>
              <a:rPr lang="en-US" altLang="zh-CN"/>
              <a:t>teacher/summary.json</a:t>
            </a:r>
            <a:r>
              <a:rPr lang="zh-CN" altLang="en-US"/>
              <a:t>、</a:t>
            </a:r>
            <a:r>
              <a:rPr lang="en-US" altLang="zh-CN"/>
              <a:t>free/summary.json</a:t>
            </a:r>
            <a:r>
              <a:rPr lang="zh-CN" altLang="en-US"/>
              <a:t>、</a:t>
            </a:r>
            <a:r>
              <a:rPr lang="en-US" altLang="zh-CN"/>
              <a:t>ALL_DONE</a:t>
            </a:r>
            <a:r>
              <a:rPr lang="zh-CN" altLang="en-US"/>
              <a:t>。完成时间</a:t>
            </a:r>
            <a:r>
              <a:rPr lang="en-US" altLang="zh-CN"/>
              <a:t>2026-09-22T08:45:46+08:00</a:t>
            </a:r>
            <a:r>
              <a:rPr lang="zh-CN" altLang="en-US"/>
              <a:t>。</a:t>
            </a:r>
            <a:r>
              <a:rPr lang="en-US" altLang="zh-CN"/>
              <a:t>2026-09-22 17:57</a:t>
            </a:r>
            <a:r>
              <a:rPr lang="zh-CN" altLang="en-US"/>
              <a:t>服务器只读核验。
官方指标：</a:t>
            </a:r>
            <a:r>
              <a:rPr lang="en-US" altLang="zh-CN"/>
              <a:t>phase2_p3/g1_reused_first_stage/official_eval955_repaired/layer_00/official_eval_full.done.json</a:t>
            </a:r>
            <a:r>
              <a:rPr lang="zh-CN" altLang="en-US"/>
              <a:t>。
评分代码：</a:t>
            </a:r>
            <a:r>
              <a:rPr lang="en-US" altLang="zh-CN"/>
              <a:t>phase2_p3/evaluate_g1_paired.py</a:t>
            </a:r>
            <a:r>
              <a:rPr lang="zh-CN" altLang="en-US"/>
              <a:t>、</a:t>
            </a:r>
            <a:r>
              <a:rPr lang="en-US" altLang="zh-CN"/>
              <a:t>additional_metrics.py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7A837-A76C-4A2D-82CA-727F8E6AA7D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781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077CB-FEA4-D8D8-E2B4-C6EA6011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12F566-04BD-B7A6-D10D-10C22D2BF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31623-A6F1-7DD0-4C4B-B5526ED5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FA217-9A5F-577F-C680-A1FDCE87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A2C67D-1A21-6EF2-5FB9-FC31FDF7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85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179E1-2225-F59D-EC42-CBFC4AF09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513C6-DFA4-E9CF-B4E8-AA0FBA52B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388E4-E05B-1E3F-946A-86A53FA55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DEF91-D397-EA5E-31F9-4928EE303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A53F2-7A41-7B53-7A4C-E004A174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30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9BB64-00AC-F1D3-6F41-AF9DEA21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8"/>
            <a:ext cx="1261872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217A7-6BAF-F3ED-72CA-4957AEA87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B6E4F-E8C2-BD2A-3875-B5E579E3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EEA55A-9509-674E-3B29-F003CE38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D62B7F-0283-8843-F197-AEE14524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10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A6B01-EE5F-6EA1-116B-E9CCB5C9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E78DAF-1E19-82CB-9DA4-6EFD46579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961F224-DD6A-B78E-1496-3DC5DCB37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871E7A-7520-013D-8B0B-24DE0F60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BFBC3C-E914-971C-A9D0-E07E8369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2A7F34-A6BE-88F4-0C74-3FB2E94BD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69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2AEFA-9840-14E9-A0A6-C4F244976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2"/>
            <a:ext cx="12618720" cy="15906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A4AD31-3AAE-356A-7888-47F3F0E9E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861A8E-32F8-B7B5-DAC5-013CDC78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4ACDDB-0CD1-65DF-7C46-F2979D076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4EC1EA-5562-EEA4-0FCB-A0C05F0CE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2CA020-6638-8758-10EC-E689B4E44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F2900D-7277-7E48-3524-D18795D3C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BA0336-CEA9-0032-D848-3B41CB55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98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91248-E0A2-E3FA-E433-D43C71AD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37FB39-4FB5-2A31-59D3-0D8C605CF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E225BC-319E-3A52-7C05-4EE6083D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BF39A4-FD68-1DCA-33D8-F0942B10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36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AE88C6-D144-9434-921A-5B1CDFF1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C26E3E-DA8C-379E-BEED-B03E79EB2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BC8261-97E6-CC77-5335-E422B03E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7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381751-BE19-236A-8FD1-91566567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DCBC03-5D6C-9A7F-C4A4-E7CD1E2DC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6396E6-5776-024C-9C02-BF2D428F8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0FF1C9-7303-8460-BF7D-1190633A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B57162-9B43-AF1A-C59C-33A0AA43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6166E-43D7-5758-4C33-A1AEECA7E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06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669F7-7255-9EB8-46D4-71072090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E6FC08-EB4E-49D8-2BD2-21362E746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2"/>
            <a:ext cx="7406640" cy="58483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1A0BA6-B94A-DC17-471D-1718EBD17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CA7665-31D2-507E-D975-222864B7B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04CFB9-64B9-B547-140D-9EC70D23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2DCAD6-6532-77F1-4230-9F4334D9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48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3AE56C-E11F-D610-73DD-A2E298998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5213BF-F05C-26DA-4293-BD3753CE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F740B0-7237-9C8E-6573-CCEC97C0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3A2C59-6E20-A695-F100-270F08B2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9A72F6-2D3D-2BD4-0456-A667FD4F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239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1D6E4BF-2E26-1D53-EB81-B057B20AF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45AF74-752D-DE54-D01B-AD0F72CEF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2AA73-EACF-307A-3CB0-078EA67A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319FE-506C-4523-9C82-C7C25EB69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7B2671-7D96-071B-8EBE-73FC2E87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905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B454D3-A267-1825-4E2C-3AC8E4783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2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1753F6-F9F2-13FF-02BE-76459A0CA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7BF57-2C1B-16CF-74F8-50294D0E97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7E955-9E2D-41C2-AB5C-C00E462E1238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823E3B-D415-24C2-50B3-6EB01E387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2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B90DC-A437-68C2-51FF-3D544EA80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2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3BD15-CD15-4A9E-8F7E-9CC04F80ED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3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C6CACA-D731-29F6-D16A-C99C5D58D1D6}"/>
              </a:ext>
            </a:extLst>
          </p:cNvPr>
          <p:cNvSpPr txBox="1"/>
          <p:nvPr/>
        </p:nvSpPr>
        <p:spPr>
          <a:xfrm>
            <a:off x="457200" y="304800"/>
            <a:ext cx="13716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BLIP2 L0</a:t>
            </a:r>
            <a:r>
              <a:rPr lang="zh-CN" altLang="en-US" sz="3000" b="1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编辑效果：两种评分，两种含义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8CBA83F-F7F0-C05C-4749-80074E8AD7DA}"/>
              </a:ext>
            </a:extLst>
          </p:cNvPr>
          <p:cNvSpPr txBox="1"/>
          <p:nvPr/>
        </p:nvSpPr>
        <p:spPr>
          <a:xfrm>
            <a:off x="457200" y="977900"/>
            <a:ext cx="1371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MMKE-entity</a:t>
            </a:r>
            <a:r>
              <a:rPr lang="zh-CN" altLang="en-US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</a:t>
            </a:r>
            <a:r>
              <a:rPr lang="en-US" altLang="zh-CN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955</a:t>
            </a:r>
            <a:r>
              <a:rPr lang="zh-CN" altLang="en-US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条配对评测　固定</a:t>
            </a:r>
            <a:r>
              <a:rPr lang="en-US" altLang="zh-CN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Epoch 24</a:t>
            </a:r>
            <a:r>
              <a:rPr lang="zh-CN" altLang="en-US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编辑器　</a:t>
            </a:r>
            <a:r>
              <a:rPr lang="en-US" altLang="zh-CN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2026-09-22</a:t>
            </a:r>
            <a:r>
              <a:rPr lang="zh-CN" altLang="en-US" sz="150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　此次无参数更新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97F163-DCAB-B70C-AF57-5D2B865C6956}"/>
              </a:ext>
            </a:extLst>
          </p:cNvPr>
          <p:cNvSpPr txBox="1"/>
          <p:nvPr/>
        </p:nvSpPr>
        <p:spPr>
          <a:xfrm>
            <a:off x="457200" y="1473200"/>
            <a:ext cx="66421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1D5B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Teacher forcing</a:t>
            </a:r>
            <a:r>
              <a:rPr lang="zh-CN" altLang="en-US" sz="2100" b="1">
                <a:solidFill>
                  <a:srgbClr val="1D5B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：提供正确答案前缀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F7E8CD-881F-1525-857F-FE9FF783A9F8}"/>
              </a:ext>
            </a:extLst>
          </p:cNvPr>
          <p:cNvSpPr txBox="1"/>
          <p:nvPr/>
        </p:nvSpPr>
        <p:spPr>
          <a:xfrm>
            <a:off x="457200" y="1943100"/>
            <a:ext cx="6604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预测每个位置时，使用参考答案的正确前缀。
准确率 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预测正确的目标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 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token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数。
衡量条件预测能力，不能解释为整题答对比例。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8D3263-CDF3-3381-A334-6600A69DF9E8}"/>
              </a:ext>
            </a:extLst>
          </p:cNvPr>
          <p:cNvSpPr txBox="1"/>
          <p:nvPr/>
        </p:nvSpPr>
        <p:spPr>
          <a:xfrm>
            <a:off x="7645400" y="1473200"/>
            <a:ext cx="6527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0705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自由生成：模型使用自己生成的前文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7218D2-89D7-2F50-EAD7-B070890EA903}"/>
              </a:ext>
            </a:extLst>
          </p:cNvPr>
          <p:cNvSpPr txBox="1"/>
          <p:nvPr/>
        </p:nvSpPr>
        <p:spPr>
          <a:xfrm>
            <a:off x="7645400" y="1943100"/>
            <a:ext cx="65278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只输入图片和问题，生成后与参考答案比较。
词级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 = 2PR / (P + R)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  <a:r>
              <a:rPr lang="zh-CN" altLang="en-US" sz="16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衡量重叠词比例。
衡量文字匹配程度，不直接代表语义正确率。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9F6AA48-8C30-C221-FF29-BF0252650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1661"/>
              </p:ext>
            </p:extLst>
          </p:nvPr>
        </p:nvGraphicFramePr>
        <p:xfrm>
          <a:off x="457200" y="2984500"/>
          <a:ext cx="137160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82035011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09188553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59664548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4457635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61844629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1642459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358253480"/>
                    </a:ext>
                  </a:extLst>
                </a:gridCol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评测项目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TF</a:t>
                      </a:r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编辑前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%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TF</a:t>
                      </a:r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编辑后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%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变化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pp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生成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F1</a:t>
                      </a:r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%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生成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F1</a:t>
                      </a:r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%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变化 </a:t>
                      </a:r>
                      <a:r>
                        <a:rPr lang="en-US" altLang="zh-CN" sz="15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pp</a:t>
                      </a:r>
                      <a:endParaRPr lang="zh-CN" altLang="en-US" sz="15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1833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37744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直接编辑目标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50.989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57.710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+6.721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4.283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13.896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+9.614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95029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问题改写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50.819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57.633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+6.814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6.630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13.275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+6.644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85333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图片变体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50.971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57.622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+6.652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4.239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13.746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0705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+9.507</a:t>
                      </a:r>
                      <a:endParaRPr lang="zh-CN" altLang="en-US" sz="1500" b="1">
                        <a:solidFill>
                          <a:srgbClr val="10705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071512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图片关联问答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26.119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24.073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2.046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1.124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0.966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0.158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716676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文本关联问答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25.023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25.023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0.000</a:t>
                      </a:r>
                      <a:endParaRPr lang="zh-CN" altLang="en-US" sz="1500" b="1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1.276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1.276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0.000</a:t>
                      </a:r>
                      <a:endParaRPr lang="zh-CN" altLang="en-US" sz="1500" b="1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635825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1-hop</a:t>
                      </a:r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问答</a:t>
                      </a: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26.647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24.964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1.683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1.853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1.801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0.051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081959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无关图片问答</a:t>
                      </a:r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¹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41.047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37.148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3.900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1.184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0.941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−</a:t>
                      </a:r>
                      <a:r>
                        <a:rPr lang="en-US" altLang="zh-CN" sz="1500" b="1">
                          <a:solidFill>
                            <a:srgbClr val="99412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0.242</a:t>
                      </a:r>
                      <a:endParaRPr lang="zh-CN" altLang="en-US" sz="1500" b="1">
                        <a:solidFill>
                          <a:srgbClr val="99412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0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319958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无关文本问答</a:t>
                      </a:r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¹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27.747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27.747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0.000</a:t>
                      </a:r>
                      <a:endParaRPr lang="zh-CN" altLang="en-US" sz="1500" b="1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4.849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0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4.849</a:t>
                      </a:r>
                      <a:endParaRPr lang="zh-CN" altLang="en-US" sz="1500" b="0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>
                          <a:solidFill>
                            <a:srgbClr val="183349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0.000</a:t>
                      </a:r>
                      <a:endParaRPr lang="zh-CN" altLang="en-US" sz="1500" b="1">
                        <a:solidFill>
                          <a:srgbClr val="183349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101600" marR="101600" marT="25400" marB="25400" anchor="ctr">
                    <a:lnL w="6350" cmpd="sng">
                      <a:solidFill>
                        <a:srgbClr val="DEE6EE"/>
                      </a:solidFill>
                    </a:lnL>
                    <a:lnR w="6350" cmpd="sng">
                      <a:solidFill>
                        <a:srgbClr val="DEE6EE"/>
                      </a:solidFill>
                    </a:lnR>
                    <a:lnT w="6350" cmpd="sng">
                      <a:solidFill>
                        <a:srgbClr val="DEE6EE"/>
                      </a:solidFill>
                    </a:lnT>
                    <a:lnB w="6350" cmpd="sng">
                      <a:solidFill>
                        <a:srgbClr val="DEE6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11557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EFB549C5-C659-8FF7-E7B6-E6BC85955988}"/>
              </a:ext>
            </a:extLst>
          </p:cNvPr>
          <p:cNvSpPr txBox="1"/>
          <p:nvPr/>
        </p:nvSpPr>
        <p:spPr>
          <a:xfrm>
            <a:off x="457200" y="6337300"/>
            <a:ext cx="13716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D5B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结果含义：目标与改写表现提升，尚未带来关联知识和</a:t>
            </a:r>
            <a:r>
              <a:rPr lang="en-US" altLang="zh-CN" sz="2100" b="1">
                <a:solidFill>
                  <a:srgbClr val="1D5B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1-hop</a:t>
            </a:r>
            <a:r>
              <a:rPr lang="zh-CN" altLang="en-US" sz="2100" b="1">
                <a:solidFill>
                  <a:srgbClr val="1D5B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的同步改善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DCA05D-1CC5-40A4-9F13-07CE2884859A}"/>
              </a:ext>
            </a:extLst>
          </p:cNvPr>
          <p:cNvSpPr txBox="1"/>
          <p:nvPr/>
        </p:nvSpPr>
        <p:spPr>
          <a:xfrm>
            <a:off x="457200" y="6832600"/>
            <a:ext cx="1371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完整作答仍受限：直接目标自由生成</a:t>
            </a:r>
            <a:r>
              <a:rPr lang="en-US" altLang="zh-CN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  <a:r>
              <a:rPr lang="zh-CN" altLang="en-US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0%</a:t>
            </a:r>
            <a:r>
              <a:rPr lang="zh-CN" altLang="en-US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（前后均为</a:t>
            </a:r>
            <a:r>
              <a:rPr lang="en-US" altLang="zh-CN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），编辑后</a:t>
            </a:r>
            <a:r>
              <a:rPr lang="en-US" altLang="zh-CN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732/955</a:t>
            </a:r>
            <a:r>
              <a:rPr lang="zh-CN" altLang="en-US" sz="1700">
                <a:solidFill>
                  <a:srgbClr val="18334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条达到长度上限。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3F65BA6-3941-FE61-812E-6B5694FBB64F}"/>
              </a:ext>
            </a:extLst>
          </p:cNvPr>
          <p:cNvSpPr txBox="1"/>
          <p:nvPr/>
        </p:nvSpPr>
        <p:spPr>
          <a:xfrm>
            <a:off x="457200" y="7366000"/>
            <a:ext cx="1371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¹ 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此处按参考答案评分。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Locality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预测一致率另为文本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100.000%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、图片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60.427%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，常规五指标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Average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66.679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
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使用归一化后的空格分词。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1-hop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生成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F1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差值的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95%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区间跨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；两列评分不可直接比高低。</a:t>
            </a:r>
            <a:r>
              <a:rPr lang="en-US" altLang="zh-CN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pp</a:t>
            </a:r>
            <a:r>
              <a:rPr lang="zh-CN" altLang="en-US" sz="1250">
                <a:solidFill>
                  <a:srgbClr val="5C6C7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＝百分点。</a:t>
            </a:r>
          </a:p>
        </p:txBody>
      </p:sp>
    </p:spTree>
    <p:extLst>
      <p:ext uri="{BB962C8B-B14F-4D97-AF65-F5344CB8AC3E}">
        <p14:creationId xmlns:p14="http://schemas.microsoft.com/office/powerpoint/2010/main" val="910995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1075</Words>
  <Application>Microsoft Office PowerPoint</Application>
  <PresentationFormat>自定义</PresentationFormat>
  <Paragraphs>74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楠 周</dc:creator>
  <cp:lastModifiedBy>楠 周</cp:lastModifiedBy>
  <cp:revision>1</cp:revision>
  <dcterms:created xsi:type="dcterms:W3CDTF">2026-09-22T10:51:27Z</dcterms:created>
  <dcterms:modified xsi:type="dcterms:W3CDTF">2026-09-22T10:51:28Z</dcterms:modified>
</cp:coreProperties>
</file>
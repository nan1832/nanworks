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966960" y="-502920"/>
            <a:ext cx="2834640" cy="2834640"/>
          </a:xfrm>
          <a:prstGeom prst="ellipse">
            <a:avLst/>
          </a:prstGeom>
          <a:solidFill>
            <a:srgbClr val="123451"/>
          </a:solidFill>
          <a:ln w="10160">
            <a:solidFill>
              <a:srgbClr val="123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228600"/>
            <a:ext cx="1554480" cy="1554480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685800"/>
            <a:ext cx="1691640" cy="347472"/>
          </a:xfrm>
          <a:prstGeom prst="roundRect">
            <a:avLst/>
          </a:prstGeom>
          <a:solidFill>
            <a:srgbClr val="11A8A5"/>
          </a:solidFill>
          <a:ln w="1270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722376"/>
            <a:ext cx="144475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PHASE 2 ·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9601200" cy="6858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第二阶段工作汇报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9875520" cy="7498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DCE7F5"/>
                </a:solidFill>
                <a:latin typeface="Microsoft YaHei"/>
              </a:rPr>
              <a:t>知识图谱增强视觉语言模型编辑
—— MMKE-Entity 数据、身份与反事实知识覆盖层核验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" y="3218688"/>
            <a:ext cx="7470647" cy="0"/>
          </a:xfrm>
          <a:prstGeom prst="line">
            <a:avLst/>
          </a:prstGeom>
          <a:ln w="16510">
            <a:solidFill>
              <a:srgbClr val="4666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3493008"/>
            <a:ext cx="8778240" cy="5943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9FB8D3"/>
                </a:solidFill>
                <a:latin typeface="Microsoft YaHei"/>
              </a:rPr>
              <a:t>汇报逻辑：是什么 → 为什么 → 怎么做 → 得到什么 → 下一步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166360"/>
            <a:ext cx="8686800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BBD0E3"/>
                </a:solidFill>
                <a:latin typeface="Microsoft YaHei"/>
              </a:rPr>
              <a:t>研究对象：BLIP2-OPT-2.7B × MMKE-Entity
证据快照：2026-09-20 · 训练尚未启动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263640"/>
            <a:ext cx="5029200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7692AA"/>
                </a:solidFill>
                <a:latin typeface="Microsoft YaHei"/>
              </a:rPr>
              <a:t>生成时间：2026-09-20 16:34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一页看懂：本阶段已经解决了什么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总览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先核验证据和数据，再构造可审计的反事实知识覆盖层；当前仍处于训练前准备阶段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61872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261872"/>
            <a:ext cx="73152" cy="137160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399031"/>
            <a:ext cx="2286000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F6BFF"/>
                </a:solidFill>
                <a:latin typeface="Microsoft YaHei"/>
              </a:rPr>
              <a:t>L0 / L1 / L2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837943"/>
            <a:ext cx="22860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Ours-Direct Top-3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121408"/>
            <a:ext cx="228600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878"/>
                </a:solidFill>
                <a:latin typeface="Microsoft YaHei"/>
              </a:rPr>
              <a:t>正式主公式复算；Top-1=L0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10128" y="1261872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0128" y="1261872"/>
            <a:ext cx="73152" cy="1371600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11296" y="1399031"/>
            <a:ext cx="2286000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C9A69"/>
                </a:solidFill>
                <a:latin typeface="Microsoft YaHei"/>
              </a:rPr>
              <a:t>636 / 636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1837943"/>
            <a:ext cx="22860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主体身份已冻结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1296" y="2121408"/>
            <a:ext cx="228600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878"/>
                </a:solidFill>
                <a:latin typeface="Microsoft YaHei"/>
              </a:rPr>
              <a:t>117人工核验，519自动建议保留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1261872"/>
            <a:ext cx="26060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53328" y="1261872"/>
            <a:ext cx="73152" cy="1371600"/>
          </a:xfrm>
          <a:prstGeom prst="rect">
            <a:avLst/>
          </a:prstGeom>
          <a:solidFill>
            <a:srgbClr val="7257C7"/>
          </a:solidFill>
          <a:ln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399031"/>
            <a:ext cx="2286000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7257C7"/>
                </a:solidFill>
                <a:latin typeface="Microsoft YaHei"/>
              </a:rPr>
              <a:t>3064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1837943"/>
            <a:ext cx="22860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高置信反事实事实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121408"/>
            <a:ext cx="2286000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878"/>
                </a:solidFill>
                <a:latin typeface="Microsoft YaHei"/>
              </a:rPr>
              <a:t>覆盖全部636样本；835组不确定候选隔离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96528" y="1261872"/>
            <a:ext cx="27889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796528" y="1261872"/>
            <a:ext cx="73152" cy="1371600"/>
          </a:xfrm>
          <a:prstGeom prst="rect">
            <a:avLst/>
          </a:prstGeom>
          <a:solidFill>
            <a:srgbClr val="E79B27"/>
          </a:solidFill>
          <a:ln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6" y="1399031"/>
            <a:ext cx="2468879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79B27"/>
                </a:solidFill>
                <a:latin typeface="Microsoft YaHei"/>
              </a:rPr>
              <a:t>P2-C进行中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7696" y="1837943"/>
            <a:ext cx="2468879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对象链接与现实邻域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7696" y="2121408"/>
            <a:ext cx="2468879" cy="4572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878"/>
                </a:solidFill>
                <a:latin typeface="Microsoft YaHei"/>
              </a:rPr>
              <a:t>查询快照 219/1211，错误 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2907792"/>
            <a:ext cx="349300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2907792"/>
            <a:ext cx="73152" cy="26517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044952"/>
            <a:ext cx="317296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是什么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419856"/>
            <a:ext cx="3145536" cy="20299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为MMKE反事实编辑建立可追踪的数据与图谱准备流程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基础图保存现实世界知识；覆盖层保存样本级反事实变更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最终目标是提升编辑后模型对改写、视觉变体和关联问题的泛化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2907792"/>
            <a:ext cx="349300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43400" y="2907792"/>
            <a:ext cx="73152" cy="2651760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44568" y="3044952"/>
            <a:ext cx="317296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为什么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419856"/>
            <a:ext cx="3145536" cy="20299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手册草案与真实代码、层号、hook、预算存在冲突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历史兼容数据丢失Portability并错误替代locality图片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MMKE的alt包含反事实，不能直接当作现实Wikidata知识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9872" y="2907792"/>
            <a:ext cx="3493008" cy="2651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19872" y="2907792"/>
            <a:ext cx="73152" cy="2651760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3044952"/>
            <a:ext cx="317296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9A69"/>
                </a:solidFill>
                <a:latin typeface="Microsoft YaHei"/>
              </a:rPr>
              <a:t>怎么做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3419856"/>
            <a:ext cx="3145536" cy="20299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P0追踪代码—配置—产物证据链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P1审计官方数据、图片、字段和无泄漏划分条件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P2冻结主体Q-ID，抽取pred→alt事实差分，再链接新对象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742432"/>
            <a:ext cx="11045952" cy="585216"/>
          </a:xfrm>
          <a:prstGeom prst="roundRect">
            <a:avLst/>
          </a:prstGeom>
          <a:solidFill>
            <a:srgbClr val="FDEBEC"/>
          </a:solidFill>
          <a:ln w="12700">
            <a:solidFill>
              <a:srgbClr val="FD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" y="5852160"/>
            <a:ext cx="777240" cy="40233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5555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499616" y="5861304"/>
            <a:ext cx="0" cy="347472"/>
          </a:xfrm>
          <a:prstGeom prst="line">
            <a:avLst/>
          </a:prstGeom>
          <a:ln w="15240">
            <a:solidFill>
              <a:srgbClr val="D9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618488" y="5833872"/>
            <a:ext cx="9857232" cy="420624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P2-B已通过保守高置信子集门槛；P2-C、P2-D和P0本轮单样本前向仍未完成，因此G1—G6尚未启动。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证据：P0/P1报告；subject_identity_freeze_summary.json；conservative_protocol_summary.json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研究任务：从“单条编辑成功”走向“编辑后知识泛化”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是什么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第二阶段不是直接增加训练模块，而是先定义编辑后的知识状态和可验证数据协议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3154680" cy="416052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C9D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60604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F6BFF"/>
                </a:solidFill>
                <a:latin typeface="Microsoft YaHei"/>
              </a:rPr>
              <a:t>第一阶段能力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48840"/>
            <a:ext cx="2423160" cy="6858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0B1F33"/>
                </a:solidFill>
                <a:latin typeface="Microsoft YaHei"/>
              </a:rPr>
              <a:t>给定图片 + src
学习输出 alt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08960"/>
            <a:ext cx="2468880" cy="1600200"/>
          </a:xfrm>
          <a:prstGeom prst="rect">
            <a:avLst/>
          </a:prstGeom>
          <a:noFill/>
        </p:spPr>
        <p:txBody>
          <a:bodyPr wrap="square" lIns="82296" rIns="82296" tIns="82296" bIns="8229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共享Adapter学习多条请求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请求级编辑信号在测试时注入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主要评测可靠性、泛化性、局部性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04487" y="3246120"/>
            <a:ext cx="850393" cy="0"/>
          </a:xfrm>
          <a:prstGeom prst="line">
            <a:avLst/>
          </a:prstGeom>
          <a:ln w="3810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13632" y="2779776"/>
            <a:ext cx="841248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E79B27"/>
                </a:solidFill>
                <a:latin typeface="Microsoft YaHei"/>
              </a:rPr>
              <a:t>关键缺口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19472" y="1280160"/>
            <a:ext cx="3154680" cy="416052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F2D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572768"/>
            <a:ext cx="2560320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E79B27"/>
                </a:solidFill>
                <a:latin typeface="Microsoft YaHei"/>
              </a:rPr>
              <a:t>泛化难点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48656" y="2240280"/>
            <a:ext cx="2514600" cy="2514600"/>
          </a:xfrm>
          <a:prstGeom prst="rect">
            <a:avLst/>
          </a:prstGeom>
          <a:noFill/>
        </p:spPr>
        <p:txBody>
          <a:bodyPr wrap="square" lIns="82296" rIns="82296" tIns="82296" bIns="8229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300" b="0">
                <a:solidFill>
                  <a:srgbClr val="162234"/>
                </a:solidFill>
                <a:latin typeface="Microsoft YaHei"/>
              </a:defRPr>
            </a:pPr>
            <a:r>
              <a:t>• alt是长文本反事实，不是结构化事实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 b="0">
                <a:solidFill>
                  <a:srgbClr val="162234"/>
                </a:solidFill>
                <a:latin typeface="Microsoft YaHei"/>
              </a:defRPr>
            </a:pPr>
            <a:r>
              <a:t>• 相同编辑目标可能涉及多个关系变化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 b="0">
                <a:solidFill>
                  <a:srgbClr val="162234"/>
                </a:solidFill>
                <a:latin typeface="Microsoft YaHei"/>
              </a:defRPr>
            </a:pPr>
            <a:r>
              <a:t>• 现实知识与反事实知识发生冲突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300" b="0">
                <a:solidFill>
                  <a:srgbClr val="162234"/>
                </a:solidFill>
                <a:latin typeface="Microsoft YaHei"/>
              </a:defRPr>
            </a:pPr>
            <a:r>
              <a:t>• 只记住alt文本不等于学会关联推理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0" y="3246120"/>
            <a:ext cx="841248" cy="0"/>
          </a:xfrm>
          <a:prstGeom prst="line">
            <a:avLst/>
          </a:prstGeom>
          <a:ln w="38100">
            <a:solidFill>
              <a:srgbClr val="1C9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57031" y="2779776"/>
            <a:ext cx="804672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1C9A69"/>
                </a:solidFill>
                <a:latin typeface="Microsoft YaHei"/>
              </a:rPr>
              <a:t>第二阶段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17152" y="1280160"/>
            <a:ext cx="2377440" cy="416052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B9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572768"/>
            <a:ext cx="1874519" cy="4114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C9A69"/>
                </a:solidFill>
                <a:latin typeface="Microsoft YaHei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2148840"/>
            <a:ext cx="1874519" cy="2651760"/>
          </a:xfrm>
          <a:prstGeom prst="rect">
            <a:avLst/>
          </a:prstGeom>
          <a:noFill/>
        </p:spPr>
        <p:txBody>
          <a:bodyPr wrap="square" lIns="82296" rIns="82296" tIns="82296" bIns="8229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结构化反事实变更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链接现实邻域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动态覆盖冲突边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支持0/1/2-hop检索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验证是否提升泛化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650992"/>
            <a:ext cx="11000232" cy="640080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777240" cy="457199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7257C7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27048" y="5769864"/>
            <a:ext cx="0" cy="402336"/>
          </a:xfrm>
          <a:prstGeom prst="line">
            <a:avLst/>
          </a:prstGeom>
          <a:ln w="15240">
            <a:solidFill>
              <a:srgbClr val="725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45919" y="5742431"/>
            <a:ext cx="9811511" cy="47548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研究核心不是把Wikidata原样灌入模型，而是让模型在现实基础图上服从当前样本的反事实编辑状态。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设计依据：第二阶段KG增强设计_真实基础图与反事实编辑覆盖层_20260918.md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MMKE-Entity到底编辑什么：字段语义必须先厘清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是什么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pred是编辑前旧知识；alt是反事实目标；image与image_rephrase承载视觉请求和视觉泛化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100023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481328"/>
            <a:ext cx="96012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F6BFF"/>
                </a:solidFill>
                <a:latin typeface="Microsoft YaHei"/>
              </a:rPr>
              <a:t>输入图像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088" y="1463040"/>
            <a:ext cx="1938528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0B1F33"/>
                </a:solidFill>
                <a:latin typeface="Microsoft YaHei"/>
              </a:rPr>
              <a:t>image + src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22191" y="1746504"/>
            <a:ext cx="841249" cy="0"/>
          </a:xfrm>
          <a:prstGeom prst="line">
            <a:avLst/>
          </a:prstGeom>
          <a:ln w="3175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00600" y="1444752"/>
            <a:ext cx="2057400" cy="4754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D95555"/>
                </a:solidFill>
                <a:latin typeface="Microsoft YaHei"/>
              </a:rPr>
              <a:t>编辑前：pred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903720" y="1746504"/>
            <a:ext cx="841248" cy="0"/>
          </a:xfrm>
          <a:prstGeom prst="line">
            <a:avLst/>
          </a:prstGeom>
          <a:ln w="31750">
            <a:solidFill>
              <a:srgbClr val="725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82127" y="1444752"/>
            <a:ext cx="3364992" cy="4754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1C9A69"/>
                </a:solidFill>
                <a:latin typeface="Microsoft YaHei"/>
              </a:rPr>
              <a:t>编辑后目标：完整alt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542032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2542032"/>
            <a:ext cx="73152" cy="242316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679191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例：Great grey owl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054096"/>
            <a:ext cx="3081528" cy="18013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00" b="0">
                <a:solidFill>
                  <a:srgbClr val="162234"/>
                </a:solidFill>
                <a:latin typeface="Microsoft YaHei"/>
              </a:defRPr>
            </a:pPr>
            <a:r>
              <a:t>• pred：现实中的大灰鸮描述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00" b="0">
                <a:solidFill>
                  <a:srgbClr val="162234"/>
                </a:solidFill>
                <a:latin typeface="Microsoft YaHei"/>
              </a:defRPr>
            </a:pPr>
            <a:r>
              <a:t>• alt：仍以大灰鸮为主体，但把分布、别名等改成反事实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00" b="0">
                <a:solidFill>
                  <a:srgbClr val="162234"/>
                </a:solidFill>
                <a:latin typeface="Microsoft YaHei"/>
              </a:defRPr>
            </a:pPr>
            <a:r>
              <a:t>• 编辑图可以按MMKE协议展示另一种鸟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0832" y="2542032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70832" y="2542032"/>
            <a:ext cx="73152" cy="2423160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679191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9A69"/>
                </a:solidFill>
                <a:latin typeface="Microsoft YaHei"/>
              </a:rPr>
              <a:t>正确理解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3054096"/>
            <a:ext cx="3081528" cy="18013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00" b="0">
                <a:solidFill>
                  <a:srgbClr val="162234"/>
                </a:solidFill>
                <a:latin typeface="Microsoft YaHei"/>
              </a:defRPr>
            </a:pPr>
            <a:r>
              <a:t>• 训练目标是让模型对image+src输出alt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00" b="0">
                <a:solidFill>
                  <a:srgbClr val="162234"/>
                </a:solidFill>
                <a:latin typeface="Microsoft YaHei"/>
              </a:defRPr>
            </a:pPr>
            <a:r>
              <a:t>• 不能要求图片本身必须与alt实体的真实外观一致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00" b="0">
                <a:solidFill>
                  <a:srgbClr val="162234"/>
                </a:solidFill>
                <a:latin typeface="Microsoft YaHei"/>
              </a:defRPr>
            </a:pPr>
            <a:r>
              <a:t>• 不能用现实Wikidata直接覆盖alt中的反事实边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6448" y="2542032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2542032"/>
            <a:ext cx="73152" cy="2423160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57616" y="2679191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错误理解会导致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3054096"/>
            <a:ext cx="3081528" cy="180136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00" b="0">
                <a:solidFill>
                  <a:srgbClr val="162234"/>
                </a:solidFill>
                <a:latin typeface="Microsoft YaHei"/>
              </a:defRPr>
            </a:pPr>
            <a:r>
              <a:t>• 把反事实当数据错误删除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00" b="0">
                <a:solidFill>
                  <a:srgbClr val="162234"/>
                </a:solidFill>
                <a:latin typeface="Microsoft YaHei"/>
              </a:defRPr>
            </a:pPr>
            <a:r>
              <a:t>• 构图时把新值纠正回现实值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00" b="0">
                <a:solidFill>
                  <a:srgbClr val="162234"/>
                </a:solidFill>
                <a:latin typeface="Microsoft YaHei"/>
              </a:defRPr>
            </a:pPr>
            <a:r>
              <a:t>• 评测时仍要求输出pred或现实知识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34440" y="5285232"/>
            <a:ext cx="9738360" cy="658368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8CE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81328" y="5449824"/>
            <a:ext cx="923544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7257C7"/>
                </a:solidFill>
                <a:latin typeface="Microsoft YaHei"/>
              </a:rPr>
              <a:t>统一表述：主体身份和基础邻域来自现实世界；被编辑的直接事实边服从alt反事实；后续推理在覆盖后的知识状态上进行。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证据：MMKE字段核验；MMKE-Entity_pred_alt_image语义核验_20260918.md；field_mapping.md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第二阶段总体流程与当前进度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流程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先建立可复现的数据和事实身份，再构图、训练和评测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508760"/>
            <a:ext cx="685800" cy="685800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6858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72768" y="1847088"/>
            <a:ext cx="905256" cy="0"/>
          </a:xfrm>
          <a:prstGeom prst="line">
            <a:avLst/>
          </a:prstGeom>
          <a:ln w="25400">
            <a:solidFill>
              <a:srgbClr val="B7C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1208" y="2331720"/>
            <a:ext cx="1389888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2F6BFF"/>
                </a:solidFill>
                <a:latin typeface="Microsoft YaHei"/>
              </a:rPr>
              <a:t>实现证据核验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706624"/>
            <a:ext cx="1389888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静态完成
前向待补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3346704"/>
            <a:ext cx="987552" cy="292608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3741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E79B27"/>
                </a:solidFill>
                <a:latin typeface="Microsoft YaHei"/>
              </a:rPr>
              <a:t>进行中</a:t>
            </a:r>
          </a:p>
        </p:txBody>
      </p:sp>
      <p:sp>
        <p:nvSpPr>
          <p:cNvPr id="13" name="Oval 12"/>
          <p:cNvSpPr/>
          <p:nvPr/>
        </p:nvSpPr>
        <p:spPr>
          <a:xfrm>
            <a:off x="2505456" y="1508760"/>
            <a:ext cx="685800" cy="685800"/>
          </a:xfrm>
          <a:prstGeom prst="ellipse">
            <a:avLst/>
          </a:prstGeom>
          <a:solidFill>
            <a:srgbClr val="11A8A5"/>
          </a:solidFill>
          <a:ln w="1016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5456" y="1618488"/>
            <a:ext cx="6858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09544" y="1847088"/>
            <a:ext cx="905256" cy="0"/>
          </a:xfrm>
          <a:prstGeom prst="line">
            <a:avLst/>
          </a:prstGeom>
          <a:ln w="25400">
            <a:solidFill>
              <a:srgbClr val="B7C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157984" y="2331720"/>
            <a:ext cx="1389888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1A8A5"/>
                </a:solidFill>
                <a:latin typeface="Microsoft YaHei"/>
              </a:rPr>
              <a:t>数据审计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984" y="2706624"/>
            <a:ext cx="1389888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字段/图片完成
划分待重算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59152" y="3346704"/>
            <a:ext cx="987552" cy="292608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6584" y="33741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E79B27"/>
                </a:solidFill>
                <a:latin typeface="Microsoft YaHei"/>
              </a:rPr>
              <a:t>进行中</a:t>
            </a:r>
          </a:p>
        </p:txBody>
      </p:sp>
      <p:sp>
        <p:nvSpPr>
          <p:cNvPr id="20" name="Oval 19"/>
          <p:cNvSpPr/>
          <p:nvPr/>
        </p:nvSpPr>
        <p:spPr>
          <a:xfrm>
            <a:off x="4142232" y="1508760"/>
            <a:ext cx="685800" cy="685800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42232" y="1618488"/>
            <a:ext cx="6858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P2-A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46320" y="1847088"/>
            <a:ext cx="905256" cy="0"/>
          </a:xfrm>
          <a:prstGeom prst="line">
            <a:avLst/>
          </a:prstGeom>
          <a:ln w="25400">
            <a:solidFill>
              <a:srgbClr val="B7C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794759" y="2331720"/>
            <a:ext cx="1389888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C9A69"/>
                </a:solidFill>
                <a:latin typeface="Microsoft YaHei"/>
              </a:rPr>
              <a:t>主体身份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59" y="2706624"/>
            <a:ext cx="1389888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636/636
已冻结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95928" y="3346704"/>
            <a:ext cx="987552" cy="292608"/>
          </a:xfrm>
          <a:prstGeom prst="roundRect">
            <a:avLst/>
          </a:prstGeom>
          <a:solidFill>
            <a:srgbClr val="E8F6F0"/>
          </a:solidFill>
          <a:ln>
            <a:solidFill>
              <a:srgbClr val="E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60" y="33741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C9A69"/>
                </a:solidFill>
                <a:latin typeface="Microsoft YaHei"/>
              </a:rPr>
              <a:t>已完成</a:t>
            </a:r>
          </a:p>
        </p:txBody>
      </p:sp>
      <p:sp>
        <p:nvSpPr>
          <p:cNvPr id="27" name="Oval 26"/>
          <p:cNvSpPr/>
          <p:nvPr/>
        </p:nvSpPr>
        <p:spPr>
          <a:xfrm>
            <a:off x="5779008" y="1508760"/>
            <a:ext cx="685800" cy="685800"/>
          </a:xfrm>
          <a:prstGeom prst="ellipse">
            <a:avLst/>
          </a:prstGeom>
          <a:solidFill>
            <a:srgbClr val="7257C7"/>
          </a:solidFill>
          <a:ln w="10160"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9008" y="1618488"/>
            <a:ext cx="6858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P2-B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83096" y="1847088"/>
            <a:ext cx="905256" cy="0"/>
          </a:xfrm>
          <a:prstGeom prst="line">
            <a:avLst/>
          </a:prstGeom>
          <a:ln w="25400">
            <a:solidFill>
              <a:srgbClr val="B7C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31536" y="2331720"/>
            <a:ext cx="1389888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7257C7"/>
                </a:solidFill>
                <a:latin typeface="Microsoft YaHei"/>
              </a:rPr>
              <a:t>事实差分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1536" y="2706624"/>
            <a:ext cx="1389888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3064条
保守通过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32704" y="3346704"/>
            <a:ext cx="987552" cy="292608"/>
          </a:xfrm>
          <a:prstGeom prst="roundRect">
            <a:avLst/>
          </a:prstGeom>
          <a:solidFill>
            <a:srgbClr val="E8F6F0"/>
          </a:solidFill>
          <a:ln>
            <a:solidFill>
              <a:srgbClr val="E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0136" y="33741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C9A69"/>
                </a:solidFill>
                <a:latin typeface="Microsoft YaHei"/>
              </a:rPr>
              <a:t>已完成</a:t>
            </a:r>
          </a:p>
        </p:txBody>
      </p:sp>
      <p:sp>
        <p:nvSpPr>
          <p:cNvPr id="34" name="Oval 33"/>
          <p:cNvSpPr/>
          <p:nvPr/>
        </p:nvSpPr>
        <p:spPr>
          <a:xfrm>
            <a:off x="7415783" y="1508760"/>
            <a:ext cx="685800" cy="685800"/>
          </a:xfrm>
          <a:prstGeom prst="ellipse">
            <a:avLst/>
          </a:prstGeom>
          <a:solidFill>
            <a:srgbClr val="E79B27"/>
          </a:solidFill>
          <a:ln w="10160"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15783" y="1618488"/>
            <a:ext cx="6858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P2-C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19871" y="1847088"/>
            <a:ext cx="905257" cy="0"/>
          </a:xfrm>
          <a:prstGeom prst="line">
            <a:avLst/>
          </a:prstGeom>
          <a:ln w="25400">
            <a:solidFill>
              <a:srgbClr val="B7C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068312" y="2331720"/>
            <a:ext cx="1389888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E79B27"/>
                </a:solidFill>
                <a:latin typeface="Microsoft YaHei"/>
              </a:rPr>
              <a:t>对象链接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8312" y="2706624"/>
            <a:ext cx="1389888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进行中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9480" y="3346704"/>
            <a:ext cx="987552" cy="292608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96912" y="33741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E79B27"/>
                </a:solidFill>
                <a:latin typeface="Microsoft YaHei"/>
              </a:rPr>
              <a:t>进行中</a:t>
            </a:r>
          </a:p>
        </p:txBody>
      </p:sp>
      <p:sp>
        <p:nvSpPr>
          <p:cNvPr id="41" name="Oval 40"/>
          <p:cNvSpPr/>
          <p:nvPr/>
        </p:nvSpPr>
        <p:spPr>
          <a:xfrm>
            <a:off x="9052560" y="1508760"/>
            <a:ext cx="685800" cy="685800"/>
          </a:xfrm>
          <a:prstGeom prst="ellipse">
            <a:avLst/>
          </a:prstGeom>
          <a:solidFill>
            <a:srgbClr val="D95555"/>
          </a:solidFill>
          <a:ln w="10160"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0" y="1618488"/>
            <a:ext cx="6858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P2-D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756648" y="1847088"/>
            <a:ext cx="905255" cy="0"/>
          </a:xfrm>
          <a:prstGeom prst="line">
            <a:avLst/>
          </a:prstGeom>
          <a:ln w="25400">
            <a:solidFill>
              <a:srgbClr val="B7C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8705088" y="2331720"/>
            <a:ext cx="1389888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D95555"/>
                </a:solidFill>
                <a:latin typeface="Microsoft YaHei"/>
              </a:rPr>
              <a:t>动态图构建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2706624"/>
            <a:ext cx="1389888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未开始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06256" y="3346704"/>
            <a:ext cx="987552" cy="292608"/>
          </a:xfrm>
          <a:prstGeom prst="roundRect">
            <a:avLst/>
          </a:prstGeom>
          <a:solidFill>
            <a:srgbClr val="FDEBEC"/>
          </a:solidFill>
          <a:ln>
            <a:solidFill>
              <a:srgbClr val="FD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33688" y="33741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D95555"/>
                </a:solidFill>
                <a:latin typeface="Microsoft YaHei"/>
              </a:rPr>
              <a:t>未放行</a:t>
            </a:r>
          </a:p>
        </p:txBody>
      </p:sp>
      <p:sp>
        <p:nvSpPr>
          <p:cNvPr id="48" name="Oval 47"/>
          <p:cNvSpPr/>
          <p:nvPr/>
        </p:nvSpPr>
        <p:spPr>
          <a:xfrm>
            <a:off x="10689336" y="1508760"/>
            <a:ext cx="685800" cy="685800"/>
          </a:xfrm>
          <a:prstGeom prst="ellipse">
            <a:avLst/>
          </a:prstGeom>
          <a:solidFill>
            <a:srgbClr val="123451"/>
          </a:solidFill>
          <a:ln w="10160">
            <a:solidFill>
              <a:srgbClr val="1234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89336" y="1618488"/>
            <a:ext cx="6858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G1–G6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341864" y="2331720"/>
            <a:ext cx="1389888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123451"/>
                </a:solidFill>
                <a:latin typeface="Microsoft YaHei"/>
              </a:rPr>
              <a:t>训练与消融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41864" y="2706624"/>
            <a:ext cx="1389888" cy="5486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禁止启动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43032" y="3346704"/>
            <a:ext cx="987552" cy="292608"/>
          </a:xfrm>
          <a:prstGeom prst="roundRect">
            <a:avLst/>
          </a:prstGeom>
          <a:solidFill>
            <a:srgbClr val="FDEBEC"/>
          </a:solidFill>
          <a:ln>
            <a:solidFill>
              <a:srgbClr val="FD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70464" y="33741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D95555"/>
                </a:solidFill>
                <a:latin typeface="Microsoft YaHei"/>
              </a:rPr>
              <a:t>未放行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4360" y="3977639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4360" y="3977639"/>
            <a:ext cx="73152" cy="155448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4114800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第一条主线：证据可信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7240" y="4489704"/>
            <a:ext cx="3081528" cy="9326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真实代码、配置、hook、checkpoint、数据路径均可追溯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70832" y="3977639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70832" y="3977639"/>
            <a:ext cx="73152" cy="1554480"/>
          </a:xfrm>
          <a:prstGeom prst="rect">
            <a:avLst/>
          </a:prstGeom>
          <a:solidFill>
            <a:srgbClr val="11A8A5"/>
          </a:solidFill>
          <a:ln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72000" y="4114800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1A8A5"/>
                </a:solidFill>
                <a:latin typeface="Microsoft YaHei"/>
              </a:rPr>
              <a:t>第二条主线：数据无泄漏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53712" y="4489704"/>
            <a:ext cx="3081528" cy="9326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图片、主体、事实身份必须共同形成连通分组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56448" y="3977639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56448" y="3977639"/>
            <a:ext cx="73152" cy="1554480"/>
          </a:xfrm>
          <a:prstGeom prst="rect">
            <a:avLst/>
          </a:prstGeom>
          <a:solidFill>
            <a:srgbClr val="7257C7"/>
          </a:solidFill>
          <a:ln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57616" y="4114800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7257C7"/>
                </a:solidFill>
                <a:latin typeface="Microsoft YaHei"/>
              </a:rPr>
              <a:t>第三条主线：反事实可执行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39327" y="4489704"/>
            <a:ext cx="3081528" cy="9326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现实基础图与样本级覆盖层分离，冲突边只在当前请求失活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94360" y="5779008"/>
            <a:ext cx="11000232" cy="530352"/>
          </a:xfrm>
          <a:prstGeom prst="roundRect">
            <a:avLst/>
          </a:prstGeom>
          <a:solidFill>
            <a:srgbClr val="FDEBEC"/>
          </a:solidFill>
          <a:ln w="12700">
            <a:solidFill>
              <a:srgbClr val="FD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1520" y="5888736"/>
            <a:ext cx="777240" cy="347471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5555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1527048" y="5897880"/>
            <a:ext cx="0" cy="292608"/>
          </a:xfrm>
          <a:prstGeom prst="line">
            <a:avLst/>
          </a:prstGeom>
          <a:ln w="15240">
            <a:solidFill>
              <a:srgbClr val="D9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1645919" y="5870448"/>
            <a:ext cx="9811511" cy="365759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当前工作处于P2-C；下一次放行训练必须同时满足P2-D、重划dev和P0真实单样本前向。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状态快照：第二阶段实验手册 v2.1-r2，2026-09-20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P0：第一阶段真实实现与编辑层证据核验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目标是回答“第一阶段到底运行了什么”，而不是照抄手册示例代码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0156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434340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71600"/>
            <a:ext cx="308152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46504"/>
            <a:ext cx="3054096" cy="3721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读取实际YAML、runner、Adapter注册、checkpoint与日志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追踪：定位结果→CLI→配置覆盖→模块路径→Adapter挂载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区分默认层、实跑层、checkpoint层和Ours排名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0156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4343400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71600"/>
            <a:ext cx="308152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为什么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46504"/>
            <a:ext cx="3054096" cy="3721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手册把L0写成目标，但第一阶段历史记录存在L1训练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注释声称pre-hook，真实代码可能是post-hook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50 epoch预算容易与epoch-11选中checkpoint混淆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若接口和指标理解错误，第二阶段无法严格复用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40156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4343400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71600"/>
            <a:ext cx="308152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9A69"/>
                </a:solidFill>
                <a:latin typeface="Microsoft YaHei"/>
              </a:rPr>
              <a:t>怎么做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746504"/>
            <a:ext cx="3054096" cy="3721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对服务器源码与本地代码包做哈希比对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从原始层分数按正式公式重新计算排名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读取checkpoint元数据、优化器参数组和训练历史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准备不更新参数的单样本探测脚本；资源不足时不编造结果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779008"/>
            <a:ext cx="10991088" cy="54864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88736"/>
            <a:ext cx="777240" cy="365759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E79B27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27048" y="5897880"/>
            <a:ext cx="0" cy="310896"/>
          </a:xfrm>
          <a:prstGeom prst="line">
            <a:avLst/>
          </a:prstGeom>
          <a:ln w="1524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45919" y="5870448"/>
            <a:ext cx="9802367" cy="38404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静态证据核验完成；历史动态探测存在，但本轮资源窗口下的单样本前向尚未执行。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证据：phase2_p0/p0_evidence_report.md；p0_effective_config.json；p0_manual_conflicts.md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P0结果①：编辑层证据链与真实hook语义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L1训练记录不能改写Ours Top-1；层编号从0开始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70432"/>
            <a:ext cx="516636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B1F33"/>
                </a:solidFill>
                <a:latin typeface="Microsoft YaHei"/>
              </a:rPr>
              <a:t>Ours-Direct正式主公式排名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73352"/>
            <a:ext cx="41148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2F6BFF"/>
                </a:solidFill>
                <a:latin typeface="Microsoft YaHei"/>
              </a:rPr>
              <a:t>L0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432" y="1673352"/>
            <a:ext cx="3931920" cy="256032"/>
          </a:xfrm>
          <a:prstGeom prst="rect">
            <a:avLst/>
          </a:prstGeom>
          <a:solidFill>
            <a:srgbClr val="E8EDF4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0432" y="1673352"/>
            <a:ext cx="3931920" cy="256032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64208"/>
            <a:ext cx="749808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C6878"/>
                </a:solidFill>
                <a:latin typeface="Microsoft YaHei"/>
              </a:rPr>
              <a:t>0.0507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95144"/>
            <a:ext cx="41148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1A8A5"/>
                </a:solidFill>
                <a:latin typeface="Microsoft YaHei"/>
              </a:rPr>
              <a:t>L1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2295144"/>
            <a:ext cx="3931920" cy="256032"/>
          </a:xfrm>
          <a:prstGeom prst="rect">
            <a:avLst/>
          </a:prstGeom>
          <a:solidFill>
            <a:srgbClr val="E8EDF4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0432" y="2295144"/>
            <a:ext cx="1845855" cy="256032"/>
          </a:xfrm>
          <a:prstGeom prst="rect">
            <a:avLst/>
          </a:prstGeom>
          <a:solidFill>
            <a:srgbClr val="11A8A5"/>
          </a:solidFill>
          <a:ln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2286000"/>
            <a:ext cx="749808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C6878"/>
                </a:solidFill>
                <a:latin typeface="Microsoft YaHei"/>
              </a:rPr>
              <a:t>0.0238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16936"/>
            <a:ext cx="41148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7257C7"/>
                </a:solidFill>
                <a:latin typeface="Microsoft YaHei"/>
              </a:rPr>
              <a:t>L2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0432" y="2916936"/>
            <a:ext cx="3931920" cy="256032"/>
          </a:xfrm>
          <a:prstGeom prst="rect">
            <a:avLst/>
          </a:prstGeom>
          <a:solidFill>
            <a:srgbClr val="E8EDF4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" y="2916936"/>
            <a:ext cx="1320817" cy="256032"/>
          </a:xfrm>
          <a:prstGeom prst="rect">
            <a:avLst/>
          </a:prstGeom>
          <a:solidFill>
            <a:srgbClr val="7257C7"/>
          </a:solidFill>
          <a:ln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907792"/>
            <a:ext cx="749808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1">
                <a:solidFill>
                  <a:srgbClr val="5C6878"/>
                </a:solidFill>
                <a:latin typeface="Microsoft YaHei"/>
              </a:rPr>
              <a:t>0.0170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611880"/>
            <a:ext cx="5074920" cy="53035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878"/>
                </a:solidFill>
                <a:latin typeface="Microsoft YaHei"/>
              </a:rPr>
              <a:t>公式：abs(S_v_cos) × S_v_new_norm
有效定位请求：284/636（44.65%）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1143000"/>
            <a:ext cx="544068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1353312"/>
            <a:ext cx="4983480" cy="32004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9A69"/>
                </a:solidFill>
                <a:latin typeface="Microsoft YaHei"/>
              </a:rPr>
              <a:t>证据链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965960"/>
            <a:ext cx="859536" cy="658368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093976"/>
            <a:ext cx="786384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>
                <a:solidFill>
                  <a:srgbClr val="1C9A69"/>
                </a:solidFill>
                <a:latin typeface="Microsoft YaHei"/>
              </a:rPr>
              <a:t>Top-1=L0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23760" y="2295144"/>
            <a:ext cx="100584" cy="0"/>
          </a:xfrm>
          <a:prstGeom prst="line">
            <a:avLst/>
          </a:prstGeom>
          <a:ln w="19050">
            <a:solidFill>
              <a:srgbClr val="1C9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42632" y="1965960"/>
            <a:ext cx="859536" cy="6583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79208" y="2093976"/>
            <a:ext cx="786384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>
                <a:solidFill>
                  <a:srgbClr val="162234"/>
                </a:solidFill>
                <a:latin typeface="Microsoft YaHei"/>
              </a:rPr>
              <a:t>CLI --layers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11312" y="2295144"/>
            <a:ext cx="100584" cy="0"/>
          </a:xfrm>
          <a:prstGeom prst="line">
            <a:avLst/>
          </a:prstGeom>
          <a:ln w="19050">
            <a:solidFill>
              <a:srgbClr val="1C9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30183" y="1965960"/>
            <a:ext cx="859536" cy="6583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2093976"/>
            <a:ext cx="786384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>
                <a:solidFill>
                  <a:srgbClr val="162234"/>
                </a:solidFill>
                <a:latin typeface="Microsoft YaHei"/>
              </a:rPr>
              <a:t>cfg.edit_layers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98863" y="2295144"/>
            <a:ext cx="100585" cy="0"/>
          </a:xfrm>
          <a:prstGeom prst="line">
            <a:avLst/>
          </a:prstGeom>
          <a:ln w="19050">
            <a:solidFill>
              <a:srgbClr val="1C9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317736" y="1965960"/>
            <a:ext cx="859536" cy="6583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54312" y="2093976"/>
            <a:ext cx="786384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>
                <a:solidFill>
                  <a:srgbClr val="162234"/>
                </a:solidFill>
                <a:latin typeface="Microsoft YaHei"/>
              </a:rPr>
              <a:t>decoder.layers.0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186416" y="2295144"/>
            <a:ext cx="100584" cy="0"/>
          </a:xfrm>
          <a:prstGeom prst="line">
            <a:avLst/>
          </a:prstGeom>
          <a:ln w="19050">
            <a:solidFill>
              <a:srgbClr val="1C9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305288" y="1965960"/>
            <a:ext cx="859536" cy="658368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41863" y="2093976"/>
            <a:ext cx="786384" cy="3200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0" b="1">
                <a:solidFill>
                  <a:srgbClr val="1C9A69"/>
                </a:solidFill>
                <a:latin typeface="Microsoft YaHei"/>
              </a:rPr>
              <a:t>post-block Adapter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2907792"/>
            <a:ext cx="4937760" cy="896112"/>
          </a:xfrm>
          <a:prstGeom prst="rect">
            <a:avLst/>
          </a:prstGeom>
          <a:noFill/>
        </p:spPr>
        <p:txBody>
          <a:bodyPr wrap="square" lIns="82296" rIns="82296" tIns="82296" bIns="8229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050" b="0">
                <a:solidFill>
                  <a:srgbClr val="162234"/>
                </a:solidFill>
                <a:latin typeface="Microsoft YaHei"/>
              </a:defRPr>
            </a:pPr>
            <a:r>
              <a:t>• 历史Job 3126082显式训练L1，只能说明训练了Top-3候选中的L1。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050" b="0">
                <a:solidFill>
                  <a:srgbClr val="162234"/>
                </a:solidFill>
                <a:latin typeface="Microsoft YaHei"/>
              </a:defRPr>
            </a:pPr>
            <a:r>
              <a:t>• 不存在“排名CSV自动传到launcher”的证据。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434840"/>
            <a:ext cx="530352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4360" y="4434840"/>
            <a:ext cx="73152" cy="1207008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4572000"/>
            <a:ext cx="498348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真实hook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4946904"/>
            <a:ext cx="4956048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150" b="0">
                <a:solidFill>
                  <a:srgbClr val="162234"/>
                </a:solidFill>
                <a:latin typeface="Microsoft YaHei"/>
              </a:defRPr>
            </a:pPr>
            <a:r>
              <a:t>• register_forward_hook；修改block输出 outpt[0]，不是pre-hook输入编辑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434840"/>
            <a:ext cx="5413248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72200" y="4434840"/>
            <a:ext cx="73152" cy="1207008"/>
          </a:xfrm>
          <a:prstGeom prst="rect">
            <a:avLst/>
          </a:prstGeom>
          <a:solidFill>
            <a:srgbClr val="7257C7"/>
          </a:solidFill>
          <a:ln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4572000"/>
            <a:ext cx="509320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7257C7"/>
                </a:solidFill>
                <a:latin typeface="Microsoft YaHei"/>
              </a:rPr>
              <a:t>张量范围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946904"/>
            <a:ext cx="5065776" cy="5852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150" b="0">
                <a:solidFill>
                  <a:srgbClr val="162234"/>
                </a:solidFill>
                <a:latin typeface="Microsoft YaHei"/>
              </a:defRPr>
            </a:pPr>
            <a:r>
              <a:t>• 历史实测hidden=2560；视觉token span=[0,32)；非视觉段直接delta=0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" y="5806440"/>
            <a:ext cx="10991088" cy="502920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916168"/>
            <a:ext cx="777240" cy="320040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F6BFF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527048" y="5925312"/>
            <a:ext cx="0" cy="265176"/>
          </a:xfrm>
          <a:prstGeom prst="line">
            <a:avLst/>
          </a:prstGeom>
          <a:ln w="152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45919" y="5897879"/>
            <a:ext cx="9802367" cy="33832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目录layer_01 → 数值1 → decoder索引1 → 第2个block；不存在+1/-1换算。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证据：ranking_recomputed.json；vead.py；checkpoint module keys；历史单样本日志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P0结果②：第一阶段有效训练与评测协议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计划预算、实际选点、评测入口必须分开描述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88720"/>
          <a:ext cx="10991087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5532120"/>
                <a:gridCol w="4133087"/>
              </a:tblGrid>
              <a:tr h="440055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真实协议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证据边界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Adapter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VisionEditAdaptor(2560,1024,8,32,True,1024)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源码+配置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优化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Adam；lr=1e-4；仅Adapter参数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checkpoint参数组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预算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50 epoch；batch=2；318 step/epoch；15,900 step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L0/L1历史日志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选点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每epoch存档；选择最小EMA checkpoint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源码+重算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选中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L0 epoch24；L1 epoch11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不是提前停止轮数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评测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Rel / T-Gen / M-Gen token accuracy；T/M-Loc一致率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teacher-forced，不是自由生成EM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请求生命周期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共享Adapter；测试时每条请求重算edit signal，不做optimizer更新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源码确认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4956048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956048"/>
            <a:ext cx="73152" cy="114300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093208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历史L0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3081528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080" b="0">
                <a:solidFill>
                  <a:srgbClr val="162234"/>
                </a:solidFill>
                <a:latin typeface="Microsoft YaHei"/>
              </a:defRPr>
            </a:pPr>
            <a:r>
              <a:t>• 50轮完成；epoch24被选中；Average=65.856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4956048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4956048"/>
            <a:ext cx="73152" cy="1143000"/>
          </a:xfrm>
          <a:prstGeom prst="rect">
            <a:avLst/>
          </a:prstGeom>
          <a:solidFill>
            <a:srgbClr val="11A8A5"/>
          </a:solidFill>
          <a:ln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093208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1A8A5"/>
                </a:solidFill>
                <a:latin typeface="Microsoft YaHei"/>
              </a:rPr>
              <a:t>历史L1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5468112"/>
            <a:ext cx="3081528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080" b="0">
                <a:solidFill>
                  <a:srgbClr val="162234"/>
                </a:solidFill>
                <a:latin typeface="Microsoft YaHei"/>
              </a:defRPr>
            </a:pPr>
            <a:r>
              <a:t>• 50轮完成；epoch11被选中；Average=72.504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4956048"/>
            <a:ext cx="3429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4956048"/>
            <a:ext cx="73152" cy="1143000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5093208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严格复现缺口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5468112"/>
            <a:ext cx="3081528" cy="52120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080" b="0">
                <a:solidFill>
                  <a:srgbClr val="162234"/>
                </a:solidFill>
                <a:latin typeface="Microsoft YaHei"/>
              </a:defRPr>
            </a:pPr>
            <a:r>
              <a:t>• L0原始CLI/有效seed、依赖锁和本轮接口复验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证据：phase2_p0/p0_evidence_report.md §5；checkpoint_selection_recomputed.json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P1：MMKE-Entity数据核验与无泄漏开发集设计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官网下载不代表本地展开、兼容转换和新实验约束一定正确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0156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4343400"/>
          </a:xfrm>
          <a:prstGeom prst="rect">
            <a:avLst/>
          </a:prstGeom>
          <a:solidFill>
            <a:srgbClr val="11A8A5"/>
          </a:solidFill>
          <a:ln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371600"/>
            <a:ext cx="308152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1A8A5"/>
                </a:solidFill>
                <a:latin typeface="Microsoft YaHei"/>
              </a:rPr>
              <a:t>是什么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46504"/>
            <a:ext cx="3054096" cy="3721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审计官方train/eval、第一阶段compat数据和图片根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核验字段结构、样本对应、Portability与955/954差异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按事实、主体和图片共同身份设计dev划分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0156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4343400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371600"/>
            <a:ext cx="308152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为什么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46504"/>
            <a:ext cx="3054096" cy="3721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官方数据无原生sample_id、主体Q-ID或事实根ID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compat转换丢失port_new和关系QA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locality目录缺失导致脚本按basename错误回退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仅按行号或文本+路径划分无法证明无泄漏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401568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4343400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371600"/>
            <a:ext cx="308152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9A69"/>
                </a:solidFill>
                <a:latin typeface="Microsoft YaHei"/>
              </a:rPr>
              <a:t>怎么做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746504"/>
            <a:ext cx="3054096" cy="3721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对JSON数组/JSONL、记录数、重复和缺图做全量检查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对图片路径与文件内容计算SHA-256并构造连通组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用稳定内容指纹建立sample_id并追踪原/兼容记录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250" b="0">
                <a:solidFill>
                  <a:srgbClr val="162234"/>
                </a:solidFill>
                <a:latin typeface="Microsoft YaHei"/>
              </a:defRPr>
            </a:pPr>
            <a:r>
              <a:t>• 官方eval只读披露重叠，不用它调seed或比例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779008"/>
            <a:ext cx="10991088" cy="54864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888736"/>
            <a:ext cx="777240" cy="365759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E79B27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27048" y="5897880"/>
            <a:ext cx="0" cy="310896"/>
          </a:xfrm>
          <a:prstGeom prst="line">
            <a:avLst/>
          </a:prstGeom>
          <a:ln w="1524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45919" y="5870448"/>
            <a:ext cx="9802367" cy="38404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数据审计完成；旧508/128只是图片连通约束下的候选，需用P2冻结的主体/事实身份重新连通和划分。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证据：phase2_p1/p1_data_audit.md；field_mapping.md；leakage_report.md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P1结果①：官方数据、兼容数据与字段保真度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样本数量差异已追溯；Portability只存在于官方格式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70432"/>
          <a:ext cx="65836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960120"/>
                <a:gridCol w="1554480"/>
                <a:gridCol w="2560320"/>
              </a:tblGrid>
              <a:tr h="612648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样本数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Portability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关键结论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official train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636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636/636，1-hop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结构完整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official eval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955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955/955，1-hop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结构完整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compat train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636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0/636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port_new被丢弃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compat eval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954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0/954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删除官方索引403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452360" y="1170432"/>
            <a:ext cx="4133087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170432"/>
            <a:ext cx="73152" cy="1417320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53528" y="1307592"/>
            <a:ext cx="381304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955 → 954的原因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1682496"/>
            <a:ext cx="3785615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150" b="0">
                <a:solidFill>
                  <a:srgbClr val="162234"/>
                </a:solidFill>
                <a:latin typeface="Microsoft YaHei"/>
              </a:defRPr>
            </a:pPr>
            <a:r>
              <a:t>• 官方eval[403]的locality路径当时找不到fallback，因此转换器删除1条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2816352"/>
            <a:ext cx="4133087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452360" y="2816352"/>
            <a:ext cx="73152" cy="141732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53528" y="2953512"/>
            <a:ext cx="381304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字段语义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328416"/>
            <a:ext cx="3785615" cy="7955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120" b="0">
                <a:solidFill>
                  <a:srgbClr val="162234"/>
                </a:solidFill>
                <a:latin typeface="Microsoft YaHei"/>
              </a:defRPr>
            </a:pPr>
            <a:r>
              <a:t>• pred=编辑前旧知识；alt=完整反事实目标；model_pred是定位阶段现场生成答案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526280"/>
            <a:ext cx="10991088" cy="10789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718304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B1F33"/>
                </a:solidFill>
                <a:latin typeface="Microsoft YaHei"/>
              </a:rPr>
              <a:t>训练/评测字段边界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4645152"/>
            <a:ext cx="8549640" cy="5669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162234"/>
                </a:solidFill>
                <a:latin typeface="Microsoft YaHei"/>
              </a:rPr>
              <a:t>src + alt + image用于编辑请求；rephrase/image_rephrase用于泛化；loc/m_loc用于局部性。
rel_*、m_rel_*、port_new不得用于构图、分组、实体链接或训练。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815584"/>
            <a:ext cx="10991088" cy="493776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925312"/>
            <a:ext cx="777240" cy="31089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7257C7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527048" y="5934456"/>
            <a:ext cx="0" cy="256032"/>
          </a:xfrm>
          <a:prstGeom prst="line">
            <a:avLst/>
          </a:prstGeom>
          <a:ln w="15240">
            <a:solidFill>
              <a:srgbClr val="725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45919" y="5907024"/>
            <a:ext cx="9802367" cy="329184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官方Portability可用于后续评测，但兼容格式必须通过稳定sample_id恢复，禁止按当前行号强行匹配。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证据：data_statistics.json；portability_coverage.json；record_linkage.json；field_mapping.md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P1结果②：locality图片问题不是作者划分问题，而是本地展开与兼容转换问题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服务器展开目录曾缺少locality；ZIP中原图完整存在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154680" cy="2011680"/>
          </a:xfrm>
          <a:prstGeom prst="roundRect">
            <a:avLst/>
          </a:prstGeom>
          <a:solidFill>
            <a:srgbClr val="FDEBEC"/>
          </a:solidFill>
          <a:ln w="12700">
            <a:solidFill>
              <a:srgbClr val="F2C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81328"/>
            <a:ext cx="26517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D95555"/>
                </a:solidFill>
                <a:latin typeface="Microsoft YaHei"/>
              </a:rPr>
              <a:t>历史展开目录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57400"/>
            <a:ext cx="2542032" cy="7315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62234"/>
                </a:solidFill>
                <a:latin typeface="Microsoft YaHei"/>
              </a:rPr>
              <a:t>只有 entity / visual
缺少 locality 子目录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240280"/>
            <a:ext cx="841248" cy="0"/>
          </a:xfrm>
          <a:prstGeom prst="line">
            <a:avLst/>
          </a:prstGeom>
          <a:ln w="31750">
            <a:solidFill>
              <a:srgbClr val="D9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28032" y="1234440"/>
            <a:ext cx="3154680" cy="2011680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F1D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481328"/>
            <a:ext cx="265176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79B27"/>
                </a:solidFill>
                <a:latin typeface="Microsoft YaHei"/>
              </a:rPr>
              <a:t>兼容转换fallback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993392"/>
            <a:ext cx="2578608" cy="8686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162234"/>
                </a:solidFill>
                <a:latin typeface="Microsoft YaHei"/>
              </a:rPr>
              <a:t>locality/m.../x.jpg
→ entity/x.jpg
只按basename替代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83296" y="2240280"/>
            <a:ext cx="841248" cy="0"/>
          </a:xfrm>
          <a:prstGeom prst="line">
            <a:avLst/>
          </a:prstGeom>
          <a:ln w="31750">
            <a:solidFill>
              <a:srgbClr val="1C9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70848" y="1234440"/>
            <a:ext cx="2514600" cy="201168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B9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481328"/>
            <a:ext cx="2011680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1C9A69"/>
                </a:solidFill>
                <a:latin typeface="Microsoft YaHei"/>
              </a:rPr>
              <a:t>修复后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1993392"/>
            <a:ext cx="2011680" cy="8686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20" b="1">
                <a:solidFill>
                  <a:srgbClr val="162234"/>
                </a:solidFill>
                <a:latin typeface="Microsoft YaHei"/>
              </a:rPr>
              <a:t>从官方ZIP提取原图
发布到标准MMKE图片根
保持历史协议不被覆盖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703320"/>
            <a:ext cx="338328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703320"/>
            <a:ext cx="73152" cy="1335024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840480"/>
            <a:ext cx="3063240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D95555"/>
                </a:solidFill>
                <a:latin typeface="Microsoft YaHei"/>
              </a:rPr>
              <a:t>591 / 636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4279392"/>
            <a:ext cx="306324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train fallback与原图字节不同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07408" y="3703320"/>
            <a:ext cx="338328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7408" y="3703320"/>
            <a:ext cx="73152" cy="1335024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8576" y="3840480"/>
            <a:ext cx="3063240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D95555"/>
                </a:solidFill>
                <a:latin typeface="Microsoft YaHei"/>
              </a:rPr>
              <a:t>891 / 954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279392"/>
            <a:ext cx="306324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eval fallback与原图字节不同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11312" y="3703320"/>
            <a:ext cx="3374136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11312" y="3703320"/>
            <a:ext cx="73152" cy="1335024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840480"/>
            <a:ext cx="3054096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C9A69"/>
                </a:solidFill>
                <a:latin typeface="Microsoft YaHei"/>
              </a:rPr>
              <a:t>1837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79392"/>
            <a:ext cx="3054096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已校验并发布的locality原图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5321808"/>
            <a:ext cx="10991088" cy="841248"/>
          </a:xfrm>
          <a:prstGeom prst="roundRect">
            <a:avLst/>
          </a:prstGeom>
          <a:solidFill>
            <a:srgbClr val="FDEBEC"/>
          </a:solidFill>
          <a:ln w="12700">
            <a:solidFill>
              <a:srgbClr val="FD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431536"/>
            <a:ext cx="777240" cy="65836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5555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27048" y="5440680"/>
            <a:ext cx="0" cy="603504"/>
          </a:xfrm>
          <a:prstGeom prst="line">
            <a:avLst/>
          </a:prstGeom>
          <a:ln w="15240">
            <a:solidFill>
              <a:srgbClr val="D9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645919" y="5413248"/>
            <a:ext cx="9802367" cy="67665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结论边界：可以确定服务器展开目录不完整且发生错误替代；不能据此指责MMKE作者划分不合理，也不能把图片重叠直接等同于答案泄漏。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证据：image_audit.json；locality_repair_report.md；locality_mmke_root_publish.json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P1结果③：无泄漏划分依赖连通分组，而不是逐条随机切分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共享任一图片、主体或事实身份的样本必须进入同一集合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749039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B1F33"/>
                </a:solidFill>
                <a:latin typeface="Microsoft YaHei"/>
              </a:rPr>
              <a:t>连通分组规则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1664208"/>
            <a:ext cx="475488" cy="475488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719072"/>
            <a:ext cx="47548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645920"/>
            <a:ext cx="11430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2F6BFF"/>
                </a:solidFill>
                <a:latin typeface="Microsoft YaHei"/>
              </a:rPr>
              <a:t>图像身份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645920"/>
            <a:ext cx="210312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878"/>
                </a:solidFill>
                <a:latin typeface="Microsoft YaHei"/>
              </a:rPr>
              <a:t>路径 + 文件SHA-256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0976" y="2139696"/>
            <a:ext cx="0" cy="457200"/>
          </a:xfrm>
          <a:prstGeom prst="line">
            <a:avLst/>
          </a:prstGeom>
          <a:ln w="15240">
            <a:solidFill>
              <a:srgbClr val="AA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713232" y="2624328"/>
            <a:ext cx="475488" cy="475488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679192"/>
            <a:ext cx="47548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2606040"/>
            <a:ext cx="11430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9A69"/>
                </a:solidFill>
                <a:latin typeface="Microsoft YaHei"/>
              </a:rPr>
              <a:t>主体身份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606040"/>
            <a:ext cx="210312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878"/>
                </a:solidFill>
                <a:latin typeface="Microsoft YaHei"/>
              </a:rPr>
              <a:t>冻结Q-ID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50976" y="3099816"/>
            <a:ext cx="0" cy="457200"/>
          </a:xfrm>
          <a:prstGeom prst="line">
            <a:avLst/>
          </a:prstGeom>
          <a:ln w="15240">
            <a:solidFill>
              <a:srgbClr val="AA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13232" y="3584448"/>
            <a:ext cx="475488" cy="475488"/>
          </a:xfrm>
          <a:prstGeom prst="ellipse">
            <a:avLst/>
          </a:prstGeom>
          <a:solidFill>
            <a:srgbClr val="7257C7"/>
          </a:solidFill>
          <a:ln w="10160"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639312"/>
            <a:ext cx="475488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566160"/>
            <a:ext cx="11430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7257C7"/>
                </a:solidFill>
                <a:latin typeface="Microsoft YaHei"/>
              </a:rPr>
              <a:t>事实身份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566160"/>
            <a:ext cx="210312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878"/>
                </a:solidFill>
                <a:latin typeface="Microsoft YaHei"/>
              </a:rPr>
              <a:t>fact_root_id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1243584"/>
            <a:ext cx="6739128" cy="3273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02352" y="1463040"/>
            <a:ext cx="626364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1A8A5"/>
                </a:solidFill>
                <a:latin typeface="Microsoft YaHei"/>
              </a:rPr>
              <a:t>第一版图片连通候选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02352" y="1956816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02352" y="1956816"/>
            <a:ext cx="73152" cy="1188720"/>
          </a:xfrm>
          <a:prstGeom prst="rect">
            <a:avLst/>
          </a:prstGeom>
          <a:solidFill>
            <a:srgbClr val="11A8A5"/>
          </a:solidFill>
          <a:ln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093976"/>
            <a:ext cx="1554479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1A8A5"/>
                </a:solidFill>
                <a:latin typeface="Microsoft YaHei"/>
              </a:rPr>
              <a:t>417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2532888"/>
            <a:ext cx="1554479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连通组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78040" y="1956816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1956816"/>
            <a:ext cx="73152" cy="1188720"/>
          </a:xfrm>
          <a:prstGeom prst="rect">
            <a:avLst/>
          </a:prstGeom>
          <a:solidFill>
            <a:srgbClr val="E79B27"/>
          </a:solidFill>
          <a:ln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79208" y="2093976"/>
            <a:ext cx="1554479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79B27"/>
                </a:solidFill>
                <a:latin typeface="Microsoft YaHei"/>
              </a:rPr>
              <a:t>11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9208" y="2532888"/>
            <a:ext cx="1554479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最大组样本数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53728" y="1956816"/>
            <a:ext cx="187451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53728" y="1956816"/>
            <a:ext cx="73152" cy="118872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54896" y="2093976"/>
            <a:ext cx="1554479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F6BFF"/>
                </a:solidFill>
                <a:latin typeface="Microsoft YaHei"/>
              </a:rPr>
              <a:t>508 / 128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54896" y="2532888"/>
            <a:ext cx="1554479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候选train / val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3419856"/>
            <a:ext cx="5943600" cy="6400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D95555"/>
                </a:solidFill>
                <a:latin typeface="Microsoft YaHei"/>
              </a:rPr>
              <a:t>候选两侧已观测图片哈希交集=0；但当时主体/事实身份未知，
因此不能宣称“实体与事实无泄漏”。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4773168"/>
            <a:ext cx="10991088" cy="713232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B9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4956048"/>
            <a:ext cx="10469880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C9A69"/>
                </a:solidFill>
                <a:latin typeface="Microsoft YaHei"/>
              </a:rPr>
              <a:t>P2-A/P2-B现在已补齐主体Q-ID和fact_root_id → 下一步按三类身份重新构造连通图和dev划分。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5715000"/>
            <a:ext cx="10991088" cy="566928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EAF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824728"/>
            <a:ext cx="777240" cy="38404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2F6BFF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527048" y="5833872"/>
            <a:ext cx="0" cy="329184"/>
          </a:xfrm>
          <a:prstGeom prst="line">
            <a:avLst/>
          </a:prstGeom>
          <a:ln w="1524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645919" y="5806440"/>
            <a:ext cx="9802367" cy="40233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official eval保持只读，只报告与train的重叠；不删除样本、不反向调seed，也不把新划分结果称为第一阶段严格复现。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证据：leakage_report.md；candidate_split_manifest.json；split_policy.json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P2总体设计：现实基础图 + 样本级反事实覆盖层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同一Wikidata基础图可以服务多个编辑请求；反事实只在当前sample上下文中生效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88720"/>
            <a:ext cx="4919472" cy="446227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C8D8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370832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F6BFF"/>
                </a:solidFill>
                <a:latin typeface="Microsoft YaHei"/>
              </a:rPr>
              <a:t>G_real：现实基础图</a:t>
            </a:r>
          </a:p>
        </p:txBody>
      </p:sp>
      <p:sp>
        <p:nvSpPr>
          <p:cNvPr id="8" name="Oval 7"/>
          <p:cNvSpPr/>
          <p:nvPr/>
        </p:nvSpPr>
        <p:spPr>
          <a:xfrm>
            <a:off x="987552" y="2148840"/>
            <a:ext cx="841248" cy="841248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31720"/>
            <a:ext cx="84124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Microsoft YaHei"/>
              </a:rPr>
              <a:t>主体Q-ID</a:t>
            </a:r>
          </a:p>
        </p:txBody>
      </p:sp>
      <p:sp>
        <p:nvSpPr>
          <p:cNvPr id="10" name="Oval 9"/>
          <p:cNvSpPr/>
          <p:nvPr/>
        </p:nvSpPr>
        <p:spPr>
          <a:xfrm>
            <a:off x="2743200" y="1874519"/>
            <a:ext cx="841248" cy="841248"/>
          </a:xfrm>
          <a:prstGeom prst="ellipse">
            <a:avLst/>
          </a:prstGeom>
          <a:solidFill>
            <a:srgbClr val="11A8A5"/>
          </a:solidFill>
          <a:ln w="1016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2057400"/>
            <a:ext cx="84124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Microsoft YaHei"/>
              </a:rPr>
              <a:t>现实属性</a:t>
            </a:r>
          </a:p>
        </p:txBody>
      </p:sp>
      <p:sp>
        <p:nvSpPr>
          <p:cNvPr id="12" name="Oval 11"/>
          <p:cNvSpPr/>
          <p:nvPr/>
        </p:nvSpPr>
        <p:spPr>
          <a:xfrm>
            <a:off x="4160520" y="2468880"/>
            <a:ext cx="841248" cy="841248"/>
          </a:xfrm>
          <a:prstGeom prst="ellipse">
            <a:avLst/>
          </a:prstGeom>
          <a:solidFill>
            <a:srgbClr val="11A8A5"/>
          </a:solidFill>
          <a:ln w="1016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651760"/>
            <a:ext cx="84124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Microsoft YaHei"/>
              </a:rPr>
              <a:t>现实邻居</a:t>
            </a:r>
          </a:p>
        </p:txBody>
      </p:sp>
      <p:sp>
        <p:nvSpPr>
          <p:cNvPr id="14" name="Oval 13"/>
          <p:cNvSpPr/>
          <p:nvPr/>
        </p:nvSpPr>
        <p:spPr>
          <a:xfrm>
            <a:off x="2011680" y="3337560"/>
            <a:ext cx="841248" cy="841248"/>
          </a:xfrm>
          <a:prstGeom prst="ellipse">
            <a:avLst/>
          </a:prstGeom>
          <a:solidFill>
            <a:srgbClr val="11A8A5"/>
          </a:solidFill>
          <a:ln w="1016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11680" y="3520440"/>
            <a:ext cx="84124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Microsoft YaHei"/>
              </a:rPr>
              <a:t>类型/上位类</a:t>
            </a:r>
          </a:p>
        </p:txBody>
      </p:sp>
      <p:sp>
        <p:nvSpPr>
          <p:cNvPr id="16" name="Oval 15"/>
          <p:cNvSpPr/>
          <p:nvPr/>
        </p:nvSpPr>
        <p:spPr>
          <a:xfrm>
            <a:off x="3822191" y="3840480"/>
            <a:ext cx="841248" cy="841248"/>
          </a:xfrm>
          <a:prstGeom prst="ellipse">
            <a:avLst/>
          </a:prstGeom>
          <a:solidFill>
            <a:srgbClr val="11A8A5"/>
          </a:solidFill>
          <a:ln w="1016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22191" y="4023360"/>
            <a:ext cx="84124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19" b="1">
                <a:solidFill>
                  <a:srgbClr val="FFFFFF"/>
                </a:solidFill>
                <a:latin typeface="Microsoft YaHei"/>
              </a:rPr>
              <a:t>1-hop/2-hop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1810512" y="2286000"/>
            <a:ext cx="932688" cy="274320"/>
          </a:xfrm>
          <a:prstGeom prst="line">
            <a:avLst/>
          </a:prstGeom>
          <a:ln w="19050">
            <a:solidFill>
              <a:srgbClr val="6C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572768" y="2944368"/>
            <a:ext cx="603504" cy="393192"/>
          </a:xfrm>
          <a:prstGeom prst="line">
            <a:avLst/>
          </a:prstGeom>
          <a:ln w="19050">
            <a:solidFill>
              <a:srgbClr val="6C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566160" y="2286000"/>
            <a:ext cx="594360" cy="566928"/>
          </a:xfrm>
          <a:prstGeom prst="line">
            <a:avLst/>
          </a:prstGeom>
          <a:ln w="19050">
            <a:solidFill>
              <a:srgbClr val="6C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761488" y="3730752"/>
            <a:ext cx="1060703" cy="429768"/>
          </a:xfrm>
          <a:prstGeom prst="line">
            <a:avLst/>
          </a:prstGeom>
          <a:ln w="19050">
            <a:solidFill>
              <a:srgbClr val="6C91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2688" y="4892040"/>
            <a:ext cx="425196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5C6878"/>
                </a:solidFill>
                <a:latin typeface="Microsoft YaHei"/>
              </a:rPr>
              <a:t>来源：Wikidata等现实知识；全局只读缓存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1188720"/>
            <a:ext cx="4919472" cy="4462272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D5C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417320"/>
            <a:ext cx="4370832" cy="34747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7257C7"/>
                </a:solidFill>
                <a:latin typeface="Microsoft YaHei"/>
              </a:rPr>
              <a:t>Δ_edit(sample_id)：反事实覆盖层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2057400"/>
            <a:ext cx="3886200" cy="731520"/>
          </a:xfrm>
          <a:prstGeom prst="roundRect">
            <a:avLst/>
          </a:prstGeom>
          <a:solidFill>
            <a:srgbClr val="FDEBEC"/>
          </a:solidFill>
          <a:ln w="12700">
            <a:solidFill>
              <a:srgbClr val="F2C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2249424"/>
            <a:ext cx="347472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D95555"/>
                </a:solidFill>
                <a:latin typeface="Microsoft YaHei"/>
              </a:rPr>
              <a:t>旧边：subject — relation — old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07424" y="2834640"/>
            <a:ext cx="0" cy="530352"/>
          </a:xfrm>
          <a:prstGeom prst="line">
            <a:avLst/>
          </a:prstGeom>
          <a:ln w="31750">
            <a:solidFill>
              <a:srgbClr val="725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178040" y="3474720"/>
            <a:ext cx="3886200" cy="731520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B9E0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2" y="3666744"/>
            <a:ext cx="347472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1C9A69"/>
                </a:solidFill>
                <a:latin typeface="Microsoft YaHei"/>
              </a:rPr>
              <a:t>新边：subject — relation — new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4663440"/>
            <a:ext cx="384048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5C6878"/>
                </a:solidFill>
                <a:latin typeface="Microsoft YaHei"/>
              </a:rPr>
              <a:t>旧冲突边仅对当前样本失活
不改写全局现实图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84448" y="5733288"/>
            <a:ext cx="5029200" cy="530352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30752" y="5843016"/>
            <a:ext cx="4736592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G_edit(sample) = G_real ⊕ Δ_edit(sample)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设计依据：第二阶段KG增强设计_真实基础图与反事实编辑覆盖层_20260918.md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P2-A：冻结编辑目标主体身份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P2-A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alt第一句只能提供候选实体文本，不能直接当作稳定主体ID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335024"/>
            <a:ext cx="2240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27048"/>
            <a:ext cx="2020824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2F6BFF"/>
                </a:solidFill>
                <a:latin typeface="Microsoft YaHei"/>
              </a:rPr>
              <a:t>抽取候选主体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020824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pred + alt + type_self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89504" y="1847088"/>
            <a:ext cx="457200" cy="0"/>
          </a:xfrm>
          <a:prstGeom prst="line">
            <a:avLst/>
          </a:prstGeom>
          <a:ln w="25400">
            <a:solidFill>
              <a:srgbClr val="2F6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10712" y="1335024"/>
            <a:ext cx="2240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27048"/>
            <a:ext cx="2020824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1A8A5"/>
                </a:solidFill>
                <a:latin typeface="Microsoft YaHei"/>
              </a:rPr>
              <a:t>Wikidata检索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19"/>
            <a:ext cx="2020824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候选Q-ID/标签/描述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78424" y="1847088"/>
            <a:ext cx="457200" cy="0"/>
          </a:xfrm>
          <a:prstGeom prst="line">
            <a:avLst/>
          </a:prstGeom>
          <a:ln w="25400">
            <a:solidFill>
              <a:srgbClr val="11A8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99631" y="1335024"/>
            <a:ext cx="2240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1527048"/>
            <a:ext cx="2020824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E79B27"/>
                </a:solidFill>
                <a:latin typeface="Microsoft YaHei"/>
              </a:rPr>
              <a:t>图像辅助审核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1874519"/>
            <a:ext cx="2020824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目标参考图 + 编辑图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67344" y="1847088"/>
            <a:ext cx="457200" cy="0"/>
          </a:xfrm>
          <a:prstGeom prst="line">
            <a:avLst/>
          </a:prstGeom>
          <a:ln w="2540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88551" y="1335024"/>
            <a:ext cx="2240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79" y="1527048"/>
            <a:ext cx="2020824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C9A69"/>
                </a:solidFill>
                <a:latin typeface="Microsoft YaHei"/>
              </a:rPr>
              <a:t>冻结身份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79" y="1874519"/>
            <a:ext cx="2020824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sample_id → subject_qid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2834640"/>
            <a:ext cx="24871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2834640"/>
            <a:ext cx="73152" cy="1353312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971800"/>
            <a:ext cx="2167128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C9A69"/>
                </a:solidFill>
                <a:latin typeface="Microsoft YaHei"/>
              </a:rPr>
              <a:t>636 / 636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410712"/>
            <a:ext cx="2167128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主体身份记录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64992" y="2834640"/>
            <a:ext cx="24871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64992" y="2834640"/>
            <a:ext cx="73152" cy="1353312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66160" y="2971800"/>
            <a:ext cx="2167128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2F6BFF"/>
                </a:solidFill>
                <a:latin typeface="Microsoft YaHei"/>
              </a:rPr>
              <a:t>635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410712"/>
            <a:ext cx="2167128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唯一冻结Q-ID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08192" y="2834640"/>
            <a:ext cx="24871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08192" y="2834640"/>
            <a:ext cx="73152" cy="1353312"/>
          </a:xfrm>
          <a:prstGeom prst="rect">
            <a:avLst/>
          </a:prstGeom>
          <a:solidFill>
            <a:srgbClr val="E79B27"/>
          </a:solidFill>
          <a:ln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59" y="2971800"/>
            <a:ext cx="2167128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79B27"/>
                </a:solidFill>
                <a:latin typeface="Microsoft YaHei"/>
              </a:rPr>
              <a:t>117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3410712"/>
            <a:ext cx="2167128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人工核验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3694176"/>
            <a:ext cx="2167128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878"/>
                </a:solidFill>
                <a:latin typeface="Microsoft YaHei"/>
              </a:rPr>
              <a:t>50 pilot + 67补充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51392" y="2834640"/>
            <a:ext cx="24871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851392" y="2834640"/>
            <a:ext cx="73152" cy="1353312"/>
          </a:xfrm>
          <a:prstGeom prst="rect">
            <a:avLst/>
          </a:prstGeom>
          <a:solidFill>
            <a:srgbClr val="11A8A5"/>
          </a:solidFill>
          <a:ln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1800"/>
            <a:ext cx="2167128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1A8A5"/>
                </a:solidFill>
                <a:latin typeface="Microsoft YaHei"/>
              </a:rPr>
              <a:t>519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410712"/>
            <a:ext cx="2167128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经Pilot保留自动建议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4553712"/>
            <a:ext cx="523036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1792" y="4553712"/>
            <a:ext cx="73152" cy="1097280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4690872"/>
            <a:ext cx="491032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为什么需要人工页面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4672" y="5065776"/>
            <a:ext cx="4882896" cy="475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100" b="0">
                <a:solidFill>
                  <a:srgbClr val="162234"/>
                </a:solidFill>
                <a:latin typeface="Microsoft YaHei"/>
              </a:defRPr>
            </a:pPr>
            <a:r>
              <a:t>• 同名实体、分类层级、人物/作品/地点歧义不能仅靠字符串Top-1解决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108192" y="4553712"/>
            <a:ext cx="5230368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08192" y="4553712"/>
            <a:ext cx="73152" cy="1097280"/>
          </a:xfrm>
          <a:prstGeom prst="rect">
            <a:avLst/>
          </a:prstGeom>
          <a:solidFill>
            <a:srgbClr val="7257C7"/>
          </a:solidFill>
          <a:ln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59" y="4690872"/>
            <a:ext cx="491032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7257C7"/>
                </a:solidFill>
                <a:latin typeface="Microsoft YaHei"/>
              </a:rPr>
              <a:t>证据边界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91072" y="5065776"/>
            <a:ext cx="4882896" cy="475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100" b="0">
                <a:solidFill>
                  <a:srgbClr val="162234"/>
                </a:solidFill>
                <a:latin typeface="Microsoft YaHei"/>
              </a:defRPr>
            </a:pPr>
            <a:r>
              <a:t>• 117条是人工直接证据；519条保留明确automatic_proposal状态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" y="5833872"/>
            <a:ext cx="10716768" cy="475488"/>
          </a:xfrm>
          <a:prstGeom prst="roundRect">
            <a:avLst/>
          </a:prstGeom>
          <a:solidFill>
            <a:srgbClr val="E8F6F0"/>
          </a:solidFill>
          <a:ln w="12700">
            <a:solidFill>
              <a:srgbClr val="E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8952" y="5943600"/>
            <a:ext cx="77724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1C9A69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554480" y="5952744"/>
            <a:ext cx="0" cy="237744"/>
          </a:xfrm>
          <a:prstGeom prst="line">
            <a:avLst/>
          </a:prstGeom>
          <a:ln w="15240">
            <a:solidFill>
              <a:srgbClr val="1C9A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673352" y="5925312"/>
            <a:ext cx="9528048" cy="31089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P2-A状态：PASS_SUBJECT_IDENTITY_FREEZE；未解析记录=0。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证据：identity_frozen_20260919/subject_identity_freeze_summary.json；人工审核导出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P2-B：把pred→alt长文本改写转换成原子事实差分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P2-B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每条事实遵循：同一主体 + 一个关系 + 完整旧值 → 完整新值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70432"/>
            <a:ext cx="11000232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389888"/>
            <a:ext cx="201168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389888"/>
            <a:ext cx="201168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7257C7"/>
                </a:solidFill>
                <a:latin typeface="Microsoft YaHei"/>
              </a:rPr>
              <a:t>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1389888"/>
            <a:ext cx="233172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old object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389888"/>
            <a:ext cx="54864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5C6878"/>
                </a:solidFill>
                <a:latin typeface="Microsoft YaHe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1389888"/>
            <a:ext cx="329184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1C9A69"/>
                </a:solidFill>
                <a:latin typeface="Microsoft YaHei"/>
              </a:rPr>
              <a:t>new object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1719072"/>
            <a:ext cx="10040112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C6878"/>
                </a:solidFill>
                <a:latin typeface="Microsoft YaHei"/>
              </a:rPr>
              <a:t>例：Twin Otter — used_by_organization — U.S. Army Parachute Team → British Army Parachute Team</a:t>
            </a:r>
          </a:p>
        </p:txBody>
      </p:sp>
      <p:sp>
        <p:nvSpPr>
          <p:cNvPr id="13" name="Oval 12"/>
          <p:cNvSpPr/>
          <p:nvPr/>
        </p:nvSpPr>
        <p:spPr>
          <a:xfrm>
            <a:off x="1280160" y="2606040"/>
            <a:ext cx="713232" cy="713232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2743200"/>
            <a:ext cx="7132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456432"/>
            <a:ext cx="1847088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2F6BFF"/>
                </a:solidFill>
                <a:latin typeface="Microsoft YaHei"/>
              </a:rPr>
              <a:t>句子对齐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803904"/>
            <a:ext cx="1938528" cy="5669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pred与alt按变化句配对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011680" y="2962656"/>
            <a:ext cx="822960" cy="0"/>
          </a:xfrm>
          <a:prstGeom prst="line">
            <a:avLst/>
          </a:prstGeom>
          <a:ln w="22860">
            <a:solidFill>
              <a:srgbClr val="AD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3547872" y="2606040"/>
            <a:ext cx="713232" cy="713232"/>
          </a:xfrm>
          <a:prstGeom prst="ellipse">
            <a:avLst/>
          </a:prstGeom>
          <a:solidFill>
            <a:srgbClr val="11A8A5"/>
          </a:solidFill>
          <a:ln w="1016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2743200"/>
            <a:ext cx="7132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0944" y="3456432"/>
            <a:ext cx="1847088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1A8A5"/>
                </a:solidFill>
                <a:latin typeface="Microsoft YaHei"/>
              </a:rPr>
              <a:t>事实抽取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35224" y="3803904"/>
            <a:ext cx="1938528" cy="5669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离线Qwen输出候选原子事实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79392" y="2962656"/>
            <a:ext cx="822960" cy="0"/>
          </a:xfrm>
          <a:prstGeom prst="line">
            <a:avLst/>
          </a:prstGeom>
          <a:ln w="22860">
            <a:solidFill>
              <a:srgbClr val="AD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815583" y="2606040"/>
            <a:ext cx="713232" cy="713232"/>
          </a:xfrm>
          <a:prstGeom prst="ellipse">
            <a:avLst/>
          </a:prstGeom>
          <a:solidFill>
            <a:srgbClr val="7257C7"/>
          </a:solidFill>
          <a:ln w="10160"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5583" y="2743200"/>
            <a:ext cx="7132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3456432"/>
            <a:ext cx="1847088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7257C7"/>
                </a:solidFill>
                <a:latin typeface="Microsoft YaHei"/>
              </a:rPr>
              <a:t>结构校验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803904"/>
            <a:ext cx="1938528" cy="5669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文本证据、字段完整性、去重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47104" y="2962656"/>
            <a:ext cx="822959" cy="0"/>
          </a:xfrm>
          <a:prstGeom prst="line">
            <a:avLst/>
          </a:prstGeom>
          <a:ln w="22860">
            <a:solidFill>
              <a:srgbClr val="AD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083296" y="2606040"/>
            <a:ext cx="713232" cy="713232"/>
          </a:xfrm>
          <a:prstGeom prst="ellipse">
            <a:avLst/>
          </a:prstGeom>
          <a:solidFill>
            <a:srgbClr val="E79B27"/>
          </a:solidFill>
          <a:ln w="10160"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83296" y="2743200"/>
            <a:ext cx="7132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7" y="3456432"/>
            <a:ext cx="1847088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E79B27"/>
                </a:solidFill>
                <a:latin typeface="Microsoft YaHei"/>
              </a:rPr>
              <a:t>置信分层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0648" y="3803904"/>
            <a:ext cx="1938528" cy="5669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高置信自动保留；不确定进入审核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14815" y="2962656"/>
            <a:ext cx="822961" cy="0"/>
          </a:xfrm>
          <a:prstGeom prst="line">
            <a:avLst/>
          </a:prstGeom>
          <a:ln w="22860">
            <a:solidFill>
              <a:srgbClr val="ADB9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10351008" y="2606040"/>
            <a:ext cx="713232" cy="713232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51008" y="2743200"/>
            <a:ext cx="71323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456432"/>
            <a:ext cx="1847088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1C9A69"/>
                </a:solidFill>
                <a:latin typeface="Microsoft YaHei"/>
              </a:rPr>
              <a:t>冻结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60" y="3803904"/>
            <a:ext cx="1938528" cy="56692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C6878"/>
                </a:solidFill>
                <a:latin typeface="Microsoft YaHei"/>
              </a:rPr>
              <a:t>fact_root_id + provenance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709160"/>
            <a:ext cx="11000232" cy="84124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" y="4910328"/>
            <a:ext cx="201168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D95555"/>
                </a:solidFill>
                <a:latin typeface="Microsoft YaHei"/>
              </a:rPr>
              <a:t>明确禁止使用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1488" y="4855464"/>
            <a:ext cx="8366760" cy="44805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62234"/>
                </a:solidFill>
                <a:latin typeface="Microsoft YaHei"/>
              </a:rPr>
              <a:t>rel_* / m_rel_* / port_new 等评测字段不参与事实抽取、主体链接、分组或构图。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5751576"/>
            <a:ext cx="11000232" cy="548640"/>
          </a:xfrm>
          <a:prstGeom prst="roundRect">
            <a:avLst/>
          </a:prstGeom>
          <a:solidFill>
            <a:srgbClr val="F0ECFA"/>
          </a:solidFill>
          <a:ln w="12700"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861304"/>
            <a:ext cx="777240" cy="365759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7257C7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527048" y="5870448"/>
            <a:ext cx="0" cy="310896"/>
          </a:xfrm>
          <a:prstGeom prst="line">
            <a:avLst/>
          </a:prstGeom>
          <a:ln w="15240">
            <a:solidFill>
              <a:srgbClr val="725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645919" y="5843016"/>
            <a:ext cx="9811511" cy="38404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事实抽取的目标是重建编辑语义，不是穷尽alt里每一个修辞改写；错误边比缺少边更危险。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证据：fact_chain_pilot_frozen_20260919；fact_boundary_full_20260919；P2人工审核页面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P2-B结果：保守高置信子集覆盖全部样本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P2-B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自动压缩未达95%精度门槛，因此选择“保守遗漏、拒绝错误注入”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50292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B1F33"/>
                </a:solidFill>
                <a:latin typeface="Microsoft YaHei"/>
              </a:rPr>
              <a:t>事实数量如何形成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673352"/>
            <a:ext cx="564874" cy="502920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" y="1801368"/>
            <a:ext cx="52829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338</a:t>
            </a:r>
          </a:p>
        </p:txBody>
      </p:sp>
      <p:sp>
        <p:nvSpPr>
          <p:cNvPr id="9" name="Rectangle 8"/>
          <p:cNvSpPr/>
          <p:nvPr/>
        </p:nvSpPr>
        <p:spPr>
          <a:xfrm>
            <a:off x="1223242" y="1673352"/>
            <a:ext cx="4532368" cy="502920"/>
          </a:xfrm>
          <a:prstGeom prst="rect">
            <a:avLst/>
          </a:prstGeom>
          <a:solidFill>
            <a:srgbClr val="11A8A5"/>
          </a:solidFill>
          <a:ln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1530" y="1801368"/>
            <a:ext cx="4495792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2712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55610" y="1673352"/>
            <a:ext cx="23397" cy="502920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13232" y="2395728"/>
            <a:ext cx="201168" cy="201168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77440"/>
            <a:ext cx="3291840" cy="246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>
                <a:solidFill>
                  <a:srgbClr val="162234"/>
                </a:solidFill>
                <a:latin typeface="Microsoft YaHei"/>
              </a:rPr>
              <a:t>Pilot冻结：338条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2852928"/>
            <a:ext cx="201168" cy="201168"/>
          </a:xfrm>
          <a:prstGeom prst="ellipse">
            <a:avLst/>
          </a:prstGeom>
          <a:solidFill>
            <a:srgbClr val="11A8A5"/>
          </a:solidFill>
          <a:ln w="1016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834640"/>
            <a:ext cx="3291840" cy="246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>
                <a:solidFill>
                  <a:srgbClr val="162234"/>
                </a:solidFill>
                <a:latin typeface="Microsoft YaHei"/>
              </a:rPr>
              <a:t>全量自动共识：2712条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3310128"/>
            <a:ext cx="201168" cy="201168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291840"/>
            <a:ext cx="3291840" cy="2468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80" b="1">
                <a:solidFill>
                  <a:srgbClr val="162234"/>
                </a:solidFill>
                <a:latin typeface="Microsoft YaHei"/>
              </a:rPr>
              <a:t>人工补审缺口：14条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977639"/>
            <a:ext cx="5120640" cy="6400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1C9A69"/>
                </a:solidFill>
                <a:latin typeface="Microsoft YaHei"/>
              </a:rPr>
              <a:t>3050条先覆盖633/636样本
3个缺口样本人工确认14条 → 最终3064条覆盖636/636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1143000"/>
            <a:ext cx="5504688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389888"/>
            <a:ext cx="5010912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为什么不继续自动压缩835组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327648" y="1847088"/>
          <a:ext cx="5010912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53312"/>
                <a:gridCol w="13716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校准指标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实测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门槛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自动接受精度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75.00%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≥95%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自动拒绝正确率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57.14%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≥95%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355080" y="3566160"/>
            <a:ext cx="4892040" cy="6583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>
                <a:solidFill>
                  <a:srgbClr val="D95555"/>
                </a:solidFill>
                <a:latin typeface="Microsoft YaHei"/>
              </a:rPr>
              <a:t>未达门槛 → 835组标记 UNRESOLVED_EXCLUDED
保留审计记录，但不进入图谱或训练。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" y="4919472"/>
            <a:ext cx="25054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" y="4919472"/>
            <a:ext cx="73152" cy="1143000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56632"/>
            <a:ext cx="2185416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C9A69"/>
                </a:solidFill>
                <a:latin typeface="Microsoft YaHei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495544"/>
            <a:ext cx="2185416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样本级事实覆盖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83280" y="4919472"/>
            <a:ext cx="25054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83280" y="4919472"/>
            <a:ext cx="73152" cy="1143000"/>
          </a:xfrm>
          <a:prstGeom prst="rect">
            <a:avLst/>
          </a:prstGeom>
          <a:solidFill>
            <a:srgbClr val="7257C7"/>
          </a:solidFill>
          <a:ln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84448" y="5056632"/>
            <a:ext cx="2185416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7257C7"/>
                </a:solidFill>
                <a:latin typeface="Microsoft YaHei"/>
              </a:rPr>
              <a:t>3064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84448" y="5495544"/>
            <a:ext cx="2185416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冻结事实根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44768" y="4919472"/>
            <a:ext cx="25054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4919472"/>
            <a:ext cx="73152" cy="1143000"/>
          </a:xfrm>
          <a:prstGeom prst="rect">
            <a:avLst/>
          </a:prstGeom>
          <a:solidFill>
            <a:srgbClr val="E79B27"/>
          </a:solidFill>
          <a:ln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5056632"/>
            <a:ext cx="2185416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79B27"/>
                </a:solidFill>
                <a:latin typeface="Microsoft YaHei"/>
              </a:rPr>
              <a:t>835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5495544"/>
            <a:ext cx="2185416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隔离候选组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06256" y="4919472"/>
            <a:ext cx="2505456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06256" y="4919472"/>
            <a:ext cx="73152" cy="1143000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07424" y="5056632"/>
            <a:ext cx="2185416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D95555"/>
                </a:solidFill>
                <a:latin typeface="Microsoft YaHei"/>
              </a:rPr>
              <a:t>null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5495544"/>
            <a:ext cx="2185416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候选召回率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424" y="5779008"/>
            <a:ext cx="2185416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878"/>
                </a:solidFill>
                <a:latin typeface="Microsoft YaHei"/>
              </a:rPr>
              <a:t>UNKNOWN_NOT_MEASURED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证据：conservative_protocol_summary.json；pilot_verifier_results.summary.json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P2-C：新旧对象类型预检与Wikidata候选链接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P2-C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先判断对象是不是实体，再查询；查询结果只作候选，不自动冻结Top-1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43000"/>
            <a:ext cx="51663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0B1F33"/>
                </a:solidFill>
                <a:latin typeface="Microsoft YaHei"/>
              </a:rPr>
              <a:t>4958个唯一对象文本的分类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实体候选</a:t>
            </a:r>
          </a:p>
        </p:txBody>
      </p:sp>
      <p:sp>
        <p:nvSpPr>
          <p:cNvPr id="8" name="Rectangle 7"/>
          <p:cNvSpPr/>
          <p:nvPr/>
        </p:nvSpPr>
        <p:spPr>
          <a:xfrm>
            <a:off x="2148840" y="1618488"/>
            <a:ext cx="3182112" cy="246888"/>
          </a:xfrm>
          <a:prstGeom prst="rect">
            <a:avLst/>
          </a:prstGeom>
          <a:solidFill>
            <a:srgbClr val="E8EDF4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48840" y="1618488"/>
            <a:ext cx="3182112" cy="246888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76672" y="1609344"/>
            <a:ext cx="5029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1">
                <a:solidFill>
                  <a:srgbClr val="5C6878"/>
                </a:solidFill>
                <a:latin typeface="Microsoft YaHei"/>
              </a:rPr>
              <a:t>2298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E79B27"/>
                </a:solidFill>
                <a:latin typeface="Microsoft YaHei"/>
              </a:rPr>
              <a:t>类型不确定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148840"/>
            <a:ext cx="3182112" cy="246888"/>
          </a:xfrm>
          <a:prstGeom prst="rect">
            <a:avLst/>
          </a:prstGeom>
          <a:solidFill>
            <a:srgbClr val="E8EDF4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8840" y="2148840"/>
            <a:ext cx="2050786" cy="246888"/>
          </a:xfrm>
          <a:prstGeom prst="rect">
            <a:avLst/>
          </a:prstGeom>
          <a:solidFill>
            <a:srgbClr val="E79B27"/>
          </a:solidFill>
          <a:ln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2139696"/>
            <a:ext cx="5029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1">
                <a:solidFill>
                  <a:srgbClr val="5C6878"/>
                </a:solidFill>
                <a:latin typeface="Microsoft YaHei"/>
              </a:rPr>
              <a:t>1481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679191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C9A69"/>
                </a:solidFill>
                <a:latin typeface="Microsoft YaHei"/>
              </a:rPr>
              <a:t>typed literal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679191"/>
            <a:ext cx="3182112" cy="246888"/>
          </a:xfrm>
          <a:prstGeom prst="rect">
            <a:avLst/>
          </a:prstGeom>
          <a:solidFill>
            <a:srgbClr val="E8EDF4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48840" y="2679191"/>
            <a:ext cx="1221332" cy="246888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76672" y="2670048"/>
            <a:ext cx="5029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1">
                <a:solidFill>
                  <a:srgbClr val="5C6878"/>
                </a:solidFill>
                <a:latin typeface="Microsoft YaHei"/>
              </a:rPr>
              <a:t>882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209544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7257C7"/>
                </a:solidFill>
                <a:latin typeface="Microsoft YaHei"/>
              </a:rPr>
              <a:t>需拆分复合值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8840" y="3209544"/>
            <a:ext cx="3182112" cy="246888"/>
          </a:xfrm>
          <a:prstGeom prst="rect">
            <a:avLst/>
          </a:prstGeom>
          <a:solidFill>
            <a:srgbClr val="E8EDF4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48840" y="3209544"/>
            <a:ext cx="337874" cy="246888"/>
          </a:xfrm>
          <a:prstGeom prst="rect">
            <a:avLst/>
          </a:prstGeom>
          <a:solidFill>
            <a:srgbClr val="7257C7"/>
          </a:solidFill>
          <a:ln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76672" y="3200400"/>
            <a:ext cx="5029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1">
                <a:solidFill>
                  <a:srgbClr val="5C6878"/>
                </a:solidFill>
                <a:latin typeface="Microsoft YaHei"/>
              </a:rPr>
              <a:t>244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3739896"/>
            <a:ext cx="1417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5C6878"/>
                </a:solidFill>
                <a:latin typeface="Microsoft YaHei"/>
              </a:rPr>
              <a:t>长文本值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3739896"/>
            <a:ext cx="3182112" cy="246888"/>
          </a:xfrm>
          <a:prstGeom prst="rect">
            <a:avLst/>
          </a:prstGeom>
          <a:solidFill>
            <a:srgbClr val="E8EDF4"/>
          </a:solidFill>
          <a:ln>
            <a:solidFill>
              <a:srgbClr val="E8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48840" y="3739896"/>
            <a:ext cx="73390" cy="246888"/>
          </a:xfrm>
          <a:prstGeom prst="rect">
            <a:avLst/>
          </a:prstGeom>
          <a:solidFill>
            <a:srgbClr val="5C6878"/>
          </a:solidFill>
          <a:ln>
            <a:solidFill>
              <a:srgbClr val="5C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76672" y="3730752"/>
            <a:ext cx="5029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50" b="1">
                <a:solidFill>
                  <a:srgbClr val="5C6878"/>
                </a:solidFill>
                <a:latin typeface="Microsoft YaHei"/>
              </a:rPr>
              <a:t>53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1170432"/>
            <a:ext cx="544068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1389888"/>
            <a:ext cx="4956048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1A8A5"/>
                </a:solidFill>
                <a:latin typeface="Microsoft YaHei"/>
              </a:rPr>
              <a:t>查询策略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2512" y="1847088"/>
            <a:ext cx="4937760" cy="2194560"/>
          </a:xfrm>
          <a:prstGeom prst="rect">
            <a:avLst/>
          </a:prstGeom>
          <a:noFill/>
        </p:spPr>
        <p:txBody>
          <a:bodyPr wrap="square" lIns="82296" rIns="82296" tIns="82296" bIns="82296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120" b="0">
                <a:solidFill>
                  <a:srgbClr val="162234"/>
                </a:solidFill>
                <a:latin typeface="Microsoft YaHei"/>
              </a:defRPr>
            </a:pPr>
            <a:r>
              <a:t>• 只查询“实体关系语义 + 原子专名/学名/缩写”对象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 b="0">
                <a:solidFill>
                  <a:srgbClr val="162234"/>
                </a:solidFill>
                <a:latin typeface="Microsoft YaHei"/>
              </a:defRPr>
            </a:pPr>
            <a:r>
              <a:t>• 新对象查询队列：1211；旧对象冲突审计：1087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 b="0">
                <a:solidFill>
                  <a:srgbClr val="162234"/>
                </a:solidFill>
                <a:latin typeface="Microsoft YaHei"/>
              </a:defRPr>
            </a:pPr>
            <a:r>
              <a:t>• typed literal直接作为带类型字面量节点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 b="0">
                <a:solidFill>
                  <a:srgbClr val="162234"/>
                </a:solidFill>
                <a:latin typeface="Microsoft YaHei"/>
              </a:defRPr>
            </a:pPr>
            <a:r>
              <a:t>• 复合值必须先拆分，禁止整句当实体搜索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120" b="0">
                <a:solidFill>
                  <a:srgbClr val="162234"/>
                </a:solidFill>
                <a:latin typeface="Microsoft YaHei"/>
              </a:defRPr>
            </a:pPr>
            <a:r>
              <a:t>• 同名唯一候选仍需主体、关系和类型上下文校准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4754880"/>
            <a:ext cx="333756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" y="4754880"/>
            <a:ext cx="73152" cy="1225296"/>
          </a:xfrm>
          <a:prstGeom prst="rect">
            <a:avLst/>
          </a:prstGeom>
          <a:solidFill>
            <a:srgbClr val="E79B27"/>
          </a:solidFill>
          <a:ln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892040"/>
            <a:ext cx="3017520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E79B27"/>
                </a:solidFill>
                <a:latin typeface="Microsoft YaHei"/>
              </a:rPr>
              <a:t>219 / 1211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330952"/>
            <a:ext cx="30175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PPT生成时查询快照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614416"/>
            <a:ext cx="301752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878"/>
                </a:solidFill>
                <a:latin typeface="Microsoft YaHei"/>
              </a:rPr>
              <a:t>错误缓存：7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15968" y="4754880"/>
            <a:ext cx="3337560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15968" y="4754880"/>
            <a:ext cx="73152" cy="1225296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17136" y="4892040"/>
            <a:ext cx="3017520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1C9A69"/>
                </a:solidFill>
                <a:latin typeface="Microsoft YaHei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17136" y="5330952"/>
            <a:ext cx="30175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自动冻结Q-ID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17136" y="5614416"/>
            <a:ext cx="301752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878"/>
                </a:solidFill>
                <a:latin typeface="Microsoft YaHei"/>
              </a:rPr>
              <a:t>resolved_qid保持为空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1856" y="4754880"/>
            <a:ext cx="3593592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91856" y="4754880"/>
            <a:ext cx="73152" cy="1225296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93024" y="4892040"/>
            <a:ext cx="3273552" cy="4297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D95555"/>
                </a:solidFill>
                <a:latin typeface="Microsoft YaHei"/>
              </a:rPr>
              <a:t>TLS失败→本地限速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4" y="5330952"/>
            <a:ext cx="3273552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162234"/>
                </a:solidFill>
                <a:latin typeface="Microsoft YaHei"/>
              </a:rPr>
              <a:t>运行环境处置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4" y="5614416"/>
            <a:ext cx="3273552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50" b="0">
                <a:solidFill>
                  <a:srgbClr val="5C6878"/>
                </a:solidFill>
                <a:latin typeface="Microsoft YaHei"/>
              </a:rPr>
              <a:t>服务器失败不计作无候选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" y="6144768"/>
            <a:ext cx="10963656" cy="310896"/>
          </a:xfrm>
          <a:prstGeom prst="roundRect">
            <a:avLst/>
          </a:prstGeom>
          <a:solidFill>
            <a:srgbClr val="FFF4DF"/>
          </a:solidFill>
          <a:ln w="12700"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6254496"/>
            <a:ext cx="777240" cy="12801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E79B27"/>
                </a:solidFill>
                <a:latin typeface="Microsoft YaHei"/>
              </a:rPr>
              <a:t>状态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554480" y="6263640"/>
            <a:ext cx="0" cy="73152"/>
          </a:xfrm>
          <a:prstGeom prst="line">
            <a:avLst/>
          </a:prstGeom>
          <a:ln w="15240">
            <a:solidFill>
              <a:srgbClr val="E79B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673352" y="6236207"/>
            <a:ext cx="9774936" cy="146304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P2-C尚未完成；现实1-hop/2-hop邻域还未抽取。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证据：p2_c_object_linking_preflight_summary.json；local_query_run_state.json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质量控制：自动化负责规模，人负责高风险决策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方法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每个自动规则必须先在人工样本上校准；未达门槛就缩小自动范围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188720"/>
            <a:ext cx="10881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188720"/>
            <a:ext cx="109728" cy="713232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344168"/>
            <a:ext cx="21031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C9A69"/>
                </a:solidFill>
                <a:latin typeface="Microsoft YaHei"/>
              </a:rPr>
              <a:t>L1 结构检查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344168"/>
            <a:ext cx="69037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62234"/>
                </a:solidFill>
                <a:latin typeface="Microsoft YaHei"/>
              </a:rPr>
              <a:t>解析、字段完整、去重、证据文本可定位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0" y="1362456"/>
            <a:ext cx="960120" cy="292608"/>
          </a:xfrm>
          <a:prstGeom prst="roundRect">
            <a:avLst/>
          </a:prstGeom>
          <a:solidFill>
            <a:srgbClr val="E8F6F0"/>
          </a:solidFill>
          <a:ln>
            <a:solidFill>
              <a:srgbClr val="E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68711" y="1389888"/>
            <a:ext cx="90525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C9A69"/>
                </a:solidFill>
                <a:latin typeface="Microsoft YaHei"/>
              </a:rPr>
              <a:t>自动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121408"/>
            <a:ext cx="10881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2121408"/>
            <a:ext cx="109728" cy="713232"/>
          </a:xfrm>
          <a:prstGeom prst="rect">
            <a:avLst/>
          </a:prstGeom>
          <a:solidFill>
            <a:srgbClr val="11A8A5"/>
          </a:solidFill>
          <a:ln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276856"/>
            <a:ext cx="21031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11A8A5"/>
                </a:solidFill>
                <a:latin typeface="Microsoft YaHei"/>
              </a:rPr>
              <a:t>L2 规则共识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276856"/>
            <a:ext cx="69037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62234"/>
                </a:solidFill>
                <a:latin typeface="Microsoft YaHei"/>
              </a:rPr>
              <a:t>多路径抽取一致、关系和值边界一致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2295144"/>
            <a:ext cx="960120" cy="292608"/>
          </a:xfrm>
          <a:prstGeom prst="roundRect">
            <a:avLst/>
          </a:prstGeom>
          <a:solidFill>
            <a:srgbClr val="E8F6F0"/>
          </a:solidFill>
          <a:ln>
            <a:solidFill>
              <a:srgbClr val="E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68711" y="2322576"/>
            <a:ext cx="90525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C9A69"/>
                </a:solidFill>
                <a:latin typeface="Microsoft YaHei"/>
              </a:rPr>
              <a:t>自动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54096"/>
            <a:ext cx="10881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054096"/>
            <a:ext cx="109728" cy="713232"/>
          </a:xfrm>
          <a:prstGeom prst="rect">
            <a:avLst/>
          </a:prstGeom>
          <a:solidFill>
            <a:srgbClr val="E79B27"/>
          </a:solidFill>
          <a:ln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09544"/>
            <a:ext cx="21031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E79B27"/>
                </a:solidFill>
                <a:latin typeface="Microsoft YaHei"/>
              </a:rPr>
              <a:t>L3 小样本校准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3209544"/>
            <a:ext cx="69037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62234"/>
                </a:solidFill>
                <a:latin typeface="Microsoft YaHei"/>
              </a:rPr>
              <a:t>人工审核Pilot，估计保留/拒绝精度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0" y="3227832"/>
            <a:ext cx="960120" cy="292608"/>
          </a:xfrm>
          <a:prstGeom prst="roundRect">
            <a:avLst/>
          </a:prstGeom>
          <a:solidFill>
            <a:srgbClr val="FFF4DF"/>
          </a:solidFill>
          <a:ln>
            <a:solidFill>
              <a:srgbClr val="FFF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8711" y="3255263"/>
            <a:ext cx="90525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E79B27"/>
                </a:solidFill>
                <a:latin typeface="Microsoft YaHei"/>
              </a:rPr>
              <a:t>人+机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986784"/>
            <a:ext cx="10881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3986784"/>
            <a:ext cx="109728" cy="713232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142232"/>
            <a:ext cx="21031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D95555"/>
                </a:solidFill>
                <a:latin typeface="Microsoft YaHei"/>
              </a:rPr>
              <a:t>L4 歧义审核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1800" y="4142232"/>
            <a:ext cx="69037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62234"/>
                </a:solidFill>
                <a:latin typeface="Microsoft YaHei"/>
              </a:rPr>
              <a:t>同名实体、多事实句、对象层级和漏链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241280" y="4160520"/>
            <a:ext cx="960120" cy="292608"/>
          </a:xfrm>
          <a:prstGeom prst="roundRect">
            <a:avLst/>
          </a:prstGeom>
          <a:solidFill>
            <a:srgbClr val="FDEBEC"/>
          </a:solidFill>
          <a:ln>
            <a:solidFill>
              <a:srgbClr val="FD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68711" y="4187952"/>
            <a:ext cx="90525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D95555"/>
                </a:solidFill>
                <a:latin typeface="Microsoft YaHei"/>
              </a:rPr>
              <a:t>人工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919472"/>
            <a:ext cx="10881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4919472"/>
            <a:ext cx="109728" cy="713232"/>
          </a:xfrm>
          <a:prstGeom prst="rect">
            <a:avLst/>
          </a:prstGeom>
          <a:solidFill>
            <a:srgbClr val="7257C7"/>
          </a:solidFill>
          <a:ln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5074920"/>
            <a:ext cx="21031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7257C7"/>
                </a:solidFill>
                <a:latin typeface="Microsoft YaHei"/>
              </a:rPr>
              <a:t>L5 冻结与哈希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074920"/>
            <a:ext cx="690372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62234"/>
                </a:solidFill>
                <a:latin typeface="Microsoft YaHei"/>
              </a:rPr>
              <a:t>保存provenance、状态、SHA-256和未知值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0" y="5093208"/>
            <a:ext cx="960120" cy="292608"/>
          </a:xfrm>
          <a:prstGeom prst="roundRect">
            <a:avLst/>
          </a:prstGeom>
          <a:solidFill>
            <a:srgbClr val="E8F6F0"/>
          </a:solidFill>
          <a:ln>
            <a:solidFill>
              <a:srgbClr val="E8F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68711" y="5120640"/>
            <a:ext cx="90525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1C9A69"/>
                </a:solidFill>
                <a:latin typeface="Microsoft YaHei"/>
              </a:rPr>
              <a:t>审计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897880"/>
            <a:ext cx="10881360" cy="475488"/>
          </a:xfrm>
          <a:prstGeom prst="roundRect">
            <a:avLst/>
          </a:prstGeom>
          <a:solidFill>
            <a:srgbClr val="FDEBEC"/>
          </a:solidFill>
          <a:ln w="12700">
            <a:solidFill>
              <a:srgbClr val="FD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6007608"/>
            <a:ext cx="777240" cy="292608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D95555"/>
                </a:solidFill>
                <a:latin typeface="Microsoft YaHei"/>
              </a:rPr>
              <a:t>本页结论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591056" y="6016752"/>
            <a:ext cx="0" cy="237744"/>
          </a:xfrm>
          <a:prstGeom prst="line">
            <a:avLst/>
          </a:prstGeom>
          <a:ln w="15240">
            <a:solidFill>
              <a:srgbClr val="D9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709928" y="5989320"/>
            <a:ext cx="9692640" cy="310896"/>
          </a:xfrm>
          <a:prstGeom prst="rect">
            <a:avLst/>
          </a:prstGeom>
          <a:noFill/>
        </p:spPr>
        <p:txBody>
          <a:bodyPr wrap="none" lIns="54864" rIns="54864" tIns="54864" bIns="54864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>
                <a:solidFill>
                  <a:srgbClr val="162234"/>
                </a:solidFill>
                <a:latin typeface="Microsoft YaHei"/>
              </a:rPr>
              <a:t>核心原则：未知写null；失败缓存不等于无候选；候选不等于已确认；样本覆盖100%不等于事实召回率100%。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质量门槛来自P0/P1/P2审计协议及人工Pilot结果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实验治理：训练字段、构图字段与评测字段严格隔离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边界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防止评测答案进入实体链接、图谱构建、划分或训练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0156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90472"/>
            <a:ext cx="3035808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1C9A69"/>
                </a:solidFill>
                <a:latin typeface="Microsoft YaHei"/>
              </a:rPr>
              <a:t>训练 / 编辑输入</a:t>
            </a:r>
          </a:p>
        </p:txBody>
      </p:sp>
      <p:sp>
        <p:nvSpPr>
          <p:cNvPr id="8" name="Oval 7"/>
          <p:cNvSpPr/>
          <p:nvPr/>
        </p:nvSpPr>
        <p:spPr>
          <a:xfrm>
            <a:off x="850392" y="2103120"/>
            <a:ext cx="210312" cy="210312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075688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src</a:t>
            </a:r>
          </a:p>
        </p:txBody>
      </p:sp>
      <p:sp>
        <p:nvSpPr>
          <p:cNvPr id="10" name="Oval 9"/>
          <p:cNvSpPr/>
          <p:nvPr/>
        </p:nvSpPr>
        <p:spPr>
          <a:xfrm>
            <a:off x="850392" y="2651760"/>
            <a:ext cx="210312" cy="210312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624328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alt</a:t>
            </a:r>
          </a:p>
        </p:txBody>
      </p:sp>
      <p:sp>
        <p:nvSpPr>
          <p:cNvPr id="12" name="Oval 11"/>
          <p:cNvSpPr/>
          <p:nvPr/>
        </p:nvSpPr>
        <p:spPr>
          <a:xfrm>
            <a:off x="850392" y="3200400"/>
            <a:ext cx="210312" cy="210312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72968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image</a:t>
            </a:r>
          </a:p>
        </p:txBody>
      </p:sp>
      <p:sp>
        <p:nvSpPr>
          <p:cNvPr id="14" name="Oval 13"/>
          <p:cNvSpPr/>
          <p:nvPr/>
        </p:nvSpPr>
        <p:spPr>
          <a:xfrm>
            <a:off x="850392" y="3749039"/>
            <a:ext cx="210312" cy="210312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721607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rephrase</a:t>
            </a:r>
          </a:p>
        </p:txBody>
      </p:sp>
      <p:sp>
        <p:nvSpPr>
          <p:cNvPr id="16" name="Oval 15"/>
          <p:cNvSpPr/>
          <p:nvPr/>
        </p:nvSpPr>
        <p:spPr>
          <a:xfrm>
            <a:off x="850392" y="4297679"/>
            <a:ext cx="210312" cy="210312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4270247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image_rephrase</a:t>
            </a:r>
          </a:p>
        </p:txBody>
      </p:sp>
      <p:sp>
        <p:nvSpPr>
          <p:cNvPr id="18" name="Oval 17"/>
          <p:cNvSpPr/>
          <p:nvPr/>
        </p:nvSpPr>
        <p:spPr>
          <a:xfrm>
            <a:off x="850392" y="4846320"/>
            <a:ext cx="210312" cy="210312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818888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loc / m_loc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70832" y="1234440"/>
            <a:ext cx="340156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1490472"/>
            <a:ext cx="3035808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F6BFF"/>
                </a:solidFill>
                <a:latin typeface="Microsoft YaHei"/>
              </a:rPr>
              <a:t>构图 / 身份输入</a:t>
            </a:r>
          </a:p>
        </p:txBody>
      </p:sp>
      <p:sp>
        <p:nvSpPr>
          <p:cNvPr id="22" name="Oval 21"/>
          <p:cNvSpPr/>
          <p:nvPr/>
        </p:nvSpPr>
        <p:spPr>
          <a:xfrm>
            <a:off x="4626864" y="2103120"/>
            <a:ext cx="210312" cy="210312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5192" y="2075688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pred ↔ alt差分</a:t>
            </a:r>
          </a:p>
        </p:txBody>
      </p:sp>
      <p:sp>
        <p:nvSpPr>
          <p:cNvPr id="24" name="Oval 23"/>
          <p:cNvSpPr/>
          <p:nvPr/>
        </p:nvSpPr>
        <p:spPr>
          <a:xfrm>
            <a:off x="4626864" y="2651760"/>
            <a:ext cx="210312" cy="210312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65192" y="2624328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subject Q-ID</a:t>
            </a:r>
          </a:p>
        </p:txBody>
      </p:sp>
      <p:sp>
        <p:nvSpPr>
          <p:cNvPr id="26" name="Oval 25"/>
          <p:cNvSpPr/>
          <p:nvPr/>
        </p:nvSpPr>
        <p:spPr>
          <a:xfrm>
            <a:off x="4626864" y="3200400"/>
            <a:ext cx="210312" cy="210312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3172968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fact_root_id</a:t>
            </a:r>
          </a:p>
        </p:txBody>
      </p:sp>
      <p:sp>
        <p:nvSpPr>
          <p:cNvPr id="28" name="Oval 27"/>
          <p:cNvSpPr/>
          <p:nvPr/>
        </p:nvSpPr>
        <p:spPr>
          <a:xfrm>
            <a:off x="4626864" y="3749039"/>
            <a:ext cx="210312" cy="210312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65192" y="3721607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Wikidata现实邻域</a:t>
            </a:r>
          </a:p>
        </p:txBody>
      </p:sp>
      <p:sp>
        <p:nvSpPr>
          <p:cNvPr id="30" name="Oval 29"/>
          <p:cNvSpPr/>
          <p:nvPr/>
        </p:nvSpPr>
        <p:spPr>
          <a:xfrm>
            <a:off x="4626864" y="4297679"/>
            <a:ext cx="210312" cy="210312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65192" y="4270247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图片身份仅用于分组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7304" y="1234440"/>
            <a:ext cx="3401568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3" y="1490472"/>
            <a:ext cx="3035808" cy="36576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D95555"/>
                </a:solidFill>
                <a:latin typeface="Microsoft YaHei"/>
              </a:rPr>
              <a:t>隔离评测字段</a:t>
            </a:r>
          </a:p>
        </p:txBody>
      </p:sp>
      <p:sp>
        <p:nvSpPr>
          <p:cNvPr id="34" name="Oval 33"/>
          <p:cNvSpPr/>
          <p:nvPr/>
        </p:nvSpPr>
        <p:spPr>
          <a:xfrm>
            <a:off x="8403336" y="2103120"/>
            <a:ext cx="210312" cy="210312"/>
          </a:xfrm>
          <a:prstGeom prst="ellipse">
            <a:avLst/>
          </a:prstGeom>
          <a:solidFill>
            <a:srgbClr val="D95555"/>
          </a:solidFill>
          <a:ln w="10160"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41664" y="2075688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rel_* / rel_ans_*</a:t>
            </a:r>
          </a:p>
        </p:txBody>
      </p:sp>
      <p:sp>
        <p:nvSpPr>
          <p:cNvPr id="36" name="Oval 35"/>
          <p:cNvSpPr/>
          <p:nvPr/>
        </p:nvSpPr>
        <p:spPr>
          <a:xfrm>
            <a:off x="8403336" y="2651760"/>
            <a:ext cx="210312" cy="210312"/>
          </a:xfrm>
          <a:prstGeom prst="ellipse">
            <a:avLst/>
          </a:prstGeom>
          <a:solidFill>
            <a:srgbClr val="D95555"/>
          </a:solidFill>
          <a:ln w="10160"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41664" y="2624328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m_rel_* / m_rel_ans_*</a:t>
            </a:r>
          </a:p>
        </p:txBody>
      </p:sp>
      <p:sp>
        <p:nvSpPr>
          <p:cNvPr id="38" name="Oval 37"/>
          <p:cNvSpPr/>
          <p:nvPr/>
        </p:nvSpPr>
        <p:spPr>
          <a:xfrm>
            <a:off x="8403336" y="3200400"/>
            <a:ext cx="210312" cy="210312"/>
          </a:xfrm>
          <a:prstGeom prst="ellipse">
            <a:avLst/>
          </a:prstGeom>
          <a:solidFill>
            <a:srgbClr val="D95555"/>
          </a:solidFill>
          <a:ln w="10160"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41664" y="3172968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port_new Q&amp;A</a:t>
            </a:r>
          </a:p>
        </p:txBody>
      </p:sp>
      <p:sp>
        <p:nvSpPr>
          <p:cNvPr id="40" name="Oval 39"/>
          <p:cNvSpPr/>
          <p:nvPr/>
        </p:nvSpPr>
        <p:spPr>
          <a:xfrm>
            <a:off x="8403336" y="3749039"/>
            <a:ext cx="210312" cy="210312"/>
          </a:xfrm>
          <a:prstGeom prst="ellipse">
            <a:avLst/>
          </a:prstGeom>
          <a:solidFill>
            <a:srgbClr val="D95555"/>
          </a:solidFill>
          <a:ln w="10160"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41664" y="3721607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official eval内容</a:t>
            </a:r>
          </a:p>
        </p:txBody>
      </p:sp>
      <p:sp>
        <p:nvSpPr>
          <p:cNvPr id="42" name="Oval 41"/>
          <p:cNvSpPr/>
          <p:nvPr/>
        </p:nvSpPr>
        <p:spPr>
          <a:xfrm>
            <a:off x="8403336" y="4297679"/>
            <a:ext cx="210312" cy="210312"/>
          </a:xfrm>
          <a:prstGeom prst="ellipse">
            <a:avLst/>
          </a:prstGeom>
          <a:solidFill>
            <a:srgbClr val="D95555"/>
          </a:solidFill>
          <a:ln w="10160"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41664" y="4270247"/>
            <a:ext cx="251460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20" b="0">
                <a:solidFill>
                  <a:srgbClr val="162234"/>
                </a:solidFill>
                <a:latin typeface="Microsoft YaHei"/>
              </a:rPr>
              <a:t>不得用于选seed/比例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98448" y="5742432"/>
            <a:ext cx="9601200" cy="502920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08760" y="5843016"/>
            <a:ext cx="9180576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所有sample_id、Q-ID、fact_root_id、split manifest均保留来源与证据状态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证据：field_mapping.md；split_policy.json；P2各冻结manifest的evaluation_fields_consumed=[]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可复现产物：每个结论都有文件、状态和哈希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产物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汇报数字来自机器可读产物，不依赖口头记忆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207008"/>
          <a:ext cx="10991088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5074920"/>
                <a:gridCol w="4864608"/>
              </a:tblGrid>
              <a:tr h="568234"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阶段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主要目录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4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可复核内容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phase2_p0/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层排名、hook、协议、checkpoint、冲突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P1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phase2_p1/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字段、图片、Portability、对应关系、候选划分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P2-A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phase2_p2/identity_frozen_20260919/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636条主体身份、Q-ID、证据等级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P2-B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phase2_p2/fact_chain_conservative_frozen_20260920/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3064条事实、835组隔离候选、哈希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ctr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P2-C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phase2_p2/object_linking_preflight_20260920/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对象类型、查询队列、策略与运行状态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ctr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手册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dataset/md/TODO/Second_prashe/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4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v2.1-r2方法边界、门槛与状态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5440680"/>
            <a:ext cx="34290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5440680"/>
            <a:ext cx="73152" cy="768096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5577840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9A69"/>
                </a:solidFill>
                <a:latin typeface="Microsoft YaHei"/>
              </a:rPr>
              <a:t>完整性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52744"/>
            <a:ext cx="3081528" cy="1463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050" b="0">
                <a:solidFill>
                  <a:srgbClr val="162234"/>
                </a:solidFill>
                <a:latin typeface="Microsoft YaHei"/>
              </a:defRPr>
            </a:pPr>
            <a:r>
              <a:t>• 关键冻结文件记录SHA-256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5440680"/>
            <a:ext cx="34290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5440680"/>
            <a:ext cx="73152" cy="768096"/>
          </a:xfrm>
          <a:prstGeom prst="rect">
            <a:avLst/>
          </a:prstGeom>
          <a:solidFill>
            <a:srgbClr val="2F6BFF"/>
          </a:solidFill>
          <a:ln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577840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2F6BFF"/>
                </a:solidFill>
                <a:latin typeface="Microsoft YaHei"/>
              </a:rPr>
              <a:t>版本边界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5952744"/>
            <a:ext cx="3081528" cy="1463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000" b="0">
                <a:solidFill>
                  <a:srgbClr val="162234"/>
                </a:solidFill>
                <a:latin typeface="Microsoft YaHei"/>
              </a:defRPr>
            </a:pPr>
            <a:r>
              <a:t>• 历史运行、本轮静态核验、当前运行分开记录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5440680"/>
            <a:ext cx="342900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5440680"/>
            <a:ext cx="73152" cy="768096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5577840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未知处理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5952744"/>
            <a:ext cx="3081528" cy="14630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050" b="0">
                <a:solidFill>
                  <a:srgbClr val="162234"/>
                </a:solidFill>
                <a:latin typeface="Microsoft YaHei"/>
              </a:defRPr>
            </a:pPr>
            <a:r>
              <a:t>• 未知值保持null，不用推测填充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本PPT数字均可回溯到上述目录中的md/json/jsonl产物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下一步：完成P2-C/P2-D，再回到dev重划和G1基线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下一步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训练启动由门槛决定，不由阶段编号或样本覆盖单独决定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143000"/>
            <a:ext cx="530352" cy="530352"/>
          </a:xfrm>
          <a:prstGeom prst="ellipse">
            <a:avLst/>
          </a:prstGeom>
          <a:solidFill>
            <a:srgbClr val="E79B27"/>
          </a:solidFill>
          <a:ln w="10160"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216152"/>
            <a:ext cx="53035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1133856"/>
            <a:ext cx="283464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E79B27"/>
                </a:solidFill>
                <a:latin typeface="Microsoft YaHei"/>
              </a:rPr>
              <a:t>完成对象候选查询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41648" y="1133856"/>
            <a:ext cx="7059168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62234"/>
                </a:solidFill>
                <a:latin typeface="Microsoft YaHei"/>
              </a:rPr>
              <a:t>校准Q-ID；压缩人工审核范围；失败项重试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3544" y="1682495"/>
            <a:ext cx="0" cy="384048"/>
          </a:xfrm>
          <a:prstGeom prst="line">
            <a:avLst/>
          </a:prstGeom>
          <a:ln w="16510">
            <a:solidFill>
              <a:srgbClr val="AA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58368" y="2084832"/>
            <a:ext cx="530352" cy="530352"/>
          </a:xfrm>
          <a:prstGeom prst="ellipse">
            <a:avLst/>
          </a:prstGeom>
          <a:solidFill>
            <a:srgbClr val="7257C7"/>
          </a:solidFill>
          <a:ln w="10160"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57984"/>
            <a:ext cx="53035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075688"/>
            <a:ext cx="283464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7257C7"/>
                </a:solidFill>
                <a:latin typeface="Microsoft YaHei"/>
              </a:rPr>
              <a:t>构建现实邻域与覆盖层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075688"/>
            <a:ext cx="7059168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62234"/>
                </a:solidFill>
                <a:latin typeface="Microsoft YaHei"/>
              </a:rPr>
              <a:t>抽取1-hop/2-hop；旧冲突边按sample失活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3544" y="2624328"/>
            <a:ext cx="0" cy="384048"/>
          </a:xfrm>
          <a:prstGeom prst="line">
            <a:avLst/>
          </a:prstGeom>
          <a:ln w="16510">
            <a:solidFill>
              <a:srgbClr val="AA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58368" y="3026664"/>
            <a:ext cx="530352" cy="530352"/>
          </a:xfrm>
          <a:prstGeom prst="ellipse">
            <a:avLst/>
          </a:prstGeom>
          <a:solidFill>
            <a:srgbClr val="11A8A5"/>
          </a:solidFill>
          <a:ln w="1016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099816"/>
            <a:ext cx="53035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017520"/>
            <a:ext cx="283464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1A8A5"/>
                </a:solidFill>
                <a:latin typeface="Microsoft YaHei"/>
              </a:rPr>
              <a:t>重新划分dev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41648" y="3017520"/>
            <a:ext cx="7059168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62234"/>
                </a:solidFill>
                <a:latin typeface="Microsoft YaHei"/>
              </a:rPr>
              <a:t>图片+主体Q-ID+fact_root_id合并连通分量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3544" y="3566160"/>
            <a:ext cx="0" cy="384048"/>
          </a:xfrm>
          <a:prstGeom prst="line">
            <a:avLst/>
          </a:prstGeom>
          <a:ln w="16510">
            <a:solidFill>
              <a:srgbClr val="AA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58368" y="3968496"/>
            <a:ext cx="530352" cy="530352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041648"/>
            <a:ext cx="53035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3959352"/>
            <a:ext cx="283464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2F6BFF"/>
                </a:solidFill>
                <a:latin typeface="Microsoft YaHei"/>
              </a:rPr>
              <a:t>补P0单样本前向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1648" y="3959352"/>
            <a:ext cx="7059168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62234"/>
                </a:solidFill>
                <a:latin typeface="Microsoft YaHei"/>
              </a:rPr>
              <a:t>真实加载器、hook次数、形状、参数不更新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23544" y="4507992"/>
            <a:ext cx="0" cy="384048"/>
          </a:xfrm>
          <a:prstGeom prst="line">
            <a:avLst/>
          </a:prstGeom>
          <a:ln w="16510">
            <a:solidFill>
              <a:srgbClr val="AAB7C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58368" y="4910328"/>
            <a:ext cx="530352" cy="530352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983480"/>
            <a:ext cx="530352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4901184"/>
            <a:ext cx="2834640" cy="283464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>
                <a:solidFill>
                  <a:srgbClr val="1C9A69"/>
                </a:solidFill>
                <a:latin typeface="Microsoft YaHei"/>
              </a:rPr>
              <a:t>启动G1及消融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4901184"/>
            <a:ext cx="7059168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162234"/>
                </a:solidFill>
                <a:latin typeface="Microsoft YaHei"/>
              </a:rPr>
              <a:t>同一新dev协议下比较RealOnly/EditOnly/Overlay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806440"/>
            <a:ext cx="10991088" cy="457200"/>
          </a:xfrm>
          <a:prstGeom prst="roundRect">
            <a:avLst/>
          </a:prstGeom>
          <a:solidFill>
            <a:srgbClr val="FDEBEC"/>
          </a:solidFill>
          <a:ln w="12700">
            <a:solidFill>
              <a:srgbClr val="FDEB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888736"/>
            <a:ext cx="10561320" cy="25603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>
                <a:solidFill>
                  <a:srgbClr val="D95555"/>
                </a:solidFill>
                <a:latin typeface="Microsoft YaHei"/>
              </a:rPr>
              <a:t>G1放行条件：P2-C对象身份冻结 + P2-D图构建验证 + 新dev验收 + P0本轮前向通过。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计划依据：第二阶段实验手册 v2.1-r2；P2当前门槛记录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607040" cy="43891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500" b="1">
                <a:solidFill>
                  <a:srgbClr val="0B1F33"/>
                </a:solidFill>
                <a:latin typeface="Microsoft YaHei"/>
              </a:rPr>
              <a:t>后续实验如何回答“图谱是否真的提高泛化”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62488" y="292608"/>
            <a:ext cx="914400" cy="2743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50" b="1">
                <a:solidFill>
                  <a:srgbClr val="2F6BFF"/>
                </a:solidFill>
                <a:latin typeface="Microsoft YaHei"/>
              </a:rPr>
              <a:t>实验设计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804672"/>
            <a:ext cx="11183112" cy="0"/>
          </a:xfrm>
          <a:prstGeom prst="line">
            <a:avLst/>
          </a:prstGeom>
          <a:ln w="12700">
            <a:solidFill>
              <a:srgbClr val="D6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30352" y="841248"/>
            <a:ext cx="1097280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5C6878"/>
                </a:solidFill>
                <a:latin typeface="Microsoft YaHei"/>
              </a:rPr>
              <a:t>所有组使用同一模型、编辑层、训练预算、dev划分和评测入口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170432"/>
          <a:ext cx="10991088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840480"/>
                <a:gridCol w="5458968"/>
              </a:tblGrid>
              <a:tr h="425196">
                <a:tc>
                  <a:txBody>
                    <a:bodyPr/>
                    <a:lstStyle/>
                    <a:p>
                      <a:pPr algn="ctr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实验组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知识输入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要回答的问题</a:t>
                      </a:r>
                    </a:p>
                  </a:txBody>
                  <a:tcPr marL="73152" marR="73152">
                    <a:solidFill>
                      <a:srgbClr val="123451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G0 / No-Edit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不执行编辑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模型原始能力与指标下限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G1 / Ours-Direct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第一阶段Adapter，不使用图谱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第二阶段新dev上的基线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RealOnly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只读现实基础图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现实知识是否帮助但干扰反事实目标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EditOnly-0hop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只用直接反事实边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结构化直接事实是否优于纯文本记忆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Overlay-1hop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反事实覆盖层 + 新对象1-hop现实邻域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局部邻域是否增强改写/关联泛化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Overlay-2hop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进一步加入2-hop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更深邻域的收益与噪声</a:t>
                      </a:r>
                    </a:p>
                  </a:txBody>
                  <a:tcPr marL="73152" marR="73152" marT="27432" marB="27432">
                    <a:solidFill>
                      <a:srgbClr val="F4F7FB"/>
                    </a:solidFill>
                  </a:tcPr>
                </a:tc>
              </a:tr>
              <a:tr h="425196">
                <a:tc>
                  <a:txBody>
                    <a:bodyPr/>
                    <a:lstStyle/>
                    <a:p>
                      <a:pPr algn="ctr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RandomMatched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规模匹配的随机邻域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10">
                          <a:solidFill>
                            <a:srgbClr val="162234"/>
                          </a:solidFill>
                          <a:latin typeface="Microsoft YaHei"/>
                        </a:defRPr>
                      </a:pPr>
                      <a:r>
                        <a:t>排除仅因增加token/参数量带来的收益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94360" y="4846320"/>
            <a:ext cx="3429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4846320"/>
            <a:ext cx="73152" cy="1097280"/>
          </a:xfrm>
          <a:prstGeom prst="rect">
            <a:avLst/>
          </a:prstGeom>
          <a:solidFill>
            <a:srgbClr val="1C9A69"/>
          </a:solidFill>
          <a:ln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4983480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1C9A69"/>
                </a:solidFill>
                <a:latin typeface="Microsoft YaHei"/>
              </a:rPr>
              <a:t>主指标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58383"/>
            <a:ext cx="3081528" cy="475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050" b="0">
                <a:solidFill>
                  <a:srgbClr val="162234"/>
                </a:solidFill>
                <a:latin typeface="Microsoft YaHei"/>
              </a:defRPr>
            </a:pPr>
            <a:r>
              <a:t>• Reliability、T-Gen、M-Gen、T-Loc、M-Loc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4846320"/>
            <a:ext cx="3429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4846320"/>
            <a:ext cx="73152" cy="1097280"/>
          </a:xfrm>
          <a:prstGeom prst="rect">
            <a:avLst/>
          </a:prstGeom>
          <a:solidFill>
            <a:srgbClr val="7257C7"/>
          </a:solidFill>
          <a:ln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983480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7257C7"/>
                </a:solidFill>
                <a:latin typeface="Microsoft YaHei"/>
              </a:rPr>
              <a:t>新增关注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5358383"/>
            <a:ext cx="3081528" cy="475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050" b="0">
                <a:solidFill>
                  <a:srgbClr val="162234"/>
                </a:solidFill>
                <a:latin typeface="Microsoft YaHei"/>
              </a:defRPr>
            </a:pPr>
            <a:r>
              <a:t>• Portability 1-hop；必要时自建2-hop问题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6448" y="4846320"/>
            <a:ext cx="3429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4846320"/>
            <a:ext cx="73152" cy="1097280"/>
          </a:xfrm>
          <a:prstGeom prst="rect">
            <a:avLst/>
          </a:prstGeom>
          <a:solidFill>
            <a:srgbClr val="D95555"/>
          </a:solidFill>
          <a:ln>
            <a:solidFill>
              <a:srgbClr val="D9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57616" y="4983480"/>
            <a:ext cx="3108960" cy="310896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D95555"/>
                </a:solidFill>
                <a:latin typeface="Microsoft YaHei"/>
              </a:rPr>
              <a:t>因果判断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7" y="5358383"/>
            <a:ext cx="3081528" cy="47548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010" b="0">
                <a:solidFill>
                  <a:srgbClr val="162234"/>
                </a:solidFill>
                <a:latin typeface="Microsoft YaHei"/>
              </a:defRPr>
            </a:pPr>
            <a:r>
              <a:t>• Overlay &gt; EditOnly 且 &gt; RandomMatched 才支持图谱泛化贡献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519672"/>
            <a:ext cx="11183112" cy="0"/>
          </a:xfrm>
          <a:prstGeom prst="line">
            <a:avLst/>
          </a:prstGeom>
          <a:ln w="8890">
            <a:solidFill>
              <a:srgbClr val="DF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30352" y="6565392"/>
            <a:ext cx="9966960" cy="18288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>
                <a:solidFill>
                  <a:srgbClr val="5C6878"/>
                </a:solidFill>
                <a:latin typeface="Microsoft YaHei"/>
              </a:rPr>
              <a:t>实验结果必须区分第一阶段严格复现与第二阶段新dev开发基线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20" y="6537960"/>
            <a:ext cx="640080" cy="20116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50" b="1">
                <a:solidFill>
                  <a:srgbClr val="5C6878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30352"/>
            <a:ext cx="9875520" cy="50292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阶段结论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424160" cy="47548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C8D9EA"/>
                </a:solidFill>
                <a:latin typeface="Microsoft YaHei"/>
              </a:rPr>
              <a:t>第二阶段已经从“手册设想”推进到“可审计的数据与事实基础设施”</a:t>
            </a:r>
          </a:p>
        </p:txBody>
      </p:sp>
      <p:sp>
        <p:nvSpPr>
          <p:cNvPr id="4" name="Oval 3"/>
          <p:cNvSpPr/>
          <p:nvPr/>
        </p:nvSpPr>
        <p:spPr>
          <a:xfrm>
            <a:off x="749808" y="1874519"/>
            <a:ext cx="512064" cy="512064"/>
          </a:xfrm>
          <a:prstGeom prst="ellipse">
            <a:avLst/>
          </a:prstGeom>
          <a:solidFill>
            <a:srgbClr val="2F6BFF"/>
          </a:solidFill>
          <a:ln w="10160">
            <a:solidFill>
              <a:srgbClr val="2F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956815"/>
            <a:ext cx="51206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65376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F6BFF"/>
                </a:solidFill>
                <a:latin typeface="Microsoft YaHei"/>
              </a:rPr>
              <a:t>实现证据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865376"/>
            <a:ext cx="781812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2ECF5"/>
                </a:solidFill>
                <a:latin typeface="Microsoft YaHei"/>
              </a:rPr>
              <a:t>确认L0 Top-1、post-block Adapter及第一阶段真实协议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2679191"/>
            <a:ext cx="512064" cy="512064"/>
          </a:xfrm>
          <a:prstGeom prst="ellipse">
            <a:avLst/>
          </a:prstGeom>
          <a:solidFill>
            <a:srgbClr val="11A8A5"/>
          </a:solidFill>
          <a:ln w="10160">
            <a:solidFill>
              <a:srgbClr val="11A8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7"/>
            <a:ext cx="51206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70048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1A8A5"/>
                </a:solidFill>
                <a:latin typeface="Microsoft YaHei"/>
              </a:rPr>
              <a:t>数据基础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670048"/>
            <a:ext cx="781812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2ECF5"/>
                </a:solidFill>
                <a:latin typeface="Microsoft YaHei"/>
              </a:rPr>
              <a:t>修复locality原图，追溯955/954差异，明确字段和评测隔离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483863"/>
            <a:ext cx="512064" cy="512064"/>
          </a:xfrm>
          <a:prstGeom prst="ellipse">
            <a:avLst/>
          </a:prstGeom>
          <a:solidFill>
            <a:srgbClr val="1C9A69"/>
          </a:solidFill>
          <a:ln w="10160">
            <a:solidFill>
              <a:srgbClr val="1C9A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566159"/>
            <a:ext cx="51206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74720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C9A69"/>
                </a:solidFill>
                <a:latin typeface="Microsoft YaHei"/>
              </a:rPr>
              <a:t>身份与事实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474720"/>
            <a:ext cx="781812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2ECF5"/>
                </a:solidFill>
                <a:latin typeface="Microsoft YaHei"/>
              </a:rPr>
              <a:t>636/636主体冻结；3064条高置信事实覆盖全部样本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288536"/>
            <a:ext cx="512064" cy="512064"/>
          </a:xfrm>
          <a:prstGeom prst="ellipse">
            <a:avLst/>
          </a:prstGeom>
          <a:solidFill>
            <a:srgbClr val="7257C7"/>
          </a:solidFill>
          <a:ln w="10160">
            <a:solidFill>
              <a:srgbClr val="725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370831"/>
            <a:ext cx="51206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79392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7257C7"/>
                </a:solidFill>
                <a:latin typeface="Microsoft YaHei"/>
              </a:rPr>
              <a:t>方法修正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279392"/>
            <a:ext cx="781812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2ECF5"/>
                </a:solidFill>
                <a:latin typeface="Microsoft YaHei"/>
              </a:rPr>
              <a:t>采用现实基础图 + 样本级反事实覆盖层，避免现实知识覆盖alt</a:t>
            </a:r>
          </a:p>
        </p:txBody>
      </p:sp>
      <p:sp>
        <p:nvSpPr>
          <p:cNvPr id="20" name="Oval 19"/>
          <p:cNvSpPr/>
          <p:nvPr/>
        </p:nvSpPr>
        <p:spPr>
          <a:xfrm>
            <a:off x="749808" y="5093208"/>
            <a:ext cx="512064" cy="512064"/>
          </a:xfrm>
          <a:prstGeom prst="ellipse">
            <a:avLst/>
          </a:prstGeom>
          <a:solidFill>
            <a:srgbClr val="E79B27"/>
          </a:solidFill>
          <a:ln w="10160">
            <a:solidFill>
              <a:srgbClr val="E79B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5175504"/>
            <a:ext cx="512064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084064"/>
            <a:ext cx="1828800" cy="29260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9B27"/>
                </a:solidFill>
                <a:latin typeface="Microsoft YaHei"/>
              </a:rPr>
              <a:t>当前边界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084064"/>
            <a:ext cx="7818120" cy="384048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2ECF5"/>
                </a:solidFill>
                <a:latin typeface="Microsoft YaHei"/>
              </a:rPr>
              <a:t>P2-C进行中；P2-D、dev重划和本轮前向完成前不启动训练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6144768"/>
            <a:ext cx="10744200" cy="384048"/>
          </a:xfrm>
          <a:prstGeom prst="roundRect">
            <a:avLst/>
          </a:prstGeom>
          <a:solidFill>
            <a:srgbClr val="173B59"/>
          </a:solidFill>
          <a:ln w="12700">
            <a:solidFill>
              <a:srgbClr val="173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199632"/>
            <a:ext cx="10451592" cy="228600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BFD2E5"/>
                </a:solidFill>
                <a:latin typeface="Microsoft YaHei"/>
              </a:rPr>
              <a:t>下一里程碑：P2-C对象身份冻结 → P2-D动态图构建 → 新dev验收 → G1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27080" y="6492240"/>
            <a:ext cx="502920" cy="164592"/>
          </a:xfrm>
          <a:prstGeom prst="rect">
            <a:avLst/>
          </a:prstGeom>
          <a:noFill/>
        </p:spPr>
        <p:txBody>
          <a:bodyPr wrap="none" lIns="54864" rIns="54864" tIns="54864" bIns="54864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800" b="1">
                <a:solidFill>
                  <a:srgbClr val="6F8CA7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